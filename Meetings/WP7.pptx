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95" r:id="rId3"/>
    <p:sldId id="285" r:id="rId4"/>
    <p:sldId id="286" r:id="rId5"/>
    <p:sldId id="294" r:id="rId6"/>
    <p:sldId id="257" r:id="rId7"/>
    <p:sldId id="258" r:id="rId8"/>
    <p:sldId id="259" r:id="rId9"/>
    <p:sldId id="260" r:id="rId10"/>
    <p:sldId id="261" r:id="rId11"/>
    <p:sldId id="262"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10351e8174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10351e8174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pPr rtl="0"/>
            <a:fld id="{D5939589-3E79-4C82-AA4A-FE78234FAA59}" type="slidenum">
              <a:rPr lang="it-IT" smtClean="0"/>
              <a:t>5</a:t>
            </a:fld>
            <a:endParaRPr lang="it-IT"/>
          </a:p>
        </p:txBody>
      </p:sp>
    </p:spTree>
    <p:extLst>
      <p:ext uri="{BB962C8B-B14F-4D97-AF65-F5344CB8AC3E}">
        <p14:creationId xmlns:p14="http://schemas.microsoft.com/office/powerpoint/2010/main" val="3334697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10351e8174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10351e8174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10351e8174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10351e8174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10351e817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10351e817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10351e817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10351e817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10351e8174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10351e8174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10351e8174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10351e817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ED7F9E96-601F-4FFD-BBD0-F6D1013E6E24}" type="datetimeFigureOut">
              <a:rPr lang="it-IT" smtClean="0"/>
              <a:t>20/11/2024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8FDBBBEB-698B-47FF-BB0F-716DD0334193}" type="slidenum">
              <a:rPr lang="it-IT" smtClean="0"/>
              <a:t>‹N›</a:t>
            </a:fld>
            <a:endParaRPr lang="it-IT"/>
          </a:p>
        </p:txBody>
      </p:sp>
    </p:spTree>
    <p:extLst>
      <p:ext uri="{BB962C8B-B14F-4D97-AF65-F5344CB8AC3E}">
        <p14:creationId xmlns:p14="http://schemas.microsoft.com/office/powerpoint/2010/main" val="3244531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cSld name="1_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F057AE-3B3B-4261-B912-BF9EB9A58C36}"/>
              </a:ext>
            </a:extLst>
          </p:cNvPr>
          <p:cNvSpPr>
            <a:spLocks noGrp="1"/>
          </p:cNvSpPr>
          <p:nvPr>
            <p:ph type="title"/>
          </p:nvPr>
        </p:nvSpPr>
        <p:spPr>
          <a:xfrm>
            <a:off x="629841" y="273844"/>
            <a:ext cx="7886700" cy="994172"/>
          </a:xfrm>
        </p:spPr>
        <p:txBody>
          <a:bodyPr rtlCol="0"/>
          <a:lstStyle/>
          <a:p>
            <a:pPr rtl="0"/>
            <a:r>
              <a:rPr lang="en-US" noProof="0"/>
              <a:t>Click to edit Master title style</a:t>
            </a:r>
            <a:endParaRPr lang="it-IT" noProof="0"/>
          </a:p>
        </p:txBody>
      </p:sp>
      <p:sp>
        <p:nvSpPr>
          <p:cNvPr id="3" name="Segnaposto testo 2">
            <a:extLst>
              <a:ext uri="{FF2B5EF4-FFF2-40B4-BE49-F238E27FC236}">
                <a16:creationId xmlns:a16="http://schemas.microsoft.com/office/drawing/2014/main" id="{72A2D237-A706-4712-90CA-B04517CBBE05}"/>
              </a:ext>
            </a:extLst>
          </p:cNvPr>
          <p:cNvSpPr>
            <a:spLocks noGrp="1"/>
          </p:cNvSpPr>
          <p:nvPr>
            <p:ph type="body" idx="1"/>
          </p:nvPr>
        </p:nvSpPr>
        <p:spPr>
          <a:xfrm>
            <a:off x="1083564" y="1260872"/>
            <a:ext cx="2125980" cy="617934"/>
          </a:xfrm>
        </p:spPr>
        <p:txBody>
          <a:bodyPr rtlCol="0"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n-US" noProof="0"/>
              <a:t>Click to edit Master text styles</a:t>
            </a:r>
          </a:p>
        </p:txBody>
      </p:sp>
      <p:sp>
        <p:nvSpPr>
          <p:cNvPr id="4" name="Segnaposto contenuto 3">
            <a:extLst>
              <a:ext uri="{FF2B5EF4-FFF2-40B4-BE49-F238E27FC236}">
                <a16:creationId xmlns:a16="http://schemas.microsoft.com/office/drawing/2014/main" id="{8DE39CA1-2B6D-427E-9688-9093D5865CB7}"/>
              </a:ext>
            </a:extLst>
          </p:cNvPr>
          <p:cNvSpPr>
            <a:spLocks noGrp="1"/>
          </p:cNvSpPr>
          <p:nvPr>
            <p:ph sz="half" idx="2"/>
          </p:nvPr>
        </p:nvSpPr>
        <p:spPr>
          <a:xfrm>
            <a:off x="1083564" y="1878806"/>
            <a:ext cx="2125980" cy="2763441"/>
          </a:xfrm>
        </p:spPr>
        <p:txBody>
          <a:bodyPr rtlCol="0">
            <a:normAutofit/>
          </a:bodyPr>
          <a:lstStyle>
            <a:lvl1pPr>
              <a:defRPr sz="1500"/>
            </a:lvl1pPr>
            <a:lvl2pPr>
              <a:defRPr sz="1350"/>
            </a:lvl2pPr>
            <a:lvl3pPr>
              <a:defRPr sz="1200"/>
            </a:lvl3pPr>
            <a:lvl4pPr>
              <a:defRPr sz="1050"/>
            </a:lvl4pPr>
            <a:lvl5pPr>
              <a:defRPr sz="1050"/>
            </a:lvl5pPr>
          </a:lstStyle>
          <a:p>
            <a:pPr lvl="0" rtl="0"/>
            <a:r>
              <a:rPr lang="en-US" noProof="0"/>
              <a:t>Click to edit Master text styles</a:t>
            </a:r>
          </a:p>
          <a:p>
            <a:pPr lvl="1" rtl="0"/>
            <a:r>
              <a:rPr lang="en-US" noProof="0"/>
              <a:t>Second level</a:t>
            </a:r>
          </a:p>
          <a:p>
            <a:pPr lvl="2" rtl="0"/>
            <a:r>
              <a:rPr lang="en-US" noProof="0"/>
              <a:t>Third level</a:t>
            </a:r>
          </a:p>
        </p:txBody>
      </p:sp>
      <p:sp>
        <p:nvSpPr>
          <p:cNvPr id="5" name="Segnaposto testo 4">
            <a:extLst>
              <a:ext uri="{FF2B5EF4-FFF2-40B4-BE49-F238E27FC236}">
                <a16:creationId xmlns:a16="http://schemas.microsoft.com/office/drawing/2014/main" id="{F3D53357-616B-47F4-944B-F979FE96635D}"/>
              </a:ext>
            </a:extLst>
          </p:cNvPr>
          <p:cNvSpPr>
            <a:spLocks noGrp="1"/>
          </p:cNvSpPr>
          <p:nvPr>
            <p:ph type="body" sz="quarter" idx="3"/>
          </p:nvPr>
        </p:nvSpPr>
        <p:spPr>
          <a:xfrm>
            <a:off x="3737610" y="1260872"/>
            <a:ext cx="2125980" cy="617934"/>
          </a:xfrm>
        </p:spPr>
        <p:txBody>
          <a:bodyPr rtlCol="0"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n-US" noProof="0"/>
              <a:t>Click to edit Master text styles</a:t>
            </a:r>
          </a:p>
        </p:txBody>
      </p:sp>
      <p:sp>
        <p:nvSpPr>
          <p:cNvPr id="6" name="Segnaposto contenuto 5">
            <a:extLst>
              <a:ext uri="{FF2B5EF4-FFF2-40B4-BE49-F238E27FC236}">
                <a16:creationId xmlns:a16="http://schemas.microsoft.com/office/drawing/2014/main" id="{BD7EA593-3036-4FB5-94B4-D9431DF04871}"/>
              </a:ext>
            </a:extLst>
          </p:cNvPr>
          <p:cNvSpPr>
            <a:spLocks noGrp="1"/>
          </p:cNvSpPr>
          <p:nvPr>
            <p:ph sz="quarter" idx="4"/>
          </p:nvPr>
        </p:nvSpPr>
        <p:spPr>
          <a:xfrm>
            <a:off x="3737610" y="1878806"/>
            <a:ext cx="2125980" cy="2763441"/>
          </a:xfrm>
        </p:spPr>
        <p:txBody>
          <a:bodyPr rtlCol="0">
            <a:normAutofit/>
          </a:bodyPr>
          <a:lstStyle>
            <a:lvl1pPr>
              <a:defRPr sz="1500"/>
            </a:lvl1pPr>
            <a:lvl2pPr>
              <a:defRPr sz="1350"/>
            </a:lvl2pPr>
            <a:lvl3pPr>
              <a:defRPr sz="1200"/>
            </a:lvl3pPr>
            <a:lvl4pPr>
              <a:defRPr sz="1050"/>
            </a:lvl4pPr>
            <a:lvl5pPr>
              <a:defRPr sz="1050"/>
            </a:lvl5pPr>
          </a:lstStyle>
          <a:p>
            <a:pPr lvl="0" rtl="0"/>
            <a:r>
              <a:rPr lang="en-US" noProof="0"/>
              <a:t>Click to edit Master text styles</a:t>
            </a:r>
          </a:p>
          <a:p>
            <a:pPr lvl="1" rtl="0"/>
            <a:r>
              <a:rPr lang="en-US" noProof="0"/>
              <a:t>Second level</a:t>
            </a:r>
          </a:p>
          <a:p>
            <a:pPr lvl="2" rtl="0"/>
            <a:r>
              <a:rPr lang="en-US" noProof="0"/>
              <a:t>Third level</a:t>
            </a:r>
          </a:p>
        </p:txBody>
      </p:sp>
      <p:cxnSp>
        <p:nvCxnSpPr>
          <p:cNvPr id="10" name="Connettore diritto 9">
            <a:extLst>
              <a:ext uri="{FF2B5EF4-FFF2-40B4-BE49-F238E27FC236}">
                <a16:creationId xmlns:a16="http://schemas.microsoft.com/office/drawing/2014/main" id="{160F34ED-DA60-4CC2-B735-B0EC5D9FEA35}"/>
              </a:ext>
            </a:extLst>
          </p:cNvPr>
          <p:cNvCxnSpPr>
            <a:cxnSpLocks/>
          </p:cNvCxnSpPr>
          <p:nvPr/>
        </p:nvCxnSpPr>
        <p:spPr>
          <a:xfrm>
            <a:off x="536918" y="267610"/>
            <a:ext cx="0" cy="486965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Elemento grafico 15">
            <a:extLst>
              <a:ext uri="{FF2B5EF4-FFF2-40B4-BE49-F238E27FC236}">
                <a16:creationId xmlns:a16="http://schemas.microsoft.com/office/drawing/2014/main" id="{A9475260-301F-4744-B1DA-7B00F6FB4342}"/>
              </a:ext>
            </a:extLst>
          </p:cNvPr>
          <p:cNvSpPr/>
          <p:nvPr userDrawn="1"/>
        </p:nvSpPr>
        <p:spPr>
          <a:xfrm>
            <a:off x="7881238" y="369155"/>
            <a:ext cx="104279" cy="10427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it-IT" sz="1050" noProof="0"/>
          </a:p>
        </p:txBody>
      </p:sp>
      <p:sp>
        <p:nvSpPr>
          <p:cNvPr id="14" name="Elemento grafico 16">
            <a:extLst>
              <a:ext uri="{FF2B5EF4-FFF2-40B4-BE49-F238E27FC236}">
                <a16:creationId xmlns:a16="http://schemas.microsoft.com/office/drawing/2014/main" id="{9BBD3F4B-0836-48C5-AC68-747456D1DD50}"/>
              </a:ext>
            </a:extLst>
          </p:cNvPr>
          <p:cNvSpPr/>
          <p:nvPr userDrawn="1"/>
        </p:nvSpPr>
        <p:spPr>
          <a:xfrm>
            <a:off x="8608458" y="791686"/>
            <a:ext cx="95786" cy="95786"/>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it-IT" sz="1050" noProof="0"/>
          </a:p>
        </p:txBody>
      </p:sp>
      <p:sp>
        <p:nvSpPr>
          <p:cNvPr id="16" name="Elemento grafico 14">
            <a:extLst>
              <a:ext uri="{FF2B5EF4-FFF2-40B4-BE49-F238E27FC236}">
                <a16:creationId xmlns:a16="http://schemas.microsoft.com/office/drawing/2014/main" id="{9B4398D5-99F4-4F83-AA77-9B4177648CAF}"/>
              </a:ext>
            </a:extLst>
          </p:cNvPr>
          <p:cNvSpPr/>
          <p:nvPr userDrawn="1"/>
        </p:nvSpPr>
        <p:spPr>
          <a:xfrm>
            <a:off x="8431166" y="334978"/>
            <a:ext cx="68354" cy="6835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it-IT" sz="1050" noProof="0"/>
          </a:p>
        </p:txBody>
      </p:sp>
      <p:sp>
        <p:nvSpPr>
          <p:cNvPr id="15" name="Segnaposto testo 4">
            <a:extLst>
              <a:ext uri="{FF2B5EF4-FFF2-40B4-BE49-F238E27FC236}">
                <a16:creationId xmlns:a16="http://schemas.microsoft.com/office/drawing/2014/main" id="{2D693B15-7265-4478-9579-62FCD5222D04}"/>
              </a:ext>
            </a:extLst>
          </p:cNvPr>
          <p:cNvSpPr>
            <a:spLocks noGrp="1"/>
          </p:cNvSpPr>
          <p:nvPr>
            <p:ph type="body" sz="quarter" idx="13"/>
          </p:nvPr>
        </p:nvSpPr>
        <p:spPr>
          <a:xfrm>
            <a:off x="6398514" y="1326952"/>
            <a:ext cx="2125980" cy="617934"/>
          </a:xfrm>
        </p:spPr>
        <p:txBody>
          <a:bodyPr rtlCol="0"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n-US" noProof="0"/>
              <a:t>Click to edit Master text styles</a:t>
            </a:r>
          </a:p>
        </p:txBody>
      </p:sp>
      <p:sp>
        <p:nvSpPr>
          <p:cNvPr id="17" name="Segnaposto contenuto 5">
            <a:extLst>
              <a:ext uri="{FF2B5EF4-FFF2-40B4-BE49-F238E27FC236}">
                <a16:creationId xmlns:a16="http://schemas.microsoft.com/office/drawing/2014/main" id="{48F9E92F-BB16-4896-A47F-6497C3D705B9}"/>
              </a:ext>
            </a:extLst>
          </p:cNvPr>
          <p:cNvSpPr>
            <a:spLocks noGrp="1"/>
          </p:cNvSpPr>
          <p:nvPr>
            <p:ph sz="quarter" idx="14"/>
          </p:nvPr>
        </p:nvSpPr>
        <p:spPr>
          <a:xfrm>
            <a:off x="6398514" y="1944886"/>
            <a:ext cx="2125980" cy="2763441"/>
          </a:xfrm>
        </p:spPr>
        <p:txBody>
          <a:bodyPr rtlCol="0">
            <a:normAutofit/>
          </a:bodyPr>
          <a:lstStyle>
            <a:lvl1pPr>
              <a:defRPr sz="1500"/>
            </a:lvl1pPr>
            <a:lvl2pPr>
              <a:defRPr sz="1350"/>
            </a:lvl2pPr>
            <a:lvl3pPr>
              <a:defRPr sz="1200"/>
            </a:lvl3pPr>
            <a:lvl4pPr>
              <a:defRPr sz="1050"/>
            </a:lvl4pPr>
            <a:lvl5pPr>
              <a:defRPr sz="1050"/>
            </a:lvl5pPr>
          </a:lstStyle>
          <a:p>
            <a:pPr lvl="0" rtl="0"/>
            <a:r>
              <a:rPr lang="en-US" noProof="0"/>
              <a:t>Click to edit Master text styles</a:t>
            </a:r>
          </a:p>
          <a:p>
            <a:pPr lvl="1" rtl="0"/>
            <a:r>
              <a:rPr lang="en-US" noProof="0"/>
              <a:t>Second level</a:t>
            </a:r>
          </a:p>
          <a:p>
            <a:pPr lvl="2" rtl="0"/>
            <a:r>
              <a:rPr lang="en-US" noProof="0"/>
              <a:t>Third level</a:t>
            </a:r>
          </a:p>
        </p:txBody>
      </p:sp>
    </p:spTree>
    <p:extLst>
      <p:ext uri="{BB962C8B-B14F-4D97-AF65-F5344CB8AC3E}">
        <p14:creationId xmlns:p14="http://schemas.microsoft.com/office/powerpoint/2010/main" val="2568042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 id="214748366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iopscience.iop.org/article/10.3847/1538-4357/ac4269"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iopscience.iop.org/article/10.3847/1538-4357/ac4269" TargetMode="External"/><Relationship Id="rId2" Type="http://schemas.openxmlformats.org/officeDocument/2006/relationships/hyperlink" Target="https://arxiv.org/pdf/2206.00450" TargetMode="Externa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journals.aps.org/prd/abstract/10.1103/PhysRevD.97.081301" TargetMode="External"/><Relationship Id="rId2" Type="http://schemas.openxmlformats.org/officeDocument/2006/relationships/hyperlink" Target="https://arxiv.org/pdf/2206.00450" TargetMode="External"/><Relationship Id="rId1" Type="http://schemas.openxmlformats.org/officeDocument/2006/relationships/slideLayout" Target="../slideLayouts/slideLayout11.xml"/><Relationship Id="rId5" Type="http://schemas.openxmlformats.org/officeDocument/2006/relationships/hyperlink" Target="https://arxiv.org/abs/2303.03316" TargetMode="External"/><Relationship Id="rId4" Type="http://schemas.openxmlformats.org/officeDocument/2006/relationships/hyperlink" Target="https://journals.aps.org/prd/abstract/10.1103/PhysRevD.79.053006"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hyperlink" Target="https://doi.org/10.48550/arXiv.2303.03316"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pegasuskmurase/ModelTemplates/tree/main/SNHEM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arxiv.org/abs/1705.04750v4"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arxiv.org/pdf/2312.17239" TargetMode="Externa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29275" y="1596548"/>
            <a:ext cx="9144001" cy="1532205"/>
          </a:xfrm>
          <a:prstGeom prst="rect">
            <a:avLst/>
          </a:prstGeom>
          <a:noFill/>
          <a:ln>
            <a:noFill/>
          </a:ln>
        </p:spPr>
      </p:pic>
      <p:pic>
        <p:nvPicPr>
          <p:cNvPr id="55" name="Google Shape;55;p13"/>
          <p:cNvPicPr preferRelativeResize="0"/>
          <p:nvPr/>
        </p:nvPicPr>
        <p:blipFill rotWithShape="1">
          <a:blip r:embed="rId4">
            <a:alphaModFix/>
          </a:blip>
          <a:srcRect r="7321" b="9926"/>
          <a:stretch/>
        </p:blipFill>
        <p:spPr>
          <a:xfrm>
            <a:off x="549125" y="2577625"/>
            <a:ext cx="8192101" cy="627325"/>
          </a:xfrm>
          <a:prstGeom prst="rect">
            <a:avLst/>
          </a:prstGeom>
          <a:noFill/>
          <a:ln>
            <a:noFill/>
          </a:ln>
        </p:spPr>
      </p:pic>
      <p:sp>
        <p:nvSpPr>
          <p:cNvPr id="56" name="Google Shape;56;p13"/>
          <p:cNvSpPr txBox="1"/>
          <p:nvPr/>
        </p:nvSpPr>
        <p:spPr>
          <a:xfrm>
            <a:off x="2245375" y="3052545"/>
            <a:ext cx="5321400" cy="109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2"/>
                </a:solidFill>
              </a:rPr>
              <a:t>Weekly analysis group meeting 31/10/24</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a:extLst>
              <a:ext uri="{FF2B5EF4-FFF2-40B4-BE49-F238E27FC236}">
                <a16:creationId xmlns:a16="http://schemas.microsoft.com/office/drawing/2014/main" id="{BCE2DA32-2D19-C363-A0D6-2C80744D6905}"/>
              </a:ext>
            </a:extLst>
          </p:cNvPr>
          <p:cNvSpPr>
            <a:spLocks noGrp="1"/>
          </p:cNvSpPr>
          <p:nvPr>
            <p:ph type="title"/>
          </p:nvPr>
        </p:nvSpPr>
        <p:spPr>
          <a:xfrm>
            <a:off x="311700" y="288275"/>
            <a:ext cx="8520600" cy="572700"/>
          </a:xfrm>
        </p:spPr>
        <p:txBody>
          <a:bodyPr>
            <a:normAutofit fontScale="90000"/>
          </a:bodyPr>
          <a:lstStyle/>
          <a:p>
            <a:r>
              <a:rPr lang="it-IT" sz="2800" b="1" dirty="0">
                <a:solidFill>
                  <a:srgbClr val="9933FF"/>
                </a:solidFill>
              </a:rPr>
              <a:t>High-energy </a:t>
            </a:r>
            <a:r>
              <a:rPr lang="it-IT" sz="2800" b="1" dirty="0" err="1">
                <a:solidFill>
                  <a:srgbClr val="9933FF"/>
                </a:solidFill>
              </a:rPr>
              <a:t>neutrinos</a:t>
            </a:r>
            <a:r>
              <a:rPr lang="it-IT" sz="2800" b="1" dirty="0">
                <a:solidFill>
                  <a:srgbClr val="9933FF"/>
                </a:solidFill>
              </a:rPr>
              <a:t> </a:t>
            </a:r>
            <a:r>
              <a:rPr lang="it-IT" sz="2800" b="1" dirty="0" err="1">
                <a:solidFill>
                  <a:srgbClr val="9933FF"/>
                </a:solidFill>
              </a:rPr>
              <a:t>form</a:t>
            </a:r>
            <a:r>
              <a:rPr lang="it-IT" sz="2800" b="1" dirty="0">
                <a:solidFill>
                  <a:srgbClr val="9933FF"/>
                </a:solidFill>
              </a:rPr>
              <a:t> </a:t>
            </a:r>
            <a:r>
              <a:rPr lang="it-IT" sz="2800" b="1" dirty="0" err="1">
                <a:solidFill>
                  <a:srgbClr val="9933FF"/>
                </a:solidFill>
              </a:rPr>
              <a:t>SNe</a:t>
            </a:r>
            <a:endParaRPr lang="it-IT" dirty="0">
              <a:solidFill>
                <a:srgbClr val="9933FF"/>
              </a:solidFill>
            </a:endParaRPr>
          </a:p>
        </p:txBody>
      </p:sp>
      <p:sp>
        <p:nvSpPr>
          <p:cNvPr id="12" name="Segnaposto testo 11">
            <a:extLst>
              <a:ext uri="{FF2B5EF4-FFF2-40B4-BE49-F238E27FC236}">
                <a16:creationId xmlns:a16="http://schemas.microsoft.com/office/drawing/2014/main" id="{633BC87D-5DFC-1895-14C5-293190CC2C13}"/>
              </a:ext>
            </a:extLst>
          </p:cNvPr>
          <p:cNvSpPr>
            <a:spLocks noGrp="1"/>
          </p:cNvSpPr>
          <p:nvPr>
            <p:ph type="body" idx="1"/>
          </p:nvPr>
        </p:nvSpPr>
        <p:spPr/>
        <p:txBody>
          <a:bodyPr/>
          <a:lstStyle/>
          <a:p>
            <a:r>
              <a:rPr lang="en-US" sz="1800" dirty="0"/>
              <a:t>The core-collapse supernovae (</a:t>
            </a:r>
            <a:r>
              <a:rPr lang="en-US" sz="1800" dirty="0" err="1"/>
              <a:t>CCSNe</a:t>
            </a:r>
            <a:r>
              <a:rPr lang="en-US" sz="1800" dirty="0"/>
              <a:t>) explosion mechanism is driven by low energy (MeV) neutrinos, which release most of the system's gravitational binding energy.</a:t>
            </a:r>
          </a:p>
          <a:p>
            <a:r>
              <a:rPr lang="en-US" sz="1800" dirty="0">
                <a:solidFill>
                  <a:schemeClr val="accent1"/>
                </a:solidFill>
              </a:rPr>
              <a:t>In addition to MeV neutrinos, some </a:t>
            </a:r>
            <a:r>
              <a:rPr lang="en-US" sz="1800" dirty="0" err="1">
                <a:solidFill>
                  <a:schemeClr val="accent1"/>
                </a:solidFill>
              </a:rPr>
              <a:t>CCSNe</a:t>
            </a:r>
            <a:r>
              <a:rPr lang="en-US" sz="1800" dirty="0">
                <a:solidFill>
                  <a:schemeClr val="accent1"/>
                </a:solidFill>
              </a:rPr>
              <a:t> are good candidates for the production of high-energy (HE) neutrinos at GeV and higher due to dense circumstellar material (CSM), which provides target material for the ejecta to form shocks and accelerate protons with matter via hadronuclear (pp interaction) or photohadronic (</a:t>
            </a:r>
            <a:r>
              <a:rPr lang="en-US" sz="1800" dirty="0" err="1">
                <a:solidFill>
                  <a:schemeClr val="accent1"/>
                </a:solidFill>
              </a:rPr>
              <a:t>pγ</a:t>
            </a:r>
            <a:r>
              <a:rPr lang="en-US" sz="1800" dirty="0">
                <a:solidFill>
                  <a:schemeClr val="accent1"/>
                </a:solidFill>
              </a:rPr>
              <a:t>) mechanism</a:t>
            </a:r>
            <a:r>
              <a:rPr lang="en-US" sz="1800" dirty="0"/>
              <a:t>. While these neutrinos have yet to be observed, there are recent hints of HE neutrinos in connection with the SN 1987A (</a:t>
            </a:r>
            <a:r>
              <a:rPr lang="en-US" sz="1800" dirty="0">
                <a:hlinkClick r:id="rId2"/>
              </a:rPr>
              <a:t>Oyama 2022</a:t>
            </a:r>
            <a:r>
              <a:rPr lang="en-US" sz="1800" dirty="0"/>
              <a:t>).</a:t>
            </a:r>
          </a:p>
          <a:p>
            <a:endParaRPr lang="it-IT" dirty="0"/>
          </a:p>
        </p:txBody>
      </p:sp>
    </p:spTree>
    <p:extLst>
      <p:ext uri="{BB962C8B-B14F-4D97-AF65-F5344CB8AC3E}">
        <p14:creationId xmlns:p14="http://schemas.microsoft.com/office/powerpoint/2010/main" val="459970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201810" y="84462"/>
            <a:ext cx="3616693" cy="404261"/>
          </a:xfrm>
          <a:solidFill>
            <a:schemeClr val="bg1">
              <a:lumMod val="85000"/>
            </a:schemeClr>
          </a:solidFill>
        </p:spPr>
        <p:txBody>
          <a:bodyPr>
            <a:normAutofit fontScale="90000"/>
          </a:bodyPr>
          <a:lstStyle/>
          <a:p>
            <a:pPr marL="342900" indent="-342900">
              <a:buFont typeface="Wingdings" panose="05000000000000000000" pitchFamily="2" charset="2"/>
              <a:buChar char="Ø"/>
            </a:pPr>
            <a:r>
              <a:rPr lang="it-IT" sz="2100" b="1" dirty="0">
                <a:solidFill>
                  <a:schemeClr val="accent1"/>
                </a:solidFill>
              </a:rPr>
              <a:t> High-energy </a:t>
            </a:r>
            <a:r>
              <a:rPr lang="it-IT" sz="2100" b="1" dirty="0" err="1">
                <a:solidFill>
                  <a:schemeClr val="accent1"/>
                </a:solidFill>
              </a:rPr>
              <a:t>neutrinos</a:t>
            </a:r>
            <a:r>
              <a:rPr lang="it-IT" sz="2100" b="1" dirty="0">
                <a:solidFill>
                  <a:schemeClr val="accent1"/>
                </a:solidFill>
              </a:rPr>
              <a:t> </a:t>
            </a:r>
            <a:r>
              <a:rPr lang="it-IT" sz="2100" b="1" dirty="0" err="1">
                <a:solidFill>
                  <a:schemeClr val="accent1"/>
                </a:solidFill>
              </a:rPr>
              <a:t>form</a:t>
            </a:r>
            <a:r>
              <a:rPr lang="it-IT" sz="2100" b="1" dirty="0">
                <a:solidFill>
                  <a:schemeClr val="accent1"/>
                </a:solidFill>
              </a:rPr>
              <a:t> </a:t>
            </a:r>
            <a:r>
              <a:rPr lang="it-IT" sz="2100" b="1" dirty="0" err="1">
                <a:solidFill>
                  <a:schemeClr val="accent1"/>
                </a:solidFill>
              </a:rPr>
              <a:t>SNe</a:t>
            </a:r>
            <a:endParaRPr lang="it-IT" sz="2100" b="1" dirty="0">
              <a:solidFill>
                <a:schemeClr val="accent1"/>
              </a:solidFill>
            </a:endParaRPr>
          </a:p>
        </p:txBody>
      </p:sp>
      <p:sp>
        <p:nvSpPr>
          <p:cNvPr id="4" name="CasellaDiTesto 3">
            <a:extLst>
              <a:ext uri="{FF2B5EF4-FFF2-40B4-BE49-F238E27FC236}">
                <a16:creationId xmlns:a16="http://schemas.microsoft.com/office/drawing/2014/main" id="{969F914C-7FA5-97DD-FE82-64A0273EC24D}"/>
              </a:ext>
            </a:extLst>
          </p:cNvPr>
          <p:cNvSpPr txBox="1"/>
          <p:nvPr/>
        </p:nvSpPr>
        <p:spPr>
          <a:xfrm>
            <a:off x="1" y="4935751"/>
            <a:ext cx="7599164" cy="230832"/>
          </a:xfrm>
          <a:prstGeom prst="rect">
            <a:avLst/>
          </a:prstGeom>
          <a:noFill/>
        </p:spPr>
        <p:txBody>
          <a:bodyPr wrap="square">
            <a:spAutoFit/>
          </a:bodyPr>
          <a:lstStyle/>
          <a:p>
            <a:r>
              <a:rPr lang="en-US" sz="900" b="1" dirty="0">
                <a:solidFill>
                  <a:schemeClr val="accent1"/>
                </a:solidFill>
              </a:rPr>
              <a:t>Prospects for extending the core-collapse supernova detection horizon using high-energy neutrinos </a:t>
            </a:r>
            <a:r>
              <a:rPr lang="en-US" sz="900" dirty="0">
                <a:solidFill>
                  <a:schemeClr val="accent1"/>
                </a:solidFill>
                <a:hlinkClick r:id="rId2"/>
              </a:rPr>
              <a:t>(</a:t>
            </a:r>
            <a:r>
              <a:rPr lang="it-IT" sz="900" dirty="0">
                <a:solidFill>
                  <a:schemeClr val="accent1"/>
                </a:solidFill>
                <a:latin typeface="Arial Nova Light" panose="020B0304020202020204" pitchFamily="34" charset="0"/>
                <a:hlinkClick r:id="rId2"/>
              </a:rPr>
              <a:t>https://arxiv.org/pdf/2206.00450)</a:t>
            </a:r>
            <a:r>
              <a:rPr lang="en-US" sz="900" dirty="0">
                <a:solidFill>
                  <a:schemeClr val="accent1"/>
                </a:solidFill>
                <a:hlinkClick r:id="rId2"/>
              </a:rPr>
              <a:t> </a:t>
            </a:r>
            <a:endParaRPr lang="it-IT" sz="900" dirty="0">
              <a:solidFill>
                <a:schemeClr val="accent1"/>
              </a:solidFill>
            </a:endParaRPr>
          </a:p>
        </p:txBody>
      </p:sp>
      <p:sp>
        <p:nvSpPr>
          <p:cNvPr id="5" name="CasellaDiTesto 4">
            <a:extLst>
              <a:ext uri="{FF2B5EF4-FFF2-40B4-BE49-F238E27FC236}">
                <a16:creationId xmlns:a16="http://schemas.microsoft.com/office/drawing/2014/main" id="{9BC4AFF9-9B79-87CB-288A-E4FC21061373}"/>
              </a:ext>
            </a:extLst>
          </p:cNvPr>
          <p:cNvSpPr txBox="1"/>
          <p:nvPr/>
        </p:nvSpPr>
        <p:spPr>
          <a:xfrm>
            <a:off x="201810" y="681235"/>
            <a:ext cx="4598184" cy="2123658"/>
          </a:xfrm>
          <a:prstGeom prst="rect">
            <a:avLst/>
          </a:prstGeom>
          <a:noFill/>
        </p:spPr>
        <p:txBody>
          <a:bodyPr wrap="square">
            <a:spAutoFit/>
          </a:bodyPr>
          <a:lstStyle/>
          <a:p>
            <a:r>
              <a:rPr lang="en-US" sz="1200" dirty="0"/>
              <a:t>The core-collapse supernovae (</a:t>
            </a:r>
            <a:r>
              <a:rPr lang="en-US" sz="1200" dirty="0" err="1"/>
              <a:t>CCSNe</a:t>
            </a:r>
            <a:r>
              <a:rPr lang="en-US" sz="1200" dirty="0"/>
              <a:t>) explosion mechanism is driven by low energy (MeV) neutrinos, which release most of the system's gravitational binding energy.</a:t>
            </a:r>
          </a:p>
          <a:p>
            <a:r>
              <a:rPr lang="en-US" sz="1200" dirty="0">
                <a:solidFill>
                  <a:schemeClr val="accent1"/>
                </a:solidFill>
              </a:rPr>
              <a:t>In addition to MeV neutrinos, some </a:t>
            </a:r>
            <a:r>
              <a:rPr lang="en-US" sz="1200" dirty="0" err="1">
                <a:solidFill>
                  <a:schemeClr val="accent1"/>
                </a:solidFill>
              </a:rPr>
              <a:t>CCSNe</a:t>
            </a:r>
            <a:r>
              <a:rPr lang="en-US" sz="1200" dirty="0">
                <a:solidFill>
                  <a:schemeClr val="accent1"/>
                </a:solidFill>
              </a:rPr>
              <a:t> are good candidates for the production of high-energy (HE) neutrinos at GeV and higher due to dense circumstellar material (CSM), which provides target material for the ejecta to form shocks and accelerate protons with matter via hadronuclear (pp interaction) or photohadronic (</a:t>
            </a:r>
            <a:r>
              <a:rPr lang="en-US" sz="1200" dirty="0" err="1">
                <a:solidFill>
                  <a:schemeClr val="accent1"/>
                </a:solidFill>
              </a:rPr>
              <a:t>pγ</a:t>
            </a:r>
            <a:r>
              <a:rPr lang="en-US" sz="1200" dirty="0">
                <a:solidFill>
                  <a:schemeClr val="accent1"/>
                </a:solidFill>
              </a:rPr>
              <a:t>) mechanism</a:t>
            </a:r>
            <a:r>
              <a:rPr lang="en-US" sz="1200" dirty="0"/>
              <a:t>. While these neutrinos have yet to be observed, there are recent hints of HE neutrinos in connection with the SN 1987A (</a:t>
            </a:r>
            <a:r>
              <a:rPr lang="en-US" sz="1200" dirty="0" err="1">
                <a:hlinkClick r:id="rId3"/>
              </a:rPr>
              <a:t>Oyama</a:t>
            </a:r>
            <a:r>
              <a:rPr lang="en-US" sz="1200" dirty="0">
                <a:hlinkClick r:id="rId3"/>
              </a:rPr>
              <a:t> 2022</a:t>
            </a:r>
            <a:r>
              <a:rPr lang="en-US" sz="1200" dirty="0"/>
              <a:t>).</a:t>
            </a:r>
          </a:p>
        </p:txBody>
      </p:sp>
      <p:pic>
        <p:nvPicPr>
          <p:cNvPr id="7" name="Immagine 6" descr="Immagine che contiene schermata, cerchio, orologio, Policromia&#10;&#10;Descrizione generata automaticamente">
            <a:extLst>
              <a:ext uri="{FF2B5EF4-FFF2-40B4-BE49-F238E27FC236}">
                <a16:creationId xmlns:a16="http://schemas.microsoft.com/office/drawing/2014/main" id="{BEB00CCC-BEF2-6B6E-B63E-96A70A83AE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9994" y="202131"/>
            <a:ext cx="4344006" cy="2493517"/>
          </a:xfrm>
          <a:prstGeom prst="rect">
            <a:avLst/>
          </a:prstGeom>
        </p:spPr>
      </p:pic>
      <p:sp>
        <p:nvSpPr>
          <p:cNvPr id="9" name="CasellaDiTesto 8">
            <a:extLst>
              <a:ext uri="{FF2B5EF4-FFF2-40B4-BE49-F238E27FC236}">
                <a16:creationId xmlns:a16="http://schemas.microsoft.com/office/drawing/2014/main" id="{98054F9F-00AF-9DE0-FDD8-DB5B32A66ED1}"/>
              </a:ext>
            </a:extLst>
          </p:cNvPr>
          <p:cNvSpPr txBox="1"/>
          <p:nvPr/>
        </p:nvSpPr>
        <p:spPr>
          <a:xfrm>
            <a:off x="168771" y="2900451"/>
            <a:ext cx="8806458" cy="1754326"/>
          </a:xfrm>
          <a:prstGeom prst="rect">
            <a:avLst/>
          </a:prstGeom>
          <a:noFill/>
        </p:spPr>
        <p:txBody>
          <a:bodyPr wrap="square">
            <a:spAutoFit/>
          </a:bodyPr>
          <a:lstStyle/>
          <a:p>
            <a:pPr marL="214313" indent="-214313">
              <a:buFont typeface="Arial" panose="020B0604020202020204" pitchFamily="34" charset="0"/>
              <a:buChar char="•"/>
            </a:pPr>
            <a:r>
              <a:rPr lang="en-US" sz="1200" dirty="0"/>
              <a:t>Neutrino telescopes such as the </a:t>
            </a:r>
            <a:r>
              <a:rPr lang="en-US" sz="1200" dirty="0" err="1"/>
              <a:t>IceCube</a:t>
            </a:r>
            <a:r>
              <a:rPr lang="en-US" sz="1200" dirty="0"/>
              <a:t> Neutrino Observatory and KM3NeT observe the burst of MeV neutrinos from </a:t>
            </a:r>
            <a:r>
              <a:rPr lang="en-US" sz="1200" dirty="0" err="1"/>
              <a:t>CCSNe</a:t>
            </a:r>
            <a:r>
              <a:rPr lang="en-US" sz="1200" dirty="0"/>
              <a:t> as single-photon hits from interactions that occur near the photomultiplier tubes (PMTs). This makes the measurement quite sensitive to the high level of single photon noise due to, for example, the dark noise in the PMT or radioactivity of the PMT glass </a:t>
            </a:r>
            <a:r>
              <a:rPr lang="en-US" sz="1200" dirty="0">
                <a:sym typeface="Wingdings" panose="05000000000000000000" pitchFamily="2" charset="2"/>
              </a:rPr>
              <a:t> </a:t>
            </a:r>
            <a:r>
              <a:rPr lang="en-US" sz="1200" dirty="0"/>
              <a:t>This limits the ability for neutrino telescopes to observe faint signals from </a:t>
            </a:r>
            <a:r>
              <a:rPr lang="en-US" sz="1200" dirty="0" err="1"/>
              <a:t>CCSNe</a:t>
            </a:r>
            <a:r>
              <a:rPr lang="en-US" sz="1200" dirty="0"/>
              <a:t>.</a:t>
            </a:r>
          </a:p>
          <a:p>
            <a:pPr marL="214313" indent="-214313">
              <a:buFont typeface="Arial" panose="020B0604020202020204" pitchFamily="34" charset="0"/>
              <a:buChar char="•"/>
            </a:pPr>
            <a:endParaRPr lang="en-US" sz="1200" dirty="0"/>
          </a:p>
          <a:p>
            <a:pPr marL="214313" indent="-214313">
              <a:buFont typeface="Arial" panose="020B0604020202020204" pitchFamily="34" charset="0"/>
              <a:buChar char="•"/>
            </a:pPr>
            <a:r>
              <a:rPr lang="en-US" sz="1200" dirty="0"/>
              <a:t>Despite the large size of the detector, at MeV energies </a:t>
            </a:r>
            <a:r>
              <a:rPr lang="en-US" sz="1200" dirty="0" err="1"/>
              <a:t>IceCube</a:t>
            </a:r>
            <a:r>
              <a:rPr lang="en-US" sz="1200" dirty="0"/>
              <a:t> has a detection horizon for </a:t>
            </a:r>
            <a:r>
              <a:rPr lang="en-US" sz="1200" dirty="0" err="1"/>
              <a:t>CCSNe</a:t>
            </a:r>
            <a:r>
              <a:rPr lang="en-US" sz="1200" dirty="0"/>
              <a:t> of ∼ 50 kpc, and KM3NeT has an expected reach of ∼ 50−60 kpc, in contrast to detectors with tighter PMT spacing like Super-K, which has nearly a double reach of ∼ 100 kpc (Ikeda et al. 2007). For next generation detectors like Hyper-K, the detection horizon for low energy neutrinos from </a:t>
            </a:r>
            <a:r>
              <a:rPr lang="en-US" sz="1200" dirty="0" err="1"/>
              <a:t>CCSNe</a:t>
            </a:r>
            <a:r>
              <a:rPr lang="en-US" sz="1200" dirty="0"/>
              <a:t> is expected to reach ∼ 1 </a:t>
            </a:r>
            <a:r>
              <a:rPr lang="en-US" sz="1200" dirty="0" err="1"/>
              <a:t>Mpc</a:t>
            </a:r>
            <a:r>
              <a:rPr lang="en-US" sz="1200" dirty="0"/>
              <a:t>.</a:t>
            </a:r>
          </a:p>
        </p:txBody>
      </p:sp>
    </p:spTree>
    <p:extLst>
      <p:ext uri="{BB962C8B-B14F-4D97-AF65-F5344CB8AC3E}">
        <p14:creationId xmlns:p14="http://schemas.microsoft.com/office/powerpoint/2010/main" val="91292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969F914C-7FA5-97DD-FE82-64A0273EC24D}"/>
              </a:ext>
            </a:extLst>
          </p:cNvPr>
          <p:cNvSpPr txBox="1"/>
          <p:nvPr/>
        </p:nvSpPr>
        <p:spPr>
          <a:xfrm>
            <a:off x="1" y="4935751"/>
            <a:ext cx="7599164" cy="230832"/>
          </a:xfrm>
          <a:prstGeom prst="rect">
            <a:avLst/>
          </a:prstGeom>
          <a:noFill/>
        </p:spPr>
        <p:txBody>
          <a:bodyPr wrap="square">
            <a:spAutoFit/>
          </a:bodyPr>
          <a:lstStyle/>
          <a:p>
            <a:r>
              <a:rPr lang="en-US" sz="900" b="1" dirty="0">
                <a:solidFill>
                  <a:schemeClr val="accent1"/>
                </a:solidFill>
              </a:rPr>
              <a:t>Prospects for extending the core-collapse supernova detection horizon using high-energy neutrinos </a:t>
            </a:r>
            <a:r>
              <a:rPr lang="en-US" sz="900" dirty="0">
                <a:solidFill>
                  <a:schemeClr val="accent1"/>
                </a:solidFill>
                <a:hlinkClick r:id="rId2"/>
              </a:rPr>
              <a:t>(</a:t>
            </a:r>
            <a:r>
              <a:rPr lang="it-IT" sz="900" dirty="0">
                <a:solidFill>
                  <a:schemeClr val="accent1"/>
                </a:solidFill>
                <a:latin typeface="Arial Nova Light" panose="020B0304020202020204" pitchFamily="34" charset="0"/>
                <a:hlinkClick r:id="rId2"/>
              </a:rPr>
              <a:t>https://arxiv.org/pdf/2206.00450)</a:t>
            </a:r>
            <a:r>
              <a:rPr lang="en-US" sz="900" dirty="0">
                <a:solidFill>
                  <a:schemeClr val="accent1"/>
                </a:solidFill>
                <a:hlinkClick r:id="rId2"/>
              </a:rPr>
              <a:t> </a:t>
            </a:r>
            <a:endParaRPr lang="it-IT" sz="900" dirty="0">
              <a:solidFill>
                <a:schemeClr val="accent1"/>
              </a:solidFill>
            </a:endParaRPr>
          </a:p>
        </p:txBody>
      </p:sp>
      <p:sp>
        <p:nvSpPr>
          <p:cNvPr id="5" name="CasellaDiTesto 4">
            <a:extLst>
              <a:ext uri="{FF2B5EF4-FFF2-40B4-BE49-F238E27FC236}">
                <a16:creationId xmlns:a16="http://schemas.microsoft.com/office/drawing/2014/main" id="{9BC4AFF9-9B79-87CB-288A-E4FC21061373}"/>
              </a:ext>
            </a:extLst>
          </p:cNvPr>
          <p:cNvSpPr txBox="1"/>
          <p:nvPr/>
        </p:nvSpPr>
        <p:spPr>
          <a:xfrm>
            <a:off x="201810" y="682161"/>
            <a:ext cx="8727878" cy="3231654"/>
          </a:xfrm>
          <a:prstGeom prst="rect">
            <a:avLst/>
          </a:prstGeom>
          <a:noFill/>
        </p:spPr>
        <p:txBody>
          <a:bodyPr wrap="square">
            <a:spAutoFit/>
          </a:bodyPr>
          <a:lstStyle/>
          <a:p>
            <a:r>
              <a:rPr lang="en-US" sz="1200" dirty="0">
                <a:solidFill>
                  <a:schemeClr val="accent1"/>
                </a:solidFill>
                <a:latin typeface="Neue Haas Grotesk Text Pro" panose="020B0504020202020204" pitchFamily="34" charset="0"/>
              </a:rPr>
              <a:t>The potential to extend the detection horizon past the </a:t>
            </a:r>
            <a:r>
              <a:rPr lang="en-US" sz="1200" dirty="0" err="1">
                <a:solidFill>
                  <a:schemeClr val="accent1"/>
                </a:solidFill>
                <a:latin typeface="Neue Haas Grotesk Text Pro" panose="020B0504020202020204" pitchFamily="34" charset="0"/>
              </a:rPr>
              <a:t>Magellanic</a:t>
            </a:r>
            <a:r>
              <a:rPr lang="en-US" sz="1200" dirty="0">
                <a:solidFill>
                  <a:schemeClr val="accent1"/>
                </a:solidFill>
                <a:latin typeface="Neue Haas Grotesk Text Pro" panose="020B0504020202020204" pitchFamily="34" charset="0"/>
              </a:rPr>
              <a:t> Clouds through detecting HE neutrinos has to be explored</a:t>
            </a:r>
            <a:r>
              <a:rPr lang="en-US" sz="1200" dirty="0">
                <a:latin typeface="Neue Haas Grotesk Text Pro" panose="020B0504020202020204" pitchFamily="34" charset="0"/>
              </a:rPr>
              <a:t>. </a:t>
            </a:r>
          </a:p>
          <a:p>
            <a:endParaRPr lang="en-US" sz="1200" dirty="0">
              <a:latin typeface="Neue Haas Grotesk Text Pro" panose="020B0504020202020204" pitchFamily="34" charset="0"/>
            </a:endParaRPr>
          </a:p>
          <a:p>
            <a:pPr marL="214313" indent="-214313">
              <a:buFont typeface="Arial" panose="020B0604020202020204" pitchFamily="34" charset="0"/>
              <a:buChar char="•"/>
            </a:pPr>
            <a:r>
              <a:rPr lang="en-US" sz="1200" dirty="0">
                <a:latin typeface="Neue Haas Grotesk Text Pro" panose="020B0504020202020204" pitchFamily="34" charset="0"/>
              </a:rPr>
              <a:t>To increase the number of observable supernovae, these neutrinos could give us an insight into the cosmic ray acceleration processes, which are inaccessible with the low-energy neutrinos produced through nuclear processes in supernovae. </a:t>
            </a:r>
          </a:p>
          <a:p>
            <a:endParaRPr lang="en-US" sz="1200" dirty="0">
              <a:latin typeface="Neue Haas Grotesk Text Pro" panose="020B0504020202020204" pitchFamily="34" charset="0"/>
            </a:endParaRPr>
          </a:p>
          <a:p>
            <a:pPr marL="214313" indent="-214313">
              <a:buFont typeface="Arial" panose="020B0604020202020204" pitchFamily="34" charset="0"/>
              <a:buChar char="•"/>
            </a:pPr>
            <a:r>
              <a:rPr lang="en-US" sz="1200" dirty="0">
                <a:latin typeface="Neue Haas Grotesk Text Pro" panose="020B0504020202020204" pitchFamily="34" charset="0"/>
              </a:rPr>
              <a:t>We consider two production mechanisms for HE neutrinos in </a:t>
            </a:r>
            <a:r>
              <a:rPr lang="en-US" sz="1200" dirty="0" err="1">
                <a:latin typeface="Neue Haas Grotesk Text Pro" panose="020B0504020202020204" pitchFamily="34" charset="0"/>
              </a:rPr>
              <a:t>CCSNe</a:t>
            </a:r>
            <a:r>
              <a:rPr lang="en-US" sz="1200" dirty="0">
                <a:latin typeface="Neue Haas Grotesk Text Pro" panose="020B0504020202020204" pitchFamily="34" charset="0"/>
              </a:rPr>
              <a:t>: one through </a:t>
            </a:r>
            <a:r>
              <a:rPr lang="en-US" sz="1200" dirty="0">
                <a:solidFill>
                  <a:schemeClr val="accent1"/>
                </a:solidFill>
                <a:latin typeface="Neue Haas Grotesk Text Pro" panose="020B0504020202020204" pitchFamily="34" charset="0"/>
              </a:rPr>
              <a:t>the interaction between supernova ejecta with CSM </a:t>
            </a:r>
            <a:r>
              <a:rPr lang="en-US" sz="1200" dirty="0">
                <a:latin typeface="Neue Haas Grotesk Text Pro" panose="020B0504020202020204" pitchFamily="34" charset="0"/>
              </a:rPr>
              <a:t>(</a:t>
            </a:r>
            <a:r>
              <a:rPr lang="en-US" sz="1200" dirty="0" err="1">
                <a:latin typeface="Neue Haas Grotesk Text Pro" panose="020B0504020202020204" pitchFamily="34" charset="0"/>
                <a:hlinkClick r:id="rId3">
                  <a:extLst>
                    <a:ext uri="{A12FA001-AC4F-418D-AE19-62706E023703}">
                      <ahyp:hlinkClr xmlns:ahyp="http://schemas.microsoft.com/office/drawing/2018/hyperlinkcolor" val="tx"/>
                    </a:ext>
                  </a:extLst>
                </a:hlinkClick>
              </a:rPr>
              <a:t>Murase</a:t>
            </a:r>
            <a:r>
              <a:rPr lang="en-US" sz="1200" dirty="0">
                <a:latin typeface="Neue Haas Grotesk Text Pro" panose="020B0504020202020204" pitchFamily="34" charset="0"/>
                <a:hlinkClick r:id="rId3">
                  <a:extLst>
                    <a:ext uri="{A12FA001-AC4F-418D-AE19-62706E023703}">
                      <ahyp:hlinkClr xmlns:ahyp="http://schemas.microsoft.com/office/drawing/2018/hyperlinkcolor" val="tx"/>
                    </a:ext>
                  </a:extLst>
                </a:hlinkClick>
              </a:rPr>
              <a:t> 2018</a:t>
            </a:r>
            <a:r>
              <a:rPr lang="en-US" sz="1200" dirty="0">
                <a:latin typeface="Neue Haas Grotesk Text Pro" panose="020B0504020202020204" pitchFamily="34" charset="0"/>
              </a:rPr>
              <a:t>) and the other through </a:t>
            </a:r>
            <a:r>
              <a:rPr lang="en-US" sz="1200" dirty="0">
                <a:solidFill>
                  <a:schemeClr val="accent1"/>
                </a:solidFill>
                <a:latin typeface="Neue Haas Grotesk Text Pro" panose="020B0504020202020204" pitchFamily="34" charset="0"/>
              </a:rPr>
              <a:t>relativistic choked jets </a:t>
            </a:r>
            <a:r>
              <a:rPr lang="en-US" sz="1200" dirty="0">
                <a:latin typeface="Neue Haas Grotesk Text Pro" panose="020B0504020202020204" pitchFamily="34" charset="0"/>
              </a:rPr>
              <a:t>(</a:t>
            </a:r>
            <a:r>
              <a:rPr lang="en-US" sz="1200" dirty="0">
                <a:latin typeface="Neue Haas Grotesk Text Pro" panose="020B0504020202020204" pitchFamily="34" charset="0"/>
                <a:hlinkClick r:id="rId4">
                  <a:extLst>
                    <a:ext uri="{A12FA001-AC4F-418D-AE19-62706E023703}">
                      <ahyp:hlinkClr xmlns:ahyp="http://schemas.microsoft.com/office/drawing/2018/hyperlinkcolor" val="tx"/>
                    </a:ext>
                  </a:extLst>
                </a:hlinkClick>
              </a:rPr>
              <a:t>Enberg et al. 2009</a:t>
            </a:r>
            <a:r>
              <a:rPr lang="en-US" sz="1200" dirty="0">
                <a:latin typeface="Neue Haas Grotesk Text Pro" panose="020B0504020202020204" pitchFamily="34" charset="0"/>
              </a:rPr>
              <a:t>).</a:t>
            </a:r>
          </a:p>
          <a:p>
            <a:pPr marL="214313" indent="-214313">
              <a:buFont typeface="Arial" panose="020B0604020202020204" pitchFamily="34" charset="0"/>
              <a:buChar char="•"/>
            </a:pPr>
            <a:endParaRPr lang="en-US" sz="1200" dirty="0">
              <a:latin typeface="Neue Haas Grotesk Text Pro" panose="020B0504020202020204" pitchFamily="34" charset="0"/>
            </a:endParaRPr>
          </a:p>
          <a:p>
            <a:pPr marL="600075" lvl="1" indent="-257175">
              <a:buFont typeface="+mj-lt"/>
              <a:buAutoNum type="arabicPeriod"/>
            </a:pPr>
            <a:r>
              <a:rPr lang="en-US" sz="1200" dirty="0">
                <a:latin typeface="Neue Haas Grotesk Text Pro" panose="020B0504020202020204" pitchFamily="34" charset="0"/>
              </a:rPr>
              <a:t>The CSM-ejecta model was first proposed in </a:t>
            </a:r>
            <a:r>
              <a:rPr lang="en-US" sz="1200" dirty="0" err="1">
                <a:latin typeface="Neue Haas Grotesk Text Pro" panose="020B0504020202020204" pitchFamily="34" charset="0"/>
              </a:rPr>
              <a:t>Murase</a:t>
            </a:r>
            <a:r>
              <a:rPr lang="en-US" sz="1200" dirty="0">
                <a:latin typeface="Neue Haas Grotesk Text Pro" panose="020B0504020202020204" pitchFamily="34" charset="0"/>
              </a:rPr>
              <a:t> et al. (2011) and predicted neutrino emission times between 0.1 day to 1-year post-core bounce. This model was recently extended: this HE neutrino flux can contribute to the flux of diffuse neutrinos found </a:t>
            </a:r>
            <a:r>
              <a:rPr lang="en-US" sz="1200" dirty="0">
                <a:latin typeface="Neue Haas Grotesk Text Pro" panose="020B0504020202020204" pitchFamily="34" charset="0"/>
                <a:hlinkClick r:id="rId5"/>
              </a:rPr>
              <a:t>by </a:t>
            </a:r>
            <a:r>
              <a:rPr lang="en-US" sz="1200" dirty="0" err="1">
                <a:latin typeface="Neue Haas Grotesk Text Pro" panose="020B0504020202020204" pitchFamily="34" charset="0"/>
                <a:hlinkClick r:id="rId5"/>
              </a:rPr>
              <a:t>IceCube</a:t>
            </a:r>
            <a:r>
              <a:rPr lang="en-US" sz="1200" dirty="0">
                <a:latin typeface="Neue Haas Grotesk Text Pro" panose="020B0504020202020204" pitchFamily="34" charset="0"/>
              </a:rPr>
              <a:t>. </a:t>
            </a:r>
          </a:p>
          <a:p>
            <a:pPr marL="600075" lvl="1" indent="-257175">
              <a:buFont typeface="+mj-lt"/>
              <a:buAutoNum type="arabicPeriod"/>
            </a:pPr>
            <a:endParaRPr lang="en-US" sz="1200" dirty="0">
              <a:latin typeface="Neue Haas Grotesk Text Pro" panose="020B0504020202020204" pitchFamily="34" charset="0"/>
            </a:endParaRPr>
          </a:p>
          <a:p>
            <a:pPr marL="600075" lvl="1" indent="-257175">
              <a:buFont typeface="+mj-lt"/>
              <a:buAutoNum type="arabicPeriod"/>
            </a:pPr>
            <a:r>
              <a:rPr lang="en-US" sz="1200" dirty="0">
                <a:latin typeface="Neue Haas Grotesk Text Pro" panose="020B0504020202020204" pitchFamily="34" charset="0"/>
              </a:rPr>
              <a:t>In the choked jet (CJ) scenario, the proposed progenitors are similar to gamma-ray bursts (GRBs), except the jets are slower and never break through the stellar envelope, leading to neutrinos without the counterpart gamma-ray emission.</a:t>
            </a:r>
          </a:p>
        </p:txBody>
      </p:sp>
      <p:sp>
        <p:nvSpPr>
          <p:cNvPr id="7" name="Titolo 1">
            <a:extLst>
              <a:ext uri="{FF2B5EF4-FFF2-40B4-BE49-F238E27FC236}">
                <a16:creationId xmlns:a16="http://schemas.microsoft.com/office/drawing/2014/main" id="{1C23F9BE-71C3-8230-2D11-F86038F93ABC}"/>
              </a:ext>
            </a:extLst>
          </p:cNvPr>
          <p:cNvSpPr txBox="1">
            <a:spLocks/>
          </p:cNvSpPr>
          <p:nvPr/>
        </p:nvSpPr>
        <p:spPr>
          <a:xfrm>
            <a:off x="0" y="1"/>
            <a:ext cx="7458075" cy="404261"/>
          </a:xfrm>
          <a:prstGeom prst="rect">
            <a:avLst/>
          </a:prstGeom>
          <a:solidFill>
            <a:schemeClr val="bg1">
              <a:lumMod val="85000"/>
            </a:schemeClr>
          </a:solidFill>
        </p:spPr>
        <p:txBody>
          <a:bodyPr vert="horz" lIns="68580" tIns="34290" rIns="68580" bIns="3429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anose="05000000000000000000" pitchFamily="2" charset="2"/>
              <a:buChar char="Ø"/>
            </a:pPr>
            <a:r>
              <a:rPr lang="it-IT" sz="2100" b="1">
                <a:solidFill>
                  <a:schemeClr val="accent1"/>
                </a:solidFill>
              </a:rPr>
              <a:t> High-energy neutrinos form SNe: the CSM ejecta model and CJ scenario</a:t>
            </a:r>
            <a:endParaRPr lang="it-IT" sz="2100" b="1" dirty="0">
              <a:solidFill>
                <a:schemeClr val="accent1"/>
              </a:solidFill>
            </a:endParaRPr>
          </a:p>
        </p:txBody>
      </p:sp>
    </p:spTree>
    <p:extLst>
      <p:ext uri="{BB962C8B-B14F-4D97-AF65-F5344CB8AC3E}">
        <p14:creationId xmlns:p14="http://schemas.microsoft.com/office/powerpoint/2010/main" val="757928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5E27C7C-4B68-4BBC-BF36-8959D8493E4A}"/>
              </a:ext>
            </a:extLst>
          </p:cNvPr>
          <p:cNvSpPr>
            <a:spLocks noGrp="1"/>
          </p:cNvSpPr>
          <p:nvPr>
            <p:ph type="title"/>
          </p:nvPr>
        </p:nvSpPr>
        <p:spPr/>
        <p:txBody>
          <a:bodyPr rtlCol="0">
            <a:normAutofit/>
          </a:bodyPr>
          <a:lstStyle/>
          <a:p>
            <a:pPr rtl="0"/>
            <a:r>
              <a:rPr lang="it-IT" sz="4050" dirty="0"/>
              <a:t>Plan for the </a:t>
            </a:r>
            <a:r>
              <a:rPr lang="it-IT" sz="4050" dirty="0" err="1"/>
              <a:t>analysis</a:t>
            </a:r>
            <a:endParaRPr lang="it-IT" sz="4050" dirty="0"/>
          </a:p>
        </p:txBody>
      </p:sp>
      <p:sp>
        <p:nvSpPr>
          <p:cNvPr id="5" name="Text Placeholder 4">
            <a:extLst>
              <a:ext uri="{FF2B5EF4-FFF2-40B4-BE49-F238E27FC236}">
                <a16:creationId xmlns:a16="http://schemas.microsoft.com/office/drawing/2014/main" id="{53126BB1-74F5-F883-6E93-A6271BDBD5C4}"/>
              </a:ext>
            </a:extLst>
          </p:cNvPr>
          <p:cNvSpPr>
            <a:spLocks noGrp="1"/>
          </p:cNvSpPr>
          <p:nvPr>
            <p:ph type="body" idx="1"/>
          </p:nvPr>
        </p:nvSpPr>
        <p:spPr>
          <a:xfrm>
            <a:off x="947999" y="1593735"/>
            <a:ext cx="2125980" cy="617934"/>
          </a:xfrm>
        </p:spPr>
        <p:txBody>
          <a:bodyPr>
            <a:normAutofit fontScale="85000" lnSpcReduction="20000"/>
          </a:bodyPr>
          <a:lstStyle/>
          <a:p>
            <a:r>
              <a:rPr lang="it-IT" dirty="0"/>
              <a:t>Analysis </a:t>
            </a:r>
            <a:r>
              <a:rPr lang="it-IT" dirty="0" err="1"/>
              <a:t>method</a:t>
            </a:r>
            <a:endParaRPr lang="it-IT" dirty="0"/>
          </a:p>
        </p:txBody>
      </p:sp>
      <p:pic>
        <p:nvPicPr>
          <p:cNvPr id="19" name="Content Placeholder 18" descr="A math equations with numbers&#10;&#10;Description automatically generated with medium confidence">
            <a:extLst>
              <a:ext uri="{FF2B5EF4-FFF2-40B4-BE49-F238E27FC236}">
                <a16:creationId xmlns:a16="http://schemas.microsoft.com/office/drawing/2014/main" id="{A8DBDB01-F8F9-E1E3-2DEE-12C344A3AC9A}"/>
              </a:ext>
            </a:extLst>
          </p:cNvPr>
          <p:cNvPicPr>
            <a:picLocks noGrp="1" noChangeAspect="1"/>
          </p:cNvPicPr>
          <p:nvPr>
            <p:ph sz="half" idx="2"/>
          </p:nvPr>
        </p:nvPicPr>
        <p:blipFill>
          <a:blip r:embed="rId3"/>
          <a:stretch>
            <a:fillRect/>
          </a:stretch>
        </p:blipFill>
        <p:spPr>
          <a:xfrm>
            <a:off x="629842" y="2859584"/>
            <a:ext cx="2695418" cy="6924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 Placeholder 5">
            <a:extLst>
              <a:ext uri="{FF2B5EF4-FFF2-40B4-BE49-F238E27FC236}">
                <a16:creationId xmlns:a16="http://schemas.microsoft.com/office/drawing/2014/main" id="{716F9B36-F587-D5CF-0753-2846203A84C2}"/>
              </a:ext>
            </a:extLst>
          </p:cNvPr>
          <p:cNvSpPr>
            <a:spLocks noGrp="1"/>
          </p:cNvSpPr>
          <p:nvPr>
            <p:ph type="body" sz="quarter" idx="3"/>
          </p:nvPr>
        </p:nvSpPr>
        <p:spPr>
          <a:xfrm>
            <a:off x="3731114" y="1771646"/>
            <a:ext cx="2125980" cy="617934"/>
          </a:xfrm>
        </p:spPr>
        <p:txBody>
          <a:bodyPr>
            <a:normAutofit fontScale="85000" lnSpcReduction="20000"/>
          </a:bodyPr>
          <a:lstStyle/>
          <a:p>
            <a:r>
              <a:rPr lang="it-IT" dirty="0" err="1"/>
              <a:t>Candidates</a:t>
            </a:r>
            <a:r>
              <a:rPr lang="it-IT" dirty="0"/>
              <a:t> for HE </a:t>
            </a:r>
            <a:r>
              <a:rPr lang="it-IT" dirty="0" err="1"/>
              <a:t>neutrinos</a:t>
            </a:r>
            <a:endParaRPr lang="it-IT" dirty="0"/>
          </a:p>
        </p:txBody>
      </p:sp>
      <p:pic>
        <p:nvPicPr>
          <p:cNvPr id="21" name="Content Placeholder 20" descr="A black and white text&#10;&#10;Description automatically generated with medium confidence">
            <a:extLst>
              <a:ext uri="{FF2B5EF4-FFF2-40B4-BE49-F238E27FC236}">
                <a16:creationId xmlns:a16="http://schemas.microsoft.com/office/drawing/2014/main" id="{17E88439-6CFC-1E9B-E2BF-176834A272DC}"/>
              </a:ext>
            </a:extLst>
          </p:cNvPr>
          <p:cNvPicPr>
            <a:picLocks noGrp="1" noChangeAspect="1"/>
          </p:cNvPicPr>
          <p:nvPr>
            <p:ph sz="quarter" idx="4"/>
          </p:nvPr>
        </p:nvPicPr>
        <p:blipFill>
          <a:blip r:embed="rId4"/>
          <a:stretch>
            <a:fillRect/>
          </a:stretch>
        </p:blipFill>
        <p:spPr>
          <a:xfrm>
            <a:off x="1082172" y="4017092"/>
            <a:ext cx="1857635" cy="4501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Text Placeholder 9">
            <a:extLst>
              <a:ext uri="{FF2B5EF4-FFF2-40B4-BE49-F238E27FC236}">
                <a16:creationId xmlns:a16="http://schemas.microsoft.com/office/drawing/2014/main" id="{DBC9CBFA-6D29-96E2-4717-579905D41018}"/>
              </a:ext>
            </a:extLst>
          </p:cNvPr>
          <p:cNvSpPr>
            <a:spLocks noGrp="1"/>
          </p:cNvSpPr>
          <p:nvPr>
            <p:ph type="body" sz="quarter" idx="13"/>
          </p:nvPr>
        </p:nvSpPr>
        <p:spPr>
          <a:xfrm>
            <a:off x="6262949" y="1659815"/>
            <a:ext cx="2125980" cy="617934"/>
          </a:xfrm>
        </p:spPr>
        <p:txBody>
          <a:bodyPr/>
          <a:lstStyle/>
          <a:p>
            <a:r>
              <a:rPr lang="it-IT" dirty="0" err="1"/>
              <a:t>Catalogue</a:t>
            </a:r>
            <a:endParaRPr lang="it-IT" dirty="0"/>
          </a:p>
        </p:txBody>
      </p:sp>
      <p:sp>
        <p:nvSpPr>
          <p:cNvPr id="11" name="Content Placeholder 10">
            <a:extLst>
              <a:ext uri="{FF2B5EF4-FFF2-40B4-BE49-F238E27FC236}">
                <a16:creationId xmlns:a16="http://schemas.microsoft.com/office/drawing/2014/main" id="{435AE245-8A1E-F320-E772-D2480FC07701}"/>
              </a:ext>
            </a:extLst>
          </p:cNvPr>
          <p:cNvSpPr>
            <a:spLocks noGrp="1"/>
          </p:cNvSpPr>
          <p:nvPr>
            <p:ph sz="quarter" idx="14"/>
          </p:nvPr>
        </p:nvSpPr>
        <p:spPr>
          <a:xfrm>
            <a:off x="6262949" y="2277749"/>
            <a:ext cx="2125980" cy="2763441"/>
          </a:xfrm>
        </p:spPr>
        <p:txBody>
          <a:bodyPr/>
          <a:lstStyle/>
          <a:p>
            <a:pPr algn="ctr"/>
            <a:r>
              <a:rPr lang="it-IT" dirty="0" err="1"/>
              <a:t>Useful</a:t>
            </a:r>
            <a:r>
              <a:rPr lang="it-IT" dirty="0"/>
              <a:t> </a:t>
            </a:r>
            <a:r>
              <a:rPr lang="it-IT" dirty="0" err="1"/>
              <a:t>reference</a:t>
            </a:r>
            <a:r>
              <a:rPr lang="it-IT" dirty="0"/>
              <a:t> to free sources </a:t>
            </a:r>
            <a:r>
              <a:rPr lang="it-IT" dirty="0" err="1"/>
              <a:t>catalog</a:t>
            </a:r>
            <a:endParaRPr lang="it-IT" dirty="0"/>
          </a:p>
        </p:txBody>
      </p:sp>
      <p:sp>
        <p:nvSpPr>
          <p:cNvPr id="9" name="Segnaposto numero diapositiva 5">
            <a:extLst>
              <a:ext uri="{FF2B5EF4-FFF2-40B4-BE49-F238E27FC236}">
                <a16:creationId xmlns:a16="http://schemas.microsoft.com/office/drawing/2014/main" id="{4FC290B8-BF94-4636-BFAB-9FD67F4AAC6D}"/>
              </a:ext>
            </a:extLst>
          </p:cNvPr>
          <p:cNvSpPr>
            <a:spLocks noGrp="1"/>
          </p:cNvSpPr>
          <p:nvPr>
            <p:ph type="sldNum" sz="quarter" idx="4294967295"/>
          </p:nvPr>
        </p:nvSpPr>
        <p:spPr>
          <a:xfrm>
            <a:off x="7086600" y="4767263"/>
            <a:ext cx="2057400" cy="273844"/>
          </a:xfrm>
        </p:spPr>
        <p:txBody>
          <a:bodyPr rtlCol="0">
            <a:normAutofit fontScale="70000" lnSpcReduction="20000"/>
          </a:bodyPr>
          <a:lstStyle/>
          <a:p>
            <a:pPr rtl="0"/>
            <a:fld id="{D8DA9DAA-006C-4F4B-980E-E3DF019B24E2}" type="slidenum">
              <a:rPr lang="it-IT" b="1" cap="all" spc="75">
                <a:solidFill>
                  <a:schemeClr val="accent2"/>
                </a:solidFill>
              </a:rPr>
              <a:t>5</a:t>
            </a:fld>
            <a:endParaRPr lang="it-IT" b="1" cap="all" spc="75" dirty="0">
              <a:solidFill>
                <a:schemeClr val="accent2"/>
              </a:solidFill>
            </a:endParaRPr>
          </a:p>
        </p:txBody>
      </p:sp>
      <p:sp>
        <p:nvSpPr>
          <p:cNvPr id="12" name="TextBox 11">
            <a:extLst>
              <a:ext uri="{FF2B5EF4-FFF2-40B4-BE49-F238E27FC236}">
                <a16:creationId xmlns:a16="http://schemas.microsoft.com/office/drawing/2014/main" id="{3CBA2E17-86B8-CA8F-6E33-D6E1088FFCE9}"/>
              </a:ext>
            </a:extLst>
          </p:cNvPr>
          <p:cNvSpPr txBox="1"/>
          <p:nvPr/>
        </p:nvSpPr>
        <p:spPr>
          <a:xfrm>
            <a:off x="952866" y="1009947"/>
            <a:ext cx="7700768" cy="623248"/>
          </a:xfrm>
          <a:prstGeom prst="rect">
            <a:avLst/>
          </a:prstGeom>
          <a:noFill/>
        </p:spPr>
        <p:txBody>
          <a:bodyPr wrap="square" rtlCol="0">
            <a:spAutoFit/>
          </a:bodyPr>
          <a:lstStyle/>
          <a:p>
            <a:pPr algn="ctr"/>
            <a:r>
              <a:rPr lang="en-US" sz="1050" dirty="0"/>
              <a:t>We chose to follow the analysis performed on </a:t>
            </a:r>
            <a:r>
              <a:rPr lang="en-US" sz="1050" dirty="0" err="1"/>
              <a:t>IceCube</a:t>
            </a:r>
            <a:r>
              <a:rPr lang="en-US" sz="1050" dirty="0"/>
              <a:t> data</a:t>
            </a:r>
          </a:p>
          <a:p>
            <a:pPr algn="ctr"/>
            <a:r>
              <a:rPr lang="en-US" sz="1350" dirty="0"/>
              <a:t>(</a:t>
            </a:r>
            <a:r>
              <a:rPr lang="en-US" sz="1350" dirty="0">
                <a:hlinkClick r:id="rId5"/>
              </a:rPr>
              <a:t>Constraining High-Energy Neutrino Emission from Supernovae with </a:t>
            </a:r>
            <a:r>
              <a:rPr lang="en-US" sz="1350" dirty="0" err="1">
                <a:hlinkClick r:id="rId5"/>
              </a:rPr>
              <a:t>IceCube</a:t>
            </a:r>
            <a:r>
              <a:rPr lang="en-US" sz="1350" dirty="0"/>
              <a:t>)</a:t>
            </a:r>
          </a:p>
          <a:p>
            <a:endParaRPr lang="it-IT" sz="1050" dirty="0"/>
          </a:p>
        </p:txBody>
      </p:sp>
      <p:sp>
        <p:nvSpPr>
          <p:cNvPr id="22" name="TextBox 21">
            <a:extLst>
              <a:ext uri="{FF2B5EF4-FFF2-40B4-BE49-F238E27FC236}">
                <a16:creationId xmlns:a16="http://schemas.microsoft.com/office/drawing/2014/main" id="{EC88F5AA-9A5A-B0A8-3B1A-76E5DC79FE7E}"/>
              </a:ext>
            </a:extLst>
          </p:cNvPr>
          <p:cNvSpPr txBox="1"/>
          <p:nvPr/>
        </p:nvSpPr>
        <p:spPr>
          <a:xfrm>
            <a:off x="727356" y="2220450"/>
            <a:ext cx="2468488" cy="415498"/>
          </a:xfrm>
          <a:prstGeom prst="rect">
            <a:avLst/>
          </a:prstGeom>
          <a:noFill/>
        </p:spPr>
        <p:txBody>
          <a:bodyPr wrap="square" rtlCol="0">
            <a:spAutoFit/>
          </a:bodyPr>
          <a:lstStyle/>
          <a:p>
            <a:pPr algn="ctr"/>
            <a:r>
              <a:rPr lang="en-US" sz="1050" dirty="0"/>
              <a:t>Time dependent point source likelihood method:</a:t>
            </a:r>
            <a:endParaRPr lang="it-IT" sz="1050" dirty="0"/>
          </a:p>
        </p:txBody>
      </p:sp>
      <p:sp>
        <p:nvSpPr>
          <p:cNvPr id="24" name="TextBox 23">
            <a:extLst>
              <a:ext uri="{FF2B5EF4-FFF2-40B4-BE49-F238E27FC236}">
                <a16:creationId xmlns:a16="http://schemas.microsoft.com/office/drawing/2014/main" id="{0DFC23B9-4145-1F38-2E07-65D981BC969B}"/>
              </a:ext>
            </a:extLst>
          </p:cNvPr>
          <p:cNvSpPr txBox="1"/>
          <p:nvPr/>
        </p:nvSpPr>
        <p:spPr>
          <a:xfrm>
            <a:off x="914739" y="3624377"/>
            <a:ext cx="1773242" cy="253916"/>
          </a:xfrm>
          <a:prstGeom prst="rect">
            <a:avLst/>
          </a:prstGeom>
          <a:noFill/>
        </p:spPr>
        <p:txBody>
          <a:bodyPr wrap="none" rtlCol="0">
            <a:spAutoFit/>
          </a:bodyPr>
          <a:lstStyle/>
          <a:p>
            <a:r>
              <a:rPr lang="it-IT" sz="1050" dirty="0" err="1"/>
              <a:t>Signal</a:t>
            </a:r>
            <a:r>
              <a:rPr lang="it-IT" sz="1050" dirty="0"/>
              <a:t> PDF (</a:t>
            </a:r>
            <a:r>
              <a:rPr lang="it-IT" sz="1050" dirty="0" err="1"/>
              <a:t>same</a:t>
            </a:r>
            <a:r>
              <a:rPr lang="it-IT" sz="1050" dirty="0"/>
              <a:t> for </a:t>
            </a:r>
            <a:r>
              <a:rPr lang="it-IT" sz="1050" dirty="0" err="1"/>
              <a:t>bkg</a:t>
            </a:r>
            <a:r>
              <a:rPr lang="it-IT" sz="1050" dirty="0"/>
              <a:t>)</a:t>
            </a:r>
          </a:p>
        </p:txBody>
      </p:sp>
      <p:cxnSp>
        <p:nvCxnSpPr>
          <p:cNvPr id="27" name="Straight Arrow Connector 26">
            <a:extLst>
              <a:ext uri="{FF2B5EF4-FFF2-40B4-BE49-F238E27FC236}">
                <a16:creationId xmlns:a16="http://schemas.microsoft.com/office/drawing/2014/main" id="{A53B74DE-6EB2-F87B-CBD7-C7FD528C6ECA}"/>
              </a:ext>
            </a:extLst>
          </p:cNvPr>
          <p:cNvCxnSpPr>
            <a:cxnSpLocks/>
          </p:cNvCxnSpPr>
          <p:nvPr/>
        </p:nvCxnSpPr>
        <p:spPr>
          <a:xfrm flipH="1">
            <a:off x="1291709" y="4296766"/>
            <a:ext cx="338606" cy="4360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1544F66-9BA4-264F-169F-56033526A0E1}"/>
              </a:ext>
            </a:extLst>
          </p:cNvPr>
          <p:cNvCxnSpPr>
            <a:cxnSpLocks/>
          </p:cNvCxnSpPr>
          <p:nvPr/>
        </p:nvCxnSpPr>
        <p:spPr>
          <a:xfrm flipH="1">
            <a:off x="2046779" y="4333501"/>
            <a:ext cx="89865" cy="3992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613C93E-C2FB-EA48-8216-BC5A41D17464}"/>
              </a:ext>
            </a:extLst>
          </p:cNvPr>
          <p:cNvCxnSpPr>
            <a:cxnSpLocks/>
          </p:cNvCxnSpPr>
          <p:nvPr/>
        </p:nvCxnSpPr>
        <p:spPr>
          <a:xfrm>
            <a:off x="2700792" y="4342865"/>
            <a:ext cx="239015" cy="3647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E615E09-3A37-CA0D-E724-11602D716694}"/>
              </a:ext>
            </a:extLst>
          </p:cNvPr>
          <p:cNvSpPr txBox="1"/>
          <p:nvPr/>
        </p:nvSpPr>
        <p:spPr>
          <a:xfrm>
            <a:off x="3626723" y="2488303"/>
            <a:ext cx="1949311" cy="1038746"/>
          </a:xfrm>
          <a:prstGeom prst="rect">
            <a:avLst/>
          </a:prstGeom>
          <a:noFill/>
        </p:spPr>
        <p:txBody>
          <a:bodyPr wrap="square" rtlCol="0">
            <a:spAutoFit/>
          </a:bodyPr>
          <a:lstStyle/>
          <a:p>
            <a:pPr marL="214313" indent="-214313">
              <a:buFont typeface="Arial" panose="020B0604020202020204" pitchFamily="34" charset="0"/>
              <a:buChar char="•"/>
            </a:pPr>
            <a:r>
              <a:rPr lang="it-IT" sz="1050" dirty="0" err="1"/>
              <a:t>Type</a:t>
            </a:r>
            <a:r>
              <a:rPr lang="it-IT" sz="1050" dirty="0"/>
              <a:t> </a:t>
            </a:r>
            <a:r>
              <a:rPr lang="it-IT" sz="1050" dirty="0" err="1"/>
              <a:t>IIn</a:t>
            </a:r>
            <a:r>
              <a:rPr lang="it-IT" sz="1050" dirty="0"/>
              <a:t> and II-P </a:t>
            </a:r>
            <a:r>
              <a:rPr lang="it-IT" sz="1050" dirty="0" err="1"/>
              <a:t>SNs</a:t>
            </a:r>
            <a:r>
              <a:rPr lang="it-IT" sz="1050" dirty="0"/>
              <a:t> for CSM interaction + </a:t>
            </a:r>
            <a:r>
              <a:rPr lang="it-IT" sz="1050" dirty="0" err="1"/>
              <a:t>Type</a:t>
            </a:r>
            <a:r>
              <a:rPr lang="it-IT" sz="1050" dirty="0"/>
              <a:t> </a:t>
            </a:r>
            <a:r>
              <a:rPr lang="it-IT" sz="1050" dirty="0" err="1"/>
              <a:t>Ib</a:t>
            </a:r>
            <a:r>
              <a:rPr lang="it-IT" sz="1050" dirty="0"/>
              <a:t>/c and II b for </a:t>
            </a:r>
            <a:r>
              <a:rPr lang="it-IT" sz="1050" dirty="0" err="1"/>
              <a:t>CJs</a:t>
            </a:r>
            <a:endParaRPr lang="it-IT" sz="1050" dirty="0"/>
          </a:p>
          <a:p>
            <a:pPr algn="ctr"/>
            <a:endParaRPr lang="it-IT" sz="1500" u="sng" dirty="0"/>
          </a:p>
          <a:p>
            <a:pPr algn="ctr"/>
            <a:r>
              <a:rPr lang="it-IT" sz="1500" u="sng" dirty="0"/>
              <a:t>Same </a:t>
            </a:r>
            <a:r>
              <a:rPr lang="it-IT" sz="1500" u="sng" dirty="0" err="1"/>
              <a:t>as</a:t>
            </a:r>
            <a:r>
              <a:rPr lang="it-IT" sz="1500" u="sng" dirty="0"/>
              <a:t> </a:t>
            </a:r>
            <a:r>
              <a:rPr lang="it-IT" sz="1500" u="sng" dirty="0" err="1"/>
              <a:t>ours</a:t>
            </a:r>
            <a:r>
              <a:rPr lang="it-IT" sz="1500" u="sng" dirty="0"/>
              <a:t>!</a:t>
            </a:r>
          </a:p>
        </p:txBody>
      </p:sp>
      <p:pic>
        <p:nvPicPr>
          <p:cNvPr id="37" name="Picture 36" descr="A blue rectangle with white text&#10;&#10;Description automatically generated">
            <a:extLst>
              <a:ext uri="{FF2B5EF4-FFF2-40B4-BE49-F238E27FC236}">
                <a16:creationId xmlns:a16="http://schemas.microsoft.com/office/drawing/2014/main" id="{1F316ADD-63A3-342F-9329-FF12B2BE09C7}"/>
              </a:ext>
            </a:extLst>
          </p:cNvPr>
          <p:cNvPicPr>
            <a:picLocks noChangeAspect="1"/>
          </p:cNvPicPr>
          <p:nvPr/>
        </p:nvPicPr>
        <p:blipFill>
          <a:blip r:embed="rId6"/>
          <a:stretch>
            <a:fillRect/>
          </a:stretch>
        </p:blipFill>
        <p:spPr>
          <a:xfrm>
            <a:off x="5857094" y="3193414"/>
            <a:ext cx="3099410" cy="410548"/>
          </a:xfrm>
          <a:prstGeom prst="rect">
            <a:avLst/>
          </a:prstGeom>
        </p:spPr>
      </p:pic>
      <p:pic>
        <p:nvPicPr>
          <p:cNvPr id="41" name="Picture 40">
            <a:extLst>
              <a:ext uri="{FF2B5EF4-FFF2-40B4-BE49-F238E27FC236}">
                <a16:creationId xmlns:a16="http://schemas.microsoft.com/office/drawing/2014/main" id="{7B0B64ED-D882-C229-A5E6-6F3F4C38959B}"/>
              </a:ext>
            </a:extLst>
          </p:cNvPr>
          <p:cNvPicPr>
            <a:picLocks noChangeAspect="1"/>
          </p:cNvPicPr>
          <p:nvPr/>
        </p:nvPicPr>
        <p:blipFill>
          <a:blip r:embed="rId7"/>
          <a:stretch>
            <a:fillRect/>
          </a:stretch>
        </p:blipFill>
        <p:spPr>
          <a:xfrm>
            <a:off x="5857094" y="3835437"/>
            <a:ext cx="3099410" cy="461329"/>
          </a:xfrm>
          <a:prstGeom prst="rect">
            <a:avLst/>
          </a:prstGeom>
        </p:spPr>
      </p:pic>
      <p:sp>
        <p:nvSpPr>
          <p:cNvPr id="42" name="TextBox 41">
            <a:extLst>
              <a:ext uri="{FF2B5EF4-FFF2-40B4-BE49-F238E27FC236}">
                <a16:creationId xmlns:a16="http://schemas.microsoft.com/office/drawing/2014/main" id="{659476A8-5DF6-12BE-2081-46004D5A42A8}"/>
              </a:ext>
            </a:extLst>
          </p:cNvPr>
          <p:cNvSpPr txBox="1"/>
          <p:nvPr/>
        </p:nvSpPr>
        <p:spPr>
          <a:xfrm>
            <a:off x="2622395" y="4731059"/>
            <a:ext cx="875244" cy="369332"/>
          </a:xfrm>
          <a:prstGeom prst="rect">
            <a:avLst/>
          </a:prstGeom>
          <a:noFill/>
        </p:spPr>
        <p:txBody>
          <a:bodyPr wrap="square" rtlCol="0">
            <a:spAutoFit/>
          </a:bodyPr>
          <a:lstStyle/>
          <a:p>
            <a:r>
              <a:rPr lang="it-IT" sz="900" dirty="0"/>
              <a:t>Time </a:t>
            </a:r>
            <a:r>
              <a:rPr lang="it-IT" sz="900" dirty="0" err="1"/>
              <a:t>term</a:t>
            </a:r>
            <a:r>
              <a:rPr lang="it-IT" sz="900" dirty="0"/>
              <a:t> (Light Curve)</a:t>
            </a:r>
          </a:p>
        </p:txBody>
      </p:sp>
      <p:sp>
        <p:nvSpPr>
          <p:cNvPr id="43" name="TextBox 42">
            <a:extLst>
              <a:ext uri="{FF2B5EF4-FFF2-40B4-BE49-F238E27FC236}">
                <a16:creationId xmlns:a16="http://schemas.microsoft.com/office/drawing/2014/main" id="{5D7080DD-641C-6427-3515-4BDD8A47BE47}"/>
              </a:ext>
            </a:extLst>
          </p:cNvPr>
          <p:cNvSpPr txBox="1"/>
          <p:nvPr/>
        </p:nvSpPr>
        <p:spPr>
          <a:xfrm>
            <a:off x="679578" y="4694858"/>
            <a:ext cx="875244" cy="369332"/>
          </a:xfrm>
          <a:prstGeom prst="rect">
            <a:avLst/>
          </a:prstGeom>
          <a:noFill/>
        </p:spPr>
        <p:txBody>
          <a:bodyPr wrap="square" rtlCol="0">
            <a:spAutoFit/>
          </a:bodyPr>
          <a:lstStyle/>
          <a:p>
            <a:r>
              <a:rPr lang="it-IT" sz="900" dirty="0" err="1"/>
              <a:t>Spatial</a:t>
            </a:r>
            <a:r>
              <a:rPr lang="it-IT" sz="900" dirty="0"/>
              <a:t> </a:t>
            </a:r>
            <a:r>
              <a:rPr lang="it-IT" sz="900" dirty="0" err="1"/>
              <a:t>term</a:t>
            </a:r>
            <a:r>
              <a:rPr lang="it-IT" sz="900" dirty="0"/>
              <a:t> </a:t>
            </a:r>
          </a:p>
          <a:p>
            <a:r>
              <a:rPr lang="it-IT" sz="900" dirty="0"/>
              <a:t>(2D Gauss)</a:t>
            </a:r>
          </a:p>
        </p:txBody>
      </p:sp>
      <p:sp>
        <p:nvSpPr>
          <p:cNvPr id="44" name="TextBox 43">
            <a:extLst>
              <a:ext uri="{FF2B5EF4-FFF2-40B4-BE49-F238E27FC236}">
                <a16:creationId xmlns:a16="http://schemas.microsoft.com/office/drawing/2014/main" id="{FAD2FE15-D6C7-2776-A38C-1B799146A59C}"/>
              </a:ext>
            </a:extLst>
          </p:cNvPr>
          <p:cNvSpPr txBox="1"/>
          <p:nvPr/>
        </p:nvSpPr>
        <p:spPr>
          <a:xfrm>
            <a:off x="1522520" y="4749115"/>
            <a:ext cx="1202948" cy="369332"/>
          </a:xfrm>
          <a:prstGeom prst="rect">
            <a:avLst/>
          </a:prstGeom>
          <a:noFill/>
        </p:spPr>
        <p:txBody>
          <a:bodyPr wrap="square" rtlCol="0">
            <a:spAutoFit/>
          </a:bodyPr>
          <a:lstStyle/>
          <a:p>
            <a:r>
              <a:rPr lang="it-IT" sz="900" dirty="0"/>
              <a:t>Neutrino energy </a:t>
            </a:r>
            <a:r>
              <a:rPr lang="it-IT" sz="900" dirty="0" err="1"/>
              <a:t>spectrum</a:t>
            </a:r>
            <a:endParaRPr lang="it-IT" sz="900" dirty="0"/>
          </a:p>
        </p:txBody>
      </p:sp>
    </p:spTree>
    <p:extLst>
      <p:ext uri="{BB962C8B-B14F-4D97-AF65-F5344CB8AC3E}">
        <p14:creationId xmlns:p14="http://schemas.microsoft.com/office/powerpoint/2010/main" val="783914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349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Step 1: Model of the Light Curve</a:t>
            </a:r>
            <a:endParaRPr b="1"/>
          </a:p>
        </p:txBody>
      </p:sp>
      <p:sp>
        <p:nvSpPr>
          <p:cNvPr id="62" name="Google Shape;62;p14"/>
          <p:cNvSpPr txBox="1">
            <a:spLocks noGrp="1"/>
          </p:cNvSpPr>
          <p:nvPr>
            <p:ph type="body" idx="1"/>
          </p:nvPr>
        </p:nvSpPr>
        <p:spPr>
          <a:xfrm>
            <a:off x="311700" y="863550"/>
            <a:ext cx="46041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chemeClr val="dk1"/>
                </a:solidFill>
                <a:highlight>
                  <a:schemeClr val="lt1"/>
                </a:highlight>
              </a:rPr>
              <a:t>We used the neutrino flux by Murase simulation:</a:t>
            </a:r>
            <a:endParaRPr>
              <a:solidFill>
                <a:schemeClr val="dk1"/>
              </a:solidFill>
              <a:highlight>
                <a:schemeClr val="lt1"/>
              </a:highlight>
            </a:endParaRPr>
          </a:p>
          <a:p>
            <a:pPr marL="0" lvl="0" indent="0" algn="l" rtl="0">
              <a:spcBef>
                <a:spcPts val="1200"/>
              </a:spcBef>
              <a:spcAft>
                <a:spcPts val="0"/>
              </a:spcAft>
              <a:buNone/>
            </a:pPr>
            <a:r>
              <a:rPr lang="en-GB">
                <a:solidFill>
                  <a:schemeClr val="dk1"/>
                </a:solidFill>
                <a:highlight>
                  <a:schemeClr val="lt1"/>
                </a:highlight>
              </a:rPr>
              <a:t>(</a:t>
            </a:r>
            <a:r>
              <a:rPr lang="en-GB" u="sng">
                <a:solidFill>
                  <a:schemeClr val="accent1"/>
                </a:solidFill>
                <a:highlight>
                  <a:schemeClr val="lt1"/>
                </a:highlight>
                <a:hlinkClick r:id="rId3">
                  <a:extLst>
                    <a:ext uri="{A12FA001-AC4F-418D-AE19-62706E023703}">
                      <ahyp:hlinkClr xmlns:ahyp="http://schemas.microsoft.com/office/drawing/2018/hyperlinkcolor" val="tx"/>
                    </a:ext>
                  </a:extLst>
                </a:hlinkClick>
              </a:rPr>
              <a:t>https://github.com/pegasuskmurase/ModelTemplates/tree/main/SNHEMM</a:t>
            </a:r>
            <a:r>
              <a:rPr lang="en-GB">
                <a:solidFill>
                  <a:schemeClr val="dk1"/>
                </a:solidFill>
                <a:highlight>
                  <a:schemeClr val="lt1"/>
                </a:highlight>
              </a:rPr>
              <a:t>)</a:t>
            </a:r>
            <a:endParaRPr>
              <a:solidFill>
                <a:schemeClr val="dk1"/>
              </a:solidFill>
              <a:highlight>
                <a:schemeClr val="lt1"/>
              </a:highlight>
            </a:endParaRPr>
          </a:p>
          <a:p>
            <a:pPr marL="0" lvl="0" indent="0" algn="l" rtl="0">
              <a:spcBef>
                <a:spcPts val="1200"/>
              </a:spcBef>
              <a:spcAft>
                <a:spcPts val="0"/>
              </a:spcAft>
              <a:buNone/>
            </a:pPr>
            <a:r>
              <a:rPr lang="en-GB">
                <a:solidFill>
                  <a:schemeClr val="dk1"/>
                </a:solidFill>
                <a:highlight>
                  <a:schemeClr val="lt1"/>
                </a:highlight>
              </a:rPr>
              <a:t>Firstly, we managed to reproduce the Light Curve (fig 1 from the </a:t>
            </a:r>
            <a:r>
              <a:rPr lang="en-GB" u="sng">
                <a:solidFill>
                  <a:schemeClr val="accent1"/>
                </a:solidFill>
                <a:highlight>
                  <a:schemeClr val="lt1"/>
                </a:highlight>
                <a:hlinkClick r:id="rId4">
                  <a:extLst>
                    <a:ext uri="{A12FA001-AC4F-418D-AE19-62706E023703}">
                      <ahyp:hlinkClr xmlns:ahyp="http://schemas.microsoft.com/office/drawing/2018/hyperlinkcolor" val="tx"/>
                    </a:ext>
                  </a:extLst>
                </a:hlinkClick>
              </a:rPr>
              <a:t>paper</a:t>
            </a:r>
            <a:r>
              <a:rPr lang="en-GB">
                <a:solidFill>
                  <a:schemeClr val="dk1"/>
                </a:solidFill>
                <a:highlight>
                  <a:schemeClr val="lt1"/>
                </a:highlight>
              </a:rPr>
              <a:t>) for IIn and II-P type SN.</a:t>
            </a:r>
            <a:endParaRPr>
              <a:solidFill>
                <a:schemeClr val="dk1"/>
              </a:solidFill>
              <a:highlight>
                <a:schemeClr val="lt1"/>
              </a:highlight>
            </a:endParaRPr>
          </a:p>
          <a:p>
            <a:pPr marL="0" lvl="0" indent="0" algn="l" rtl="0">
              <a:spcBef>
                <a:spcPts val="1200"/>
              </a:spcBef>
              <a:spcAft>
                <a:spcPts val="1200"/>
              </a:spcAft>
              <a:buNone/>
            </a:pPr>
            <a:endParaRPr/>
          </a:p>
        </p:txBody>
      </p:sp>
      <p:pic>
        <p:nvPicPr>
          <p:cNvPr id="63" name="Google Shape;63;p14"/>
          <p:cNvPicPr preferRelativeResize="0"/>
          <p:nvPr/>
        </p:nvPicPr>
        <p:blipFill>
          <a:blip r:embed="rId5">
            <a:alphaModFix/>
          </a:blip>
          <a:stretch>
            <a:fillRect/>
          </a:stretch>
        </p:blipFill>
        <p:spPr>
          <a:xfrm>
            <a:off x="5144421" y="987146"/>
            <a:ext cx="3902001" cy="3169225"/>
          </a:xfrm>
          <a:prstGeom prst="rect">
            <a:avLst/>
          </a:prstGeom>
          <a:noFill/>
          <a:ln>
            <a:noFill/>
          </a:ln>
        </p:spPr>
      </p:pic>
      <p:sp>
        <p:nvSpPr>
          <p:cNvPr id="64" name="Google Shape;64;p14"/>
          <p:cNvSpPr txBox="1"/>
          <p:nvPr/>
        </p:nvSpPr>
        <p:spPr>
          <a:xfrm>
            <a:off x="5645650" y="582250"/>
            <a:ext cx="3516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
        <p:nvSpPr>
          <p:cNvPr id="65" name="Google Shape;65;p14"/>
          <p:cNvSpPr txBox="1"/>
          <p:nvPr/>
        </p:nvSpPr>
        <p:spPr>
          <a:xfrm>
            <a:off x="5640825" y="4156375"/>
            <a:ext cx="3710400" cy="97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2"/>
                </a:solidFill>
              </a:rPr>
              <a:t>Light curves for various type </a:t>
            </a:r>
            <a:endParaRPr sz="1800">
              <a:solidFill>
                <a:schemeClr val="dk2"/>
              </a:solidFill>
            </a:endParaRPr>
          </a:p>
          <a:p>
            <a:pPr marL="0" lvl="0" indent="457200" algn="l" rtl="0">
              <a:spcBef>
                <a:spcPts val="0"/>
              </a:spcBef>
              <a:spcAft>
                <a:spcPts val="0"/>
              </a:spcAft>
              <a:buNone/>
            </a:pPr>
            <a:r>
              <a:rPr lang="en-GB" sz="1800">
                <a:solidFill>
                  <a:schemeClr val="dk2"/>
                </a:solidFill>
              </a:rPr>
              <a:t>of SN at Ev = 1TeV</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311700" y="349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Step 2: Model of the Fluence</a:t>
            </a:r>
            <a:endParaRPr b="1"/>
          </a:p>
        </p:txBody>
      </p:sp>
      <p:pic>
        <p:nvPicPr>
          <p:cNvPr id="71" name="Google Shape;71;p15"/>
          <p:cNvPicPr preferRelativeResize="0"/>
          <p:nvPr/>
        </p:nvPicPr>
        <p:blipFill rotWithShape="1">
          <a:blip r:embed="rId3">
            <a:alphaModFix/>
          </a:blip>
          <a:srcRect/>
          <a:stretch/>
        </p:blipFill>
        <p:spPr>
          <a:xfrm>
            <a:off x="4567925" y="1951313"/>
            <a:ext cx="4416774" cy="2885526"/>
          </a:xfrm>
          <a:prstGeom prst="rect">
            <a:avLst/>
          </a:prstGeom>
          <a:noFill/>
          <a:ln>
            <a:noFill/>
          </a:ln>
        </p:spPr>
      </p:pic>
      <p:pic>
        <p:nvPicPr>
          <p:cNvPr id="72" name="Google Shape;72;p15"/>
          <p:cNvPicPr preferRelativeResize="0"/>
          <p:nvPr/>
        </p:nvPicPr>
        <p:blipFill>
          <a:blip r:embed="rId4">
            <a:alphaModFix/>
          </a:blip>
          <a:stretch>
            <a:fillRect/>
          </a:stretch>
        </p:blipFill>
        <p:spPr>
          <a:xfrm>
            <a:off x="81250" y="1949775"/>
            <a:ext cx="4416775" cy="2876150"/>
          </a:xfrm>
          <a:prstGeom prst="rect">
            <a:avLst/>
          </a:prstGeom>
          <a:noFill/>
          <a:ln>
            <a:noFill/>
          </a:ln>
        </p:spPr>
      </p:pic>
      <p:sp>
        <p:nvSpPr>
          <p:cNvPr id="73" name="Google Shape;73;p15"/>
          <p:cNvSpPr txBox="1"/>
          <p:nvPr/>
        </p:nvSpPr>
        <p:spPr>
          <a:xfrm>
            <a:off x="387800" y="921975"/>
            <a:ext cx="8520600" cy="36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2"/>
                </a:solidFill>
              </a:rPr>
              <a:t>We also reproduced the fluences of neutrinos, for both type of SN, considering the time </a:t>
            </a:r>
            <a:r>
              <a:rPr lang="en-GB" sz="1800" b="1">
                <a:solidFill>
                  <a:schemeClr val="dk2"/>
                </a:solidFill>
              </a:rPr>
              <a:t>t_νmax</a:t>
            </a:r>
            <a:r>
              <a:rPr lang="en-GB" sz="1800">
                <a:solidFill>
                  <a:schemeClr val="dk2"/>
                </a:solidFill>
              </a:rPr>
              <a:t>, which is the time when the significance of neutrino emission becomes the maximum. (See fig. 2 right from this other Murase’s </a:t>
            </a:r>
            <a:r>
              <a:rPr lang="en-GB" sz="1800" u="sng">
                <a:solidFill>
                  <a:schemeClr val="hlink"/>
                </a:solidFill>
                <a:hlinkClick r:id="rId5"/>
              </a:rPr>
              <a:t>paper</a:t>
            </a:r>
            <a:r>
              <a:rPr lang="en-GB" sz="1800">
                <a:solidFill>
                  <a:schemeClr val="dk2"/>
                </a:solidFill>
              </a:rPr>
              <a:t>)</a:t>
            </a: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74" name="Google Shape;74;p15"/>
          <p:cNvSpPr txBox="1"/>
          <p:nvPr/>
        </p:nvSpPr>
        <p:spPr>
          <a:xfrm>
            <a:off x="5759950" y="212975"/>
            <a:ext cx="1433100" cy="26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GB" sz="1600" dirty="0"/>
              <a:t>The light curves will be used for the time-dependent </a:t>
            </a:r>
            <a:r>
              <a:rPr lang="en-GB" sz="1600" dirty="0" err="1"/>
              <a:t>unbinned</a:t>
            </a:r>
            <a:r>
              <a:rPr lang="en-GB" sz="1600" dirty="0"/>
              <a:t> likelihood (signal time PDF)</a:t>
            </a:r>
            <a:endParaRPr sz="1600" dirty="0"/>
          </a:p>
          <a:p>
            <a:pPr marL="0" lvl="0" indent="0" algn="l" rtl="0">
              <a:spcBef>
                <a:spcPts val="1200"/>
              </a:spcBef>
              <a:spcAft>
                <a:spcPts val="0"/>
              </a:spcAft>
              <a:buNone/>
            </a:pPr>
            <a:r>
              <a:rPr lang="en-GB" sz="1600" dirty="0"/>
              <a:t>In the meanwhile, we have been focusing on reproducing the </a:t>
            </a:r>
            <a:r>
              <a:rPr lang="en-GB" sz="1600" b="1" dirty="0"/>
              <a:t>expected number</a:t>
            </a:r>
            <a:r>
              <a:rPr lang="en-GB" sz="1600" dirty="0"/>
              <a:t> of neutrinos, considering time range correspondent to the HE neutrino emission as predicted in the </a:t>
            </a:r>
            <a:r>
              <a:rPr lang="en-GB" sz="1600" dirty="0" err="1"/>
              <a:t>Murase</a:t>
            </a:r>
            <a:r>
              <a:rPr lang="en-GB" sz="1600" dirty="0"/>
              <a:t> model.</a:t>
            </a:r>
            <a:endParaRPr sz="1600" dirty="0"/>
          </a:p>
          <a:p>
            <a:pPr marL="0" lvl="0" indent="0" algn="l" rtl="0">
              <a:spcBef>
                <a:spcPts val="1200"/>
              </a:spcBef>
              <a:spcAft>
                <a:spcPts val="1200"/>
              </a:spcAft>
              <a:buNone/>
            </a:pPr>
            <a:endParaRPr dirty="0"/>
          </a:p>
        </p:txBody>
      </p:sp>
      <p:pic>
        <p:nvPicPr>
          <p:cNvPr id="80" name="Google Shape;80;p16"/>
          <p:cNvPicPr preferRelativeResize="0"/>
          <p:nvPr/>
        </p:nvPicPr>
        <p:blipFill rotWithShape="1">
          <a:blip r:embed="rId3">
            <a:alphaModFix/>
          </a:blip>
          <a:srcRect b="33853"/>
          <a:stretch/>
        </p:blipFill>
        <p:spPr>
          <a:xfrm>
            <a:off x="2670075" y="3019450"/>
            <a:ext cx="4531799" cy="1405025"/>
          </a:xfrm>
          <a:prstGeom prst="rect">
            <a:avLst/>
          </a:prstGeom>
          <a:noFill/>
          <a:ln>
            <a:noFill/>
          </a:ln>
        </p:spPr>
      </p:pic>
      <p:sp>
        <p:nvSpPr>
          <p:cNvPr id="81" name="Google Shape;81;p16"/>
          <p:cNvSpPr txBox="1">
            <a:spLocks noGrp="1"/>
          </p:cNvSpPr>
          <p:nvPr>
            <p:ph type="title"/>
          </p:nvPr>
        </p:nvSpPr>
        <p:spPr>
          <a:xfrm>
            <a:off x="311700" y="349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Step 3: Event rate</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7"/>
          <p:cNvPicPr preferRelativeResize="0"/>
          <p:nvPr/>
        </p:nvPicPr>
        <p:blipFill>
          <a:blip r:embed="rId3">
            <a:alphaModFix/>
          </a:blip>
          <a:stretch>
            <a:fillRect/>
          </a:stretch>
        </p:blipFill>
        <p:spPr>
          <a:xfrm>
            <a:off x="2353547" y="1152475"/>
            <a:ext cx="4531799" cy="2124049"/>
          </a:xfrm>
          <a:prstGeom prst="rect">
            <a:avLst/>
          </a:prstGeom>
          <a:noFill/>
          <a:ln>
            <a:noFill/>
          </a:ln>
        </p:spPr>
      </p:pic>
      <p:cxnSp>
        <p:nvCxnSpPr>
          <p:cNvPr id="87" name="Google Shape;87;p17"/>
          <p:cNvCxnSpPr>
            <a:endCxn id="88" idx="3"/>
          </p:cNvCxnSpPr>
          <p:nvPr/>
        </p:nvCxnSpPr>
        <p:spPr>
          <a:xfrm flipH="1">
            <a:off x="2005650" y="1715875"/>
            <a:ext cx="1230900" cy="909300"/>
          </a:xfrm>
          <a:prstGeom prst="straightConnector1">
            <a:avLst/>
          </a:prstGeom>
          <a:noFill/>
          <a:ln w="9525" cap="flat" cmpd="sng">
            <a:solidFill>
              <a:schemeClr val="dk2"/>
            </a:solidFill>
            <a:prstDash val="solid"/>
            <a:round/>
            <a:headEnd type="none" w="med" len="med"/>
            <a:tailEnd type="triangle" w="med" len="med"/>
          </a:ln>
        </p:spPr>
      </p:cxnSp>
      <p:sp>
        <p:nvSpPr>
          <p:cNvPr id="88" name="Google Shape;88;p17"/>
          <p:cNvSpPr/>
          <p:nvPr/>
        </p:nvSpPr>
        <p:spPr>
          <a:xfrm>
            <a:off x="36150" y="2255875"/>
            <a:ext cx="1969500" cy="738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Duration of the HE neutrino emission</a:t>
            </a:r>
            <a:endParaRPr/>
          </a:p>
        </p:txBody>
      </p:sp>
      <p:sp>
        <p:nvSpPr>
          <p:cNvPr id="89" name="Google Shape;89;p17"/>
          <p:cNvSpPr txBox="1">
            <a:spLocks noGrp="1"/>
          </p:cNvSpPr>
          <p:nvPr>
            <p:ph type="title"/>
          </p:nvPr>
        </p:nvSpPr>
        <p:spPr>
          <a:xfrm>
            <a:off x="311700" y="349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Step 3: Event rate</a:t>
            </a:r>
            <a:endParaRPr b="1"/>
          </a:p>
        </p:txBody>
      </p:sp>
      <p:sp>
        <p:nvSpPr>
          <p:cNvPr id="90" name="Google Shape;90;p17"/>
          <p:cNvSpPr/>
          <p:nvPr/>
        </p:nvSpPr>
        <p:spPr>
          <a:xfrm>
            <a:off x="311700" y="3691550"/>
            <a:ext cx="8402700" cy="1198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a:t>We would like to consider the Aeff at different declinations, according (for example) to the different SNe registered in 2022, 2023.. during ARCA8/ARCA21 period </a:t>
            </a:r>
            <a:endParaRPr/>
          </a:p>
          <a:p>
            <a:pPr marL="0" lvl="0" indent="0" algn="l" rtl="0">
              <a:spcBef>
                <a:spcPts val="0"/>
              </a:spcBef>
              <a:spcAft>
                <a:spcPts val="0"/>
              </a:spcAft>
              <a:buNone/>
            </a:pPr>
            <a:endParaRPr/>
          </a:p>
          <a:p>
            <a:pPr marL="0" lvl="0" indent="0" algn="l" rtl="0">
              <a:spcBef>
                <a:spcPts val="0"/>
              </a:spcBef>
              <a:spcAft>
                <a:spcPts val="0"/>
              </a:spcAft>
              <a:buNone/>
            </a:pPr>
            <a:r>
              <a:rPr lang="en-GB"/>
              <a:t>→ we need to do new catalogue selection (for example within 10 kpc  to 10 Mpc)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body" idx="1"/>
          </p:nvPr>
        </p:nvSpPr>
        <p:spPr>
          <a:xfrm>
            <a:off x="311700" y="863550"/>
            <a:ext cx="86757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At the beginning, Thijs kindly helped with the ARCA230 Aeff, and Meriem with ARCA21 Aeff but this is averaged over all declination (we discover that is wrong to use these Aeff when you have a specific declination):</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
        <p:nvSpPr>
          <p:cNvPr id="96" name="Google Shape;96;p18"/>
          <p:cNvSpPr txBox="1">
            <a:spLocks noGrp="1"/>
          </p:cNvSpPr>
          <p:nvPr>
            <p:ph type="title"/>
          </p:nvPr>
        </p:nvSpPr>
        <p:spPr>
          <a:xfrm>
            <a:off x="311700" y="349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Step 3: Event rate</a:t>
            </a:r>
            <a:endParaRPr b="1"/>
          </a:p>
        </p:txBody>
      </p:sp>
      <p:pic>
        <p:nvPicPr>
          <p:cNvPr id="97" name="Google Shape;97;p18"/>
          <p:cNvPicPr preferRelativeResize="0"/>
          <p:nvPr/>
        </p:nvPicPr>
        <p:blipFill>
          <a:blip r:embed="rId3">
            <a:alphaModFix/>
          </a:blip>
          <a:stretch>
            <a:fillRect/>
          </a:stretch>
        </p:blipFill>
        <p:spPr>
          <a:xfrm>
            <a:off x="433325" y="1990825"/>
            <a:ext cx="4392151" cy="2803400"/>
          </a:xfrm>
          <a:prstGeom prst="rect">
            <a:avLst/>
          </a:prstGeom>
          <a:noFill/>
          <a:ln>
            <a:noFill/>
          </a:ln>
        </p:spPr>
      </p:pic>
      <p:pic>
        <p:nvPicPr>
          <p:cNvPr id="98" name="Google Shape;98;p18"/>
          <p:cNvPicPr preferRelativeResize="0"/>
          <p:nvPr/>
        </p:nvPicPr>
        <p:blipFill>
          <a:blip r:embed="rId4">
            <a:alphaModFix/>
          </a:blip>
          <a:stretch>
            <a:fillRect/>
          </a:stretch>
        </p:blipFill>
        <p:spPr>
          <a:xfrm>
            <a:off x="4947101" y="1990825"/>
            <a:ext cx="3697125" cy="2955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GB" sz="1600" dirty="0"/>
              <a:t>Compute </a:t>
            </a:r>
            <a:r>
              <a:rPr lang="en-GB" sz="1600" dirty="0" err="1"/>
              <a:t>Aeff</a:t>
            </a:r>
            <a:r>
              <a:rPr lang="en-GB" sz="1600" dirty="0"/>
              <a:t> for specific declination </a:t>
            </a:r>
            <a:endParaRPr sz="1600"/>
          </a:p>
          <a:p>
            <a:pPr marL="457200" lvl="0" indent="0" algn="l" rtl="0">
              <a:spcBef>
                <a:spcPts val="1200"/>
              </a:spcBef>
              <a:spcAft>
                <a:spcPts val="0"/>
              </a:spcAft>
              <a:buNone/>
            </a:pPr>
            <a:endParaRPr sz="1600"/>
          </a:p>
          <a:p>
            <a:pPr marL="457200" lvl="0" indent="-330200" algn="l" rtl="0">
              <a:spcBef>
                <a:spcPts val="1200"/>
              </a:spcBef>
              <a:spcAft>
                <a:spcPts val="0"/>
              </a:spcAft>
              <a:buSzPts val="1600"/>
              <a:buChar char="-"/>
            </a:pPr>
            <a:r>
              <a:rPr lang="en-GB" sz="1600" dirty="0"/>
              <a:t>Compute the number of expected events related to certain declinations considering different SN models</a:t>
            </a:r>
            <a:endParaRPr sz="1600" dirty="0"/>
          </a:p>
          <a:p>
            <a:pPr marL="457200" lvl="0" indent="-330200" algn="l" rtl="0">
              <a:spcBef>
                <a:spcPts val="0"/>
              </a:spcBef>
              <a:spcAft>
                <a:spcPts val="0"/>
              </a:spcAft>
              <a:buSzPts val="1600"/>
              <a:buChar char="-"/>
            </a:pPr>
            <a:r>
              <a:rPr lang="en-GB" sz="1600" dirty="0"/>
              <a:t>New catalogue of SN with different distances (for example from 10 Kpc to 10 Mpc)</a:t>
            </a:r>
            <a:endParaRPr sz="1600" dirty="0"/>
          </a:p>
        </p:txBody>
      </p:sp>
      <p:sp>
        <p:nvSpPr>
          <p:cNvPr id="104" name="Google Shape;104;p19"/>
          <p:cNvSpPr txBox="1">
            <a:spLocks noGrp="1"/>
          </p:cNvSpPr>
          <p:nvPr>
            <p:ph type="title"/>
          </p:nvPr>
        </p:nvSpPr>
        <p:spPr>
          <a:xfrm>
            <a:off x="311700" y="349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Summary of next steps</a:t>
            </a:r>
            <a:endParaRPr b="1"/>
          </a:p>
        </p:txBody>
      </p:sp>
      <p:pic>
        <p:nvPicPr>
          <p:cNvPr id="105" name="Google Shape;105;p19"/>
          <p:cNvPicPr preferRelativeResize="0"/>
          <p:nvPr/>
        </p:nvPicPr>
        <p:blipFill rotWithShape="1">
          <a:blip r:embed="rId3">
            <a:alphaModFix/>
          </a:blip>
          <a:srcRect t="80551"/>
          <a:stretch/>
        </p:blipFill>
        <p:spPr>
          <a:xfrm>
            <a:off x="2498475" y="1468100"/>
            <a:ext cx="6282648" cy="572700"/>
          </a:xfrm>
          <a:prstGeom prst="rect">
            <a:avLst/>
          </a:prstGeom>
          <a:noFill/>
          <a:ln>
            <a:noFill/>
          </a:ln>
        </p:spPr>
      </p:pic>
      <p:sp>
        <p:nvSpPr>
          <p:cNvPr id="106" name="Google Shape;106;p19"/>
          <p:cNvSpPr/>
          <p:nvPr/>
        </p:nvSpPr>
        <p:spPr>
          <a:xfrm>
            <a:off x="710200" y="3265150"/>
            <a:ext cx="7998900" cy="1577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a:t>Question to the group: </a:t>
            </a:r>
            <a:endParaRPr/>
          </a:p>
          <a:p>
            <a:pPr marL="0" lvl="0" indent="0" algn="l" rtl="0">
              <a:spcBef>
                <a:spcPts val="0"/>
              </a:spcBef>
              <a:spcAft>
                <a:spcPts val="0"/>
              </a:spcAft>
              <a:buNone/>
            </a:pPr>
            <a:endParaRPr/>
          </a:p>
          <a:p>
            <a:pPr marL="0" lvl="0" indent="0" algn="l" rtl="0">
              <a:spcBef>
                <a:spcPts val="0"/>
              </a:spcBef>
              <a:spcAft>
                <a:spcPts val="0"/>
              </a:spcAft>
              <a:buNone/>
            </a:pPr>
            <a:r>
              <a:rPr lang="en-GB"/>
              <a:t>is it correct to consider the discovery time as the time of explosion? </a:t>
            </a:r>
            <a:endParaRPr/>
          </a:p>
          <a:p>
            <a:pPr marL="0" lvl="0" indent="0" algn="l" rtl="0">
              <a:spcBef>
                <a:spcPts val="0"/>
              </a:spcBef>
              <a:spcAft>
                <a:spcPts val="0"/>
              </a:spcAft>
              <a:buNone/>
            </a:pPr>
            <a:endParaRPr/>
          </a:p>
          <a:p>
            <a:pPr marL="0" lvl="0" indent="0" algn="l" rtl="0">
              <a:spcBef>
                <a:spcPts val="0"/>
              </a:spcBef>
              <a:spcAft>
                <a:spcPts val="0"/>
              </a:spcAft>
              <a:buNone/>
            </a:pPr>
            <a:r>
              <a:rPr lang="en-GB"/>
              <a:t>In case not, how it is possible to retrieve this information? —&gt; we need it because the HE emission occurs mostly about 10^5 seconds after the explosion</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1166</TotalTime>
  <Words>1110</Words>
  <Application>Microsoft Office PowerPoint</Application>
  <PresentationFormat>Presentazione su schermo (16:9)</PresentationFormat>
  <Paragraphs>74</Paragraphs>
  <Slides>11</Slides>
  <Notes>8</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11</vt:i4>
      </vt:variant>
    </vt:vector>
  </HeadingPairs>
  <TitlesOfParts>
    <vt:vector size="16" baseType="lpstr">
      <vt:lpstr>Arial</vt:lpstr>
      <vt:lpstr>Arial Nova Light</vt:lpstr>
      <vt:lpstr>Neue Haas Grotesk Text Pro</vt:lpstr>
      <vt:lpstr>Wingdings</vt:lpstr>
      <vt:lpstr>Simple Light</vt:lpstr>
      <vt:lpstr>Presentazione standard di PowerPoint</vt:lpstr>
      <vt:lpstr>High-energy neutrinos form SNe</vt:lpstr>
      <vt:lpstr> High-energy neutrinos form SNe</vt:lpstr>
      <vt:lpstr>Presentazione standard di PowerPoint</vt:lpstr>
      <vt:lpstr>Plan for the analysis</vt:lpstr>
      <vt:lpstr>Step 1: Model of the Light Curve</vt:lpstr>
      <vt:lpstr>Step 2: Model of the Fluence</vt:lpstr>
      <vt:lpstr>Step 3: Event rate</vt:lpstr>
      <vt:lpstr>Step 3: Event rate</vt:lpstr>
      <vt:lpstr>Step 3: Event rate</vt:lpstr>
      <vt:lpstr>Summary of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VERONICA OLIVIERO</cp:lastModifiedBy>
  <cp:revision>2</cp:revision>
  <dcterms:modified xsi:type="dcterms:W3CDTF">2024-11-20T18:56:56Z</dcterms:modified>
</cp:coreProperties>
</file>