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002806-FCED-4958-86B2-DEFD2619F7C2}">
  <a:tblStyle styleId="{19002806-FCED-4958-86B2-DEFD2619F7C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10351e8174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10351e8174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18c0111cf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18c0111cf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16a4ce5a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16a4ce5a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400">
                <a:solidFill>
                  <a:schemeClr val="dk1"/>
                </a:solidFill>
              </a:rPr>
              <a:t>The CSM provides target material for the ejecta to form shocks and accelerate protons with matter via hadronuclear (pp interaction) or photohadronic (pγ) mechanism. /  </a:t>
            </a:r>
            <a:r>
              <a:rPr lang="en-GB" sz="1500">
                <a:solidFill>
                  <a:schemeClr val="dk1"/>
                </a:solidFill>
              </a:rPr>
              <a:t>In this scenario the proposed progenitors are similar to gamma-ray bursts (GRBs), except the jets are slower and never break through the stellar envelope, leading to neutrinos without the counterpart gamma-ray emission.</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16a4ce5ae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16a4ce5ae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400">
                <a:solidFill>
                  <a:schemeClr val="dk1"/>
                </a:solidFill>
              </a:rPr>
              <a:t>his measurement is quite sensitive to the high level of single photon noise (dark noise of K40 in the seawater or glass) limiting the ability for neutrino telescopes to observe faint signals from CCSNe.</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185837ca2f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185837ca2f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16a4ce5ae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16a4ce5ae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18c0111cf1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18c0111cf1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Tpp is a characteristic time scale constant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16a4ce5ae2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16a4ce5ae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About the CSM : Optical observations of various types of extragalactic SNe have provided cumulative evidence that a SN progenitor commonly experiences a significant mass loss, just before the explosion. As result shock interactions with CSM should occur.</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kind of mechanism is well explained in Murase’s works.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Also, Es and Rcr10 is a spectrum dependent factor that converts the bolometric CR energy to the differential CR energy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At the same time we are producing the catalogue. To do so, the guidelines we followed are -&gt;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10351e8174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10351e8174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10351e8174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10351e8174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10351e817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10351e817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170899a8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170899a8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185837ca2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185837ca2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185837ca2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185837ca2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As we can see from these plots , the number of neutrino events does not depends significantly on the </a:t>
            </a:r>
            <a:r>
              <a:rPr lang="en-GB"/>
              <a:t>declination</a:t>
            </a:r>
            <a:r>
              <a:rPr lang="en-GB"/>
              <a:t> . Instead we have a strong </a:t>
            </a:r>
            <a:r>
              <a:rPr lang="en-GB"/>
              <a:t>dependence</a:t>
            </a:r>
            <a:r>
              <a:rPr lang="en-GB"/>
              <a:t> on the distance of the sources. From these preliminary studies we see that we can reach a detection horizon of about </a:t>
            </a:r>
            <a:r>
              <a:rPr lang="en-GB"/>
              <a:t>hundreds</a:t>
            </a:r>
            <a:r>
              <a:rPr lang="en-GB"/>
              <a:t> kpc for a IIn sn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185837ca2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185837ca2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Meanwhile for a IIp SN the number of expected events is lower in general, and with ARCA21 configuration we can see something considering the sources in a range of tens kpc from us. These results are in agreement with the theoretical model. As showed before in the fluence plots, we expect a lower energy fluence and also luminosity for a type IIp SN.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expect these estimation to increase with the future arca configuration</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185837ca2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185837ca2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one reason why this study was crucial</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collected a bunch of sources in the catalogue, considering the guideline as said before , but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Of course we will increase the detection horizon with the future configuration of arca and with the final one, but at the moment it’s more useful for the studies to be focused on the sources that we have in 10 Mpc from us.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185837ca2f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185837ca2f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185837ca2f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185837ca2f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196abd48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196abd48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196abd488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196abd488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196abd488a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196abd488a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500">
                <a:solidFill>
                  <a:schemeClr val="dk1"/>
                </a:solidFill>
              </a:rPr>
              <a:t>In this scenario the proposed progenitors are similar to gamma-ray bursts (GRBs), except the jets are slower and never break through the stellar envelope, leading to neutrinos without the counterpart gamma-ray emission.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jpg"/><Relationship Id="rId4" Type="http://schemas.openxmlformats.org/officeDocument/2006/relationships/image" Target="../media/image2.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hyperlink" Target="https://journals.aps.org/prd/abstract/10.1103/PhysRevD.97.081301" TargetMode="External"/><Relationship Id="rId5" Type="http://schemas.openxmlformats.org/officeDocument/2006/relationships/hyperlink" Target="https://journals.aps.org/prd/abstract/10.1103/PhysRevD.79.05300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s://arxiv.org/abs/2303.03316" TargetMode="Externa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arxiv.org/abs/1705.04750" TargetMode="External"/><Relationship Id="rId4" Type="http://schemas.openxmlformats.org/officeDocument/2006/relationships/hyperlink" Target="https://arxiv.org/abs/2312.17239" TargetMode="External"/><Relationship Id="rId5"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arxiv.org/abs/1705.04750" TargetMode="External"/><Relationship Id="rId4" Type="http://schemas.openxmlformats.org/officeDocument/2006/relationships/image" Target="../media/image8.png"/><Relationship Id="rId5" Type="http://schemas.openxmlformats.org/officeDocument/2006/relationships/hyperlink" Target="https://github.com/pegasuskmurase/ModelTemplates/tree/main/SNHEM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hyperlink" Target="https://arxiv.org/abs/2312.17239"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0" l="0" r="0" t="16590"/>
          <a:stretch/>
        </p:blipFill>
        <p:spPr>
          <a:xfrm>
            <a:off x="-79125" y="-10875"/>
            <a:ext cx="9336975" cy="5190525"/>
          </a:xfrm>
          <a:prstGeom prst="rect">
            <a:avLst/>
          </a:prstGeom>
          <a:noFill/>
          <a:ln>
            <a:noFill/>
          </a:ln>
        </p:spPr>
      </p:pic>
      <p:sp>
        <p:nvSpPr>
          <p:cNvPr id="55" name="Google Shape;55;p13"/>
          <p:cNvSpPr txBox="1"/>
          <p:nvPr/>
        </p:nvSpPr>
        <p:spPr>
          <a:xfrm>
            <a:off x="5853450" y="4814850"/>
            <a:ext cx="3404400" cy="3648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GB" sz="1800">
                <a:solidFill>
                  <a:schemeClr val="dk2"/>
                </a:solidFill>
              </a:rPr>
              <a:t>WP7 meeting 27-28/11/2024</a:t>
            </a:r>
            <a:endParaRPr b="1" sz="1800">
              <a:solidFill>
                <a:schemeClr val="dk2"/>
              </a:solidFill>
            </a:endParaRPr>
          </a:p>
        </p:txBody>
      </p:sp>
      <p:sp>
        <p:nvSpPr>
          <p:cNvPr id="56" name="Google Shape;56;p13"/>
          <p:cNvSpPr txBox="1"/>
          <p:nvPr/>
        </p:nvSpPr>
        <p:spPr>
          <a:xfrm>
            <a:off x="939325" y="2595650"/>
            <a:ext cx="7323900" cy="53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1800">
                <a:solidFill>
                  <a:schemeClr val="dk1"/>
                </a:solidFill>
              </a:rPr>
              <a:t>V. Oliviero, I.C. Rea and M. Bendahman</a:t>
            </a:r>
            <a:endParaRPr b="1" sz="1800">
              <a:solidFill>
                <a:schemeClr val="dk1"/>
              </a:solidFill>
            </a:endParaRPr>
          </a:p>
        </p:txBody>
      </p:sp>
      <p:pic>
        <p:nvPicPr>
          <p:cNvPr id="57" name="Google Shape;57;p13"/>
          <p:cNvPicPr preferRelativeResize="0"/>
          <p:nvPr/>
        </p:nvPicPr>
        <p:blipFill>
          <a:blip r:embed="rId4">
            <a:alphaModFix/>
          </a:blip>
          <a:stretch>
            <a:fillRect/>
          </a:stretch>
        </p:blipFill>
        <p:spPr>
          <a:xfrm>
            <a:off x="73275" y="64475"/>
            <a:ext cx="1581150" cy="1047750"/>
          </a:xfrm>
          <a:prstGeom prst="rect">
            <a:avLst/>
          </a:prstGeom>
          <a:noFill/>
          <a:ln>
            <a:noFill/>
          </a:ln>
        </p:spPr>
      </p:pic>
      <p:pic>
        <p:nvPicPr>
          <p:cNvPr id="58" name="Google Shape;58;p13"/>
          <p:cNvPicPr preferRelativeResize="0"/>
          <p:nvPr/>
        </p:nvPicPr>
        <p:blipFill>
          <a:blip r:embed="rId5">
            <a:alphaModFix/>
          </a:blip>
          <a:stretch>
            <a:fillRect/>
          </a:stretch>
        </p:blipFill>
        <p:spPr>
          <a:xfrm>
            <a:off x="7833800" y="0"/>
            <a:ext cx="1310201" cy="1291748"/>
          </a:xfrm>
          <a:prstGeom prst="rect">
            <a:avLst/>
          </a:prstGeom>
          <a:noFill/>
          <a:ln>
            <a:noFill/>
          </a:ln>
        </p:spPr>
      </p:pic>
      <p:sp>
        <p:nvSpPr>
          <p:cNvPr id="59" name="Google Shape;59;p13"/>
          <p:cNvSpPr txBox="1"/>
          <p:nvPr/>
        </p:nvSpPr>
        <p:spPr>
          <a:xfrm>
            <a:off x="959675" y="1313950"/>
            <a:ext cx="7174800" cy="85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3600">
                <a:solidFill>
                  <a:schemeClr val="lt1"/>
                </a:solidFill>
              </a:rPr>
              <a:t>High energy neutrinos </a:t>
            </a:r>
            <a:endParaRPr b="1" sz="3600">
              <a:solidFill>
                <a:schemeClr val="lt1"/>
              </a:solidFill>
            </a:endParaRPr>
          </a:p>
          <a:p>
            <a:pPr indent="0" lvl="0" marL="0" rtl="0" algn="ctr">
              <a:spcBef>
                <a:spcPts val="0"/>
              </a:spcBef>
              <a:spcAft>
                <a:spcPts val="0"/>
              </a:spcAft>
              <a:buNone/>
            </a:pPr>
            <a:r>
              <a:rPr b="1" lang="en-GB" sz="3600">
                <a:solidFill>
                  <a:schemeClr val="lt1"/>
                </a:solidFill>
              </a:rPr>
              <a:t>from SN explosions </a:t>
            </a:r>
            <a:endParaRPr b="1" sz="36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9933FF"/>
                </a:solidFill>
              </a:rPr>
              <a:t>Overview</a:t>
            </a:r>
            <a:endParaRPr>
              <a:solidFill>
                <a:srgbClr val="9933FF"/>
              </a:solidFill>
            </a:endParaRPr>
          </a:p>
        </p:txBody>
      </p:sp>
      <p:sp>
        <p:nvSpPr>
          <p:cNvPr id="65" name="Google Shape;65;p14"/>
          <p:cNvSpPr txBox="1"/>
          <p:nvPr/>
        </p:nvSpPr>
        <p:spPr>
          <a:xfrm>
            <a:off x="363400" y="1122950"/>
            <a:ext cx="8463000" cy="3697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GB">
                <a:solidFill>
                  <a:schemeClr val="dk1"/>
                </a:solidFill>
              </a:rPr>
              <a:t>High-energy neutrinos from SNe</a:t>
            </a:r>
            <a:br>
              <a:rPr lang="en-GB">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Why is it important to study H-E neutrinos from CCSN?</a:t>
            </a:r>
            <a:br>
              <a:rPr lang="en-GB">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Our goal: sensitivity studies for H-E neutrinos from SNe</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First approach: time dependent Unbinned Likelihood using </a:t>
            </a:r>
            <a:r>
              <a:rPr i="1" lang="en-GB">
                <a:solidFill>
                  <a:schemeClr val="dk1"/>
                </a:solidFill>
              </a:rPr>
              <a:t>Aanet </a:t>
            </a:r>
            <a:endParaRPr i="1">
              <a:solidFill>
                <a:schemeClr val="dk1"/>
              </a:solidFill>
            </a:endParaRPr>
          </a:p>
          <a:p>
            <a:pPr indent="0" lvl="0" marL="457200" rtl="0" algn="l">
              <a:spcBef>
                <a:spcPts val="0"/>
              </a:spcBef>
              <a:spcAft>
                <a:spcPts val="0"/>
              </a:spcAft>
              <a:buNone/>
            </a:pPr>
            <a:r>
              <a:t/>
            </a:r>
            <a:endParaRPr i="1">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Preliminary Studies: model, source catalogue, calculation of expected neutrino events for ARCA21</a:t>
            </a:r>
            <a:endParaRPr>
              <a:solidFill>
                <a:schemeClr val="dk1"/>
              </a:solidFill>
            </a:endParaRPr>
          </a:p>
          <a:p>
            <a:pPr indent="0" lvl="0" marL="457200" rtl="0" algn="l">
              <a:spcBef>
                <a:spcPts val="0"/>
              </a:spcBef>
              <a:spcAft>
                <a:spcPts val="0"/>
              </a:spcAft>
              <a:buNone/>
            </a:pPr>
            <a:r>
              <a:t/>
            </a:r>
            <a:endParaRPr i="1">
              <a:solidFill>
                <a:schemeClr val="dk1"/>
              </a:solidFill>
            </a:endParaRPr>
          </a:p>
          <a:p>
            <a:pPr indent="0" lvl="0" marL="0" rtl="0" algn="l">
              <a:spcBef>
                <a:spcPts val="0"/>
              </a:spcBef>
              <a:spcAft>
                <a:spcPts val="0"/>
              </a:spcAft>
              <a:buNone/>
            </a:pPr>
            <a:r>
              <a:rPr i="1" lang="en-GB">
                <a:solidFill>
                  <a:schemeClr val="dk1"/>
                </a:solidFill>
              </a:rPr>
              <a:t>	</a:t>
            </a:r>
            <a:endParaRPr i="1">
              <a:solidFill>
                <a:schemeClr val="dk1"/>
              </a:solidFill>
            </a:endParaRPr>
          </a:p>
        </p:txBody>
      </p:sp>
      <p:sp>
        <p:nvSpPr>
          <p:cNvPr id="66" name="Google Shape;6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67" name="Google Shape;67;p14"/>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GB" sz="2500">
                <a:solidFill>
                  <a:srgbClr val="9933FF"/>
                </a:solidFill>
              </a:rPr>
              <a:t>High-energy neutrinos from SNe</a:t>
            </a:r>
            <a:endParaRPr>
              <a:solidFill>
                <a:srgbClr val="9933FF"/>
              </a:solidFill>
            </a:endParaRPr>
          </a:p>
        </p:txBody>
      </p:sp>
      <p:sp>
        <p:nvSpPr>
          <p:cNvPr id="73" name="Google Shape;73;p15"/>
          <p:cNvSpPr txBox="1"/>
          <p:nvPr/>
        </p:nvSpPr>
        <p:spPr>
          <a:xfrm>
            <a:off x="10287000" y="2872700"/>
            <a:ext cx="787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74" name="Google Shape;74;p15"/>
          <p:cNvPicPr preferRelativeResize="0"/>
          <p:nvPr/>
        </p:nvPicPr>
        <p:blipFill>
          <a:blip r:embed="rId3">
            <a:alphaModFix/>
          </a:blip>
          <a:stretch>
            <a:fillRect/>
          </a:stretch>
        </p:blipFill>
        <p:spPr>
          <a:xfrm>
            <a:off x="322150" y="865825"/>
            <a:ext cx="2562550" cy="3019028"/>
          </a:xfrm>
          <a:prstGeom prst="rect">
            <a:avLst/>
          </a:prstGeom>
          <a:noFill/>
          <a:ln>
            <a:noFill/>
          </a:ln>
        </p:spPr>
      </p:pic>
      <p:sp>
        <p:nvSpPr>
          <p:cNvPr id="75" name="Google Shape;75;p15"/>
          <p:cNvSpPr txBox="1"/>
          <p:nvPr/>
        </p:nvSpPr>
        <p:spPr>
          <a:xfrm>
            <a:off x="2720400" y="991213"/>
            <a:ext cx="6306600" cy="1887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lang="en-GB">
                <a:solidFill>
                  <a:schemeClr val="dk1"/>
                </a:solidFill>
              </a:rPr>
              <a:t>The core-collapse supernovae (CCSNe) explosion mechanism is driven by low energy (MeV) neutrinos, which release most of the system's gravitational binding energy.</a:t>
            </a:r>
            <a:endParaRPr>
              <a:solidFill>
                <a:schemeClr val="dk1"/>
              </a:solidFill>
            </a:endParaRPr>
          </a:p>
          <a:p>
            <a:pPr indent="0" lvl="0" marL="12700" rtl="0" algn="l">
              <a:lnSpc>
                <a:spcPct val="115000"/>
              </a:lnSpc>
              <a:spcBef>
                <a:spcPts val="0"/>
              </a:spcBef>
              <a:spcAft>
                <a:spcPts val="0"/>
              </a:spcAft>
              <a:buNone/>
            </a:pPr>
            <a:r>
              <a:t/>
            </a:r>
            <a:endParaRPr u="sng">
              <a:solidFill>
                <a:schemeClr val="dk1"/>
              </a:solidFill>
            </a:endParaRPr>
          </a:p>
          <a:p>
            <a:pPr indent="-317500" lvl="0" marL="457200" rtl="0" algn="l">
              <a:lnSpc>
                <a:spcPct val="115000"/>
              </a:lnSpc>
              <a:spcBef>
                <a:spcPts val="0"/>
              </a:spcBef>
              <a:spcAft>
                <a:spcPts val="0"/>
              </a:spcAft>
              <a:buClr>
                <a:schemeClr val="dk1"/>
              </a:buClr>
              <a:buSzPts val="1400"/>
              <a:buChar char="●"/>
            </a:pPr>
            <a:r>
              <a:rPr b="1" lang="en-GB">
                <a:solidFill>
                  <a:schemeClr val="dk1"/>
                </a:solidFill>
              </a:rPr>
              <a:t>In addition to MeV neutrinos, some CCSNe are good candidates for the production of high-energy (H-E) neutrinos (from GeV to PeV)</a:t>
            </a:r>
            <a:endParaRPr/>
          </a:p>
        </p:txBody>
      </p:sp>
      <p:sp>
        <p:nvSpPr>
          <p:cNvPr id="76" name="Google Shape;76;p15"/>
          <p:cNvSpPr txBox="1"/>
          <p:nvPr/>
        </p:nvSpPr>
        <p:spPr>
          <a:xfrm>
            <a:off x="3329925" y="2989500"/>
            <a:ext cx="4193400" cy="648000"/>
          </a:xfrm>
          <a:prstGeom prst="rect">
            <a:avLst/>
          </a:prstGeom>
          <a:solidFill>
            <a:srgbClr val="D0E0E3"/>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a:solidFill>
                  <a:schemeClr val="dk1"/>
                </a:solidFill>
              </a:rPr>
              <a:t>We consider two production mechanisms </a:t>
            </a:r>
            <a:endParaRPr b="1">
              <a:solidFill>
                <a:schemeClr val="dk1"/>
              </a:solidFill>
            </a:endParaRPr>
          </a:p>
          <a:p>
            <a:pPr indent="0" lvl="0" marL="0" rtl="0" algn="ctr">
              <a:lnSpc>
                <a:spcPct val="115000"/>
              </a:lnSpc>
              <a:spcBef>
                <a:spcPts val="0"/>
              </a:spcBef>
              <a:spcAft>
                <a:spcPts val="0"/>
              </a:spcAft>
              <a:buNone/>
            </a:pPr>
            <a:r>
              <a:rPr b="1" lang="en-GB">
                <a:solidFill>
                  <a:schemeClr val="dk1"/>
                </a:solidFill>
              </a:rPr>
              <a:t>for H-E neutrinos in CCSNe:</a:t>
            </a:r>
            <a:endParaRPr/>
          </a:p>
        </p:txBody>
      </p:sp>
      <p:cxnSp>
        <p:nvCxnSpPr>
          <p:cNvPr id="77" name="Google Shape;77;p15"/>
          <p:cNvCxnSpPr/>
          <p:nvPr/>
        </p:nvCxnSpPr>
        <p:spPr>
          <a:xfrm flipH="1">
            <a:off x="3851250" y="3683625"/>
            <a:ext cx="831900" cy="455400"/>
          </a:xfrm>
          <a:prstGeom prst="straightConnector1">
            <a:avLst/>
          </a:prstGeom>
          <a:noFill/>
          <a:ln cap="flat" cmpd="sng" w="38100">
            <a:solidFill>
              <a:schemeClr val="dk2"/>
            </a:solidFill>
            <a:prstDash val="solid"/>
            <a:round/>
            <a:headEnd len="med" w="med" type="none"/>
            <a:tailEnd len="med" w="med" type="triangle"/>
          </a:ln>
        </p:spPr>
      </p:cxnSp>
      <p:cxnSp>
        <p:nvCxnSpPr>
          <p:cNvPr id="78" name="Google Shape;78;p15"/>
          <p:cNvCxnSpPr/>
          <p:nvPr/>
        </p:nvCxnSpPr>
        <p:spPr>
          <a:xfrm>
            <a:off x="6110800" y="3688725"/>
            <a:ext cx="824700" cy="445200"/>
          </a:xfrm>
          <a:prstGeom prst="straightConnector1">
            <a:avLst/>
          </a:prstGeom>
          <a:noFill/>
          <a:ln cap="flat" cmpd="sng" w="38100">
            <a:solidFill>
              <a:schemeClr val="dk2"/>
            </a:solidFill>
            <a:prstDash val="solid"/>
            <a:round/>
            <a:headEnd len="med" w="med" type="none"/>
            <a:tailEnd len="med" w="med" type="triangle"/>
          </a:ln>
        </p:spPr>
      </p:cxnSp>
      <p:sp>
        <p:nvSpPr>
          <p:cNvPr id="79" name="Google Shape;79;p15"/>
          <p:cNvSpPr txBox="1"/>
          <p:nvPr/>
        </p:nvSpPr>
        <p:spPr>
          <a:xfrm>
            <a:off x="2072825" y="4185156"/>
            <a:ext cx="38730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rgbClr val="4472C4"/>
                </a:solidFill>
              </a:rPr>
              <a:t>interaction between SN ejecta and CSM </a:t>
            </a:r>
            <a:endParaRPr b="1">
              <a:solidFill>
                <a:srgbClr val="4472C4"/>
              </a:solidFill>
            </a:endParaRPr>
          </a:p>
          <a:p>
            <a:pPr indent="0" lvl="0" marL="0" rtl="0" algn="l">
              <a:lnSpc>
                <a:spcPct val="115000"/>
              </a:lnSpc>
              <a:spcBef>
                <a:spcPts val="0"/>
              </a:spcBef>
              <a:spcAft>
                <a:spcPts val="0"/>
              </a:spcAft>
              <a:buNone/>
            </a:pPr>
            <a:r>
              <a:rPr lang="en-GB">
                <a:solidFill>
                  <a:schemeClr val="dk1"/>
                </a:solidFill>
              </a:rPr>
              <a:t>(</a:t>
            </a:r>
            <a:r>
              <a:rPr lang="en-GB" u="sng">
                <a:solidFill>
                  <a:schemeClr val="accent5"/>
                </a:solidFill>
                <a:hlinkClick r:id="rId4">
                  <a:extLst>
                    <a:ext uri="{A12FA001-AC4F-418D-AE19-62706E023703}">
                      <ahyp:hlinkClr val="tx"/>
                    </a:ext>
                  </a:extLst>
                </a:hlinkClick>
              </a:rPr>
              <a:t>Murase 2018</a:t>
            </a:r>
            <a:r>
              <a:rPr lang="en-GB">
                <a:solidFill>
                  <a:schemeClr val="dk1"/>
                </a:solidFill>
              </a:rPr>
              <a:t>)</a:t>
            </a:r>
            <a:r>
              <a:rPr lang="en-GB">
                <a:solidFill>
                  <a:schemeClr val="dk1"/>
                </a:solidFill>
              </a:rPr>
              <a:t> </a:t>
            </a:r>
            <a:endParaRPr/>
          </a:p>
        </p:txBody>
      </p:sp>
      <p:sp>
        <p:nvSpPr>
          <p:cNvPr id="80" name="Google Shape;80;p15"/>
          <p:cNvSpPr txBox="1"/>
          <p:nvPr/>
        </p:nvSpPr>
        <p:spPr>
          <a:xfrm>
            <a:off x="6174425" y="4185156"/>
            <a:ext cx="28935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a:solidFill>
                  <a:srgbClr val="4472C4"/>
                </a:solidFill>
              </a:rPr>
              <a:t>relativistic choked jets</a:t>
            </a:r>
            <a:r>
              <a:rPr lang="en-GB">
                <a:solidFill>
                  <a:srgbClr val="4472C4"/>
                </a:solidFill>
              </a:rPr>
              <a:t> </a:t>
            </a:r>
            <a:endParaRPr>
              <a:solidFill>
                <a:srgbClr val="4472C4"/>
              </a:solidFill>
            </a:endParaRPr>
          </a:p>
          <a:p>
            <a:pPr indent="0" lvl="0" marL="0" rtl="0" algn="l">
              <a:lnSpc>
                <a:spcPct val="115000"/>
              </a:lnSpc>
              <a:spcBef>
                <a:spcPts val="0"/>
              </a:spcBef>
              <a:spcAft>
                <a:spcPts val="0"/>
              </a:spcAft>
              <a:buNone/>
            </a:pPr>
            <a:r>
              <a:rPr lang="en-GB">
                <a:solidFill>
                  <a:schemeClr val="dk1"/>
                </a:solidFill>
              </a:rPr>
              <a:t>(</a:t>
            </a:r>
            <a:r>
              <a:rPr lang="en-GB" u="sng">
                <a:solidFill>
                  <a:schemeClr val="accent5"/>
                </a:solidFill>
                <a:hlinkClick r:id="rId5">
                  <a:extLst>
                    <a:ext uri="{A12FA001-AC4F-418D-AE19-62706E023703}">
                      <ahyp:hlinkClr val="tx"/>
                    </a:ext>
                  </a:extLst>
                </a:hlinkClick>
              </a:rPr>
              <a:t>Enberg et al. 2009</a:t>
            </a:r>
            <a:r>
              <a:rPr lang="en-GB">
                <a:solidFill>
                  <a:schemeClr val="dk1"/>
                </a:solidFill>
              </a:rPr>
              <a:t>)</a:t>
            </a:r>
            <a:endParaRPr/>
          </a:p>
        </p:txBody>
      </p:sp>
      <p:sp>
        <p:nvSpPr>
          <p:cNvPr id="81" name="Google Shape;8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82" name="Google Shape;82;p15"/>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idx="1" type="body"/>
          </p:nvPr>
        </p:nvSpPr>
        <p:spPr>
          <a:xfrm>
            <a:off x="317575" y="899575"/>
            <a:ext cx="8520600" cy="23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Neutrino telescopes such as the IceCube Neutrino Observatory and KM3NeT observe the burst of MeV neutrinos from CCSNe as single photon hits from interactions that occur near the PMTs.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rgbClr val="9933FF"/>
                </a:solidFill>
              </a:rPr>
              <a:t>In addition, the potential to extend the detection horizon can be done only through detecting H-E neutrinos </a:t>
            </a:r>
            <a:endParaRPr>
              <a:solidFill>
                <a:srgbClr val="9933FF"/>
              </a:solidFill>
            </a:endParaRPr>
          </a:p>
          <a:p>
            <a:pPr indent="0" lvl="0" marL="0" rtl="0" algn="ctr">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1200"/>
              </a:spcAft>
              <a:buNone/>
            </a:pPr>
            <a:r>
              <a:t/>
            </a:r>
            <a:endParaRPr/>
          </a:p>
        </p:txBody>
      </p:sp>
      <p:sp>
        <p:nvSpPr>
          <p:cNvPr id="88" name="Google Shape;88;p16"/>
          <p:cNvSpPr txBox="1"/>
          <p:nvPr>
            <p:ph idx="2" type="body"/>
          </p:nvPr>
        </p:nvSpPr>
        <p:spPr>
          <a:xfrm>
            <a:off x="4176675" y="4059000"/>
            <a:ext cx="4639500" cy="895800"/>
          </a:xfrm>
          <a:prstGeom prst="rect">
            <a:avLst/>
          </a:prstGeom>
        </p:spPr>
        <p:txBody>
          <a:bodyPr anchorCtr="0" anchor="t" bIns="91425" lIns="91425" spcFirstLastPara="1" rIns="91425" wrap="square" tIns="91425">
            <a:noAutofit/>
          </a:bodyPr>
          <a:lstStyle/>
          <a:p>
            <a:pPr indent="-317500" lvl="0" marL="457200" rtl="0" algn="ctr">
              <a:spcBef>
                <a:spcPts val="0"/>
              </a:spcBef>
              <a:spcAft>
                <a:spcPts val="0"/>
              </a:spcAft>
              <a:buClr>
                <a:schemeClr val="dk1"/>
              </a:buClr>
              <a:buSzPts val="1400"/>
              <a:buChar char="➢"/>
            </a:pPr>
            <a:r>
              <a:rPr lang="en-GB">
                <a:solidFill>
                  <a:schemeClr val="dk1"/>
                </a:solidFill>
              </a:rPr>
              <a:t>CSM interaction candidates: </a:t>
            </a:r>
            <a:r>
              <a:rPr b="1" i="1" lang="en-GB">
                <a:solidFill>
                  <a:schemeClr val="dk1"/>
                </a:solidFill>
              </a:rPr>
              <a:t>SN type IIn and II-P</a:t>
            </a:r>
            <a:br>
              <a:rPr lang="en-GB">
                <a:solidFill>
                  <a:schemeClr val="dk1"/>
                </a:solidFill>
              </a:rPr>
            </a:br>
            <a:endParaRPr>
              <a:solidFill>
                <a:schemeClr val="dk1"/>
              </a:solidFill>
            </a:endParaRPr>
          </a:p>
          <a:p>
            <a:pPr indent="-317500" lvl="0" marL="457200" rtl="0" algn="ctr">
              <a:spcBef>
                <a:spcPts val="0"/>
              </a:spcBef>
              <a:spcAft>
                <a:spcPts val="0"/>
              </a:spcAft>
              <a:buClr>
                <a:schemeClr val="dk1"/>
              </a:buClr>
              <a:buSzPts val="1400"/>
              <a:buChar char="➢"/>
            </a:pPr>
            <a:r>
              <a:rPr lang="en-GB">
                <a:solidFill>
                  <a:schemeClr val="dk1"/>
                </a:solidFill>
              </a:rPr>
              <a:t>Relativistic CJs candidates: </a:t>
            </a:r>
            <a:r>
              <a:rPr b="1" i="1" lang="en-GB">
                <a:solidFill>
                  <a:schemeClr val="dk1"/>
                </a:solidFill>
              </a:rPr>
              <a:t>SN type Ib/c and IIb</a:t>
            </a:r>
            <a:endParaRPr b="1" i="1">
              <a:solidFill>
                <a:schemeClr val="dk1"/>
              </a:solidFill>
            </a:endParaRPr>
          </a:p>
        </p:txBody>
      </p:sp>
      <p:sp>
        <p:nvSpPr>
          <p:cNvPr id="89" name="Google Shape;89;p16"/>
          <p:cNvSpPr txBox="1"/>
          <p:nvPr/>
        </p:nvSpPr>
        <p:spPr>
          <a:xfrm>
            <a:off x="5147925" y="3083350"/>
            <a:ext cx="2697000" cy="4398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sz="2200">
                <a:solidFill>
                  <a:srgbClr val="9933FF"/>
                </a:solidFill>
              </a:rPr>
              <a:t>SNe CANDIDATES</a:t>
            </a:r>
            <a:endParaRPr b="1" sz="2200">
              <a:solidFill>
                <a:srgbClr val="9933FF"/>
              </a:solidFill>
            </a:endParaRPr>
          </a:p>
        </p:txBody>
      </p:sp>
      <p:sp>
        <p:nvSpPr>
          <p:cNvPr id="90" name="Google Shape;90;p16"/>
          <p:cNvSpPr txBox="1"/>
          <p:nvPr>
            <p:ph type="title"/>
          </p:nvPr>
        </p:nvSpPr>
        <p:spPr>
          <a:xfrm>
            <a:off x="305825" y="157750"/>
            <a:ext cx="87153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solidFill>
                  <a:srgbClr val="9933FF"/>
                </a:solidFill>
              </a:rPr>
              <a:t>Why is it important to study H-E neutrinos from CCSN?</a:t>
            </a:r>
            <a:endParaRPr>
              <a:solidFill>
                <a:srgbClr val="9933FF"/>
              </a:solidFill>
            </a:endParaRPr>
          </a:p>
        </p:txBody>
      </p:sp>
      <p:sp>
        <p:nvSpPr>
          <p:cNvPr id="91" name="Google Shape;91;p16"/>
          <p:cNvSpPr/>
          <p:nvPr/>
        </p:nvSpPr>
        <p:spPr>
          <a:xfrm>
            <a:off x="483725" y="1735150"/>
            <a:ext cx="1373400" cy="343500"/>
          </a:xfrm>
          <a:prstGeom prst="rightArrow">
            <a:avLst>
              <a:gd fmla="val 50000" name="adj1"/>
              <a:gd fmla="val 50000" name="adj2"/>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6"/>
          <p:cNvSpPr txBox="1"/>
          <p:nvPr/>
        </p:nvSpPr>
        <p:spPr>
          <a:xfrm>
            <a:off x="1986475" y="1582900"/>
            <a:ext cx="6554100" cy="6480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GB">
                <a:solidFill>
                  <a:schemeClr val="dk1"/>
                </a:solidFill>
              </a:rPr>
              <a:t>This measurement is quite sensitive to the high level of single photon noise (dark noise of K40 in the seawater or glass) </a:t>
            </a:r>
            <a:endParaRPr i="1"/>
          </a:p>
        </p:txBody>
      </p:sp>
      <p:sp>
        <p:nvSpPr>
          <p:cNvPr id="93" name="Google Shape;93;p16"/>
          <p:cNvSpPr txBox="1"/>
          <p:nvPr/>
        </p:nvSpPr>
        <p:spPr>
          <a:xfrm>
            <a:off x="396075" y="3251975"/>
            <a:ext cx="3000000" cy="8958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2"/>
                </a:solidFill>
              </a:rPr>
              <a:t>H-E 𝝂</a:t>
            </a:r>
            <a:r>
              <a:rPr lang="en-GB">
                <a:solidFill>
                  <a:schemeClr val="dk2"/>
                </a:solidFill>
              </a:rPr>
              <a:t> could give us an insight into the CR acceleration processes (inaccessible with the L-E </a:t>
            </a:r>
            <a:r>
              <a:rPr lang="en-GB">
                <a:solidFill>
                  <a:schemeClr val="dk2"/>
                </a:solidFill>
              </a:rPr>
              <a:t>𝝂)</a:t>
            </a:r>
            <a:endParaRPr>
              <a:solidFill>
                <a:schemeClr val="dk2"/>
              </a:solidFill>
            </a:endParaRPr>
          </a:p>
        </p:txBody>
      </p:sp>
      <p:sp>
        <p:nvSpPr>
          <p:cNvPr id="94" name="Google Shape;94;p16"/>
          <p:cNvSpPr/>
          <p:nvPr/>
        </p:nvSpPr>
        <p:spPr>
          <a:xfrm rot="5400000">
            <a:off x="6285225" y="3619325"/>
            <a:ext cx="422400" cy="343500"/>
          </a:xfrm>
          <a:prstGeom prst="rightArrow">
            <a:avLst>
              <a:gd fmla="val 50000" name="adj1"/>
              <a:gd fmla="val 50000" name="adj2"/>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96" name="Google Shape;96;p16"/>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nvSpPr>
        <p:spPr>
          <a:xfrm>
            <a:off x="2015525" y="974150"/>
            <a:ext cx="6810900" cy="6156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rPr>
              <a:t>Estimation of </a:t>
            </a:r>
            <a:r>
              <a:rPr lang="en-GB">
                <a:solidFill>
                  <a:schemeClr val="dk1"/>
                </a:solidFill>
              </a:rPr>
              <a:t>the </a:t>
            </a:r>
            <a:r>
              <a:rPr b="1" lang="en-GB">
                <a:solidFill>
                  <a:schemeClr val="dk1"/>
                </a:solidFill>
              </a:rPr>
              <a:t>sensitivity</a:t>
            </a:r>
            <a:r>
              <a:rPr lang="en-GB">
                <a:solidFill>
                  <a:schemeClr val="dk1"/>
                </a:solidFill>
              </a:rPr>
              <a:t> for different configurations of ARCA detector to H-E 𝝂 coming from SN explosion.</a:t>
            </a:r>
            <a:endParaRPr>
              <a:solidFill>
                <a:schemeClr val="dk1"/>
              </a:solidFill>
            </a:endParaRPr>
          </a:p>
        </p:txBody>
      </p:sp>
      <p:sp>
        <p:nvSpPr>
          <p:cNvPr id="102" name="Google Shape;102;p17"/>
          <p:cNvSpPr txBox="1"/>
          <p:nvPr/>
        </p:nvSpPr>
        <p:spPr>
          <a:xfrm>
            <a:off x="135550" y="3390275"/>
            <a:ext cx="2662800" cy="831300"/>
          </a:xfrm>
          <a:prstGeom prst="rect">
            <a:avLst/>
          </a:prstGeom>
          <a:solidFill>
            <a:srgbClr val="D9EAD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We started with preliminary studies that are mandatory for both approaches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1371600" rtl="0" algn="l">
              <a:spcBef>
                <a:spcPts val="0"/>
              </a:spcBef>
              <a:spcAft>
                <a:spcPts val="0"/>
              </a:spcAft>
              <a:buNone/>
            </a:pPr>
            <a:r>
              <a:t/>
            </a:r>
            <a:endParaRPr>
              <a:solidFill>
                <a:schemeClr val="dk1"/>
              </a:solidFill>
            </a:endParaRPr>
          </a:p>
        </p:txBody>
      </p:sp>
      <p:sp>
        <p:nvSpPr>
          <p:cNvPr id="103" name="Google Shape;103;p17"/>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9933FF"/>
                </a:solidFill>
              </a:rPr>
              <a:t>Sensitivity studies for H-E </a:t>
            </a:r>
            <a:r>
              <a:rPr lang="en-GB" sz="2750">
                <a:solidFill>
                  <a:srgbClr val="9933FF"/>
                </a:solidFill>
              </a:rPr>
              <a:t>𝝂 </a:t>
            </a:r>
            <a:r>
              <a:rPr b="1" lang="en-GB" sz="2750">
                <a:solidFill>
                  <a:srgbClr val="9933FF"/>
                </a:solidFill>
              </a:rPr>
              <a:t>from</a:t>
            </a:r>
            <a:r>
              <a:rPr b="1" lang="en-GB" sz="2750">
                <a:solidFill>
                  <a:schemeClr val="dk2"/>
                </a:solidFill>
              </a:rPr>
              <a:t> </a:t>
            </a:r>
            <a:r>
              <a:rPr b="1" lang="en-GB">
                <a:solidFill>
                  <a:srgbClr val="9933FF"/>
                </a:solidFill>
              </a:rPr>
              <a:t>SNe</a:t>
            </a:r>
            <a:endParaRPr>
              <a:solidFill>
                <a:srgbClr val="9933FF"/>
              </a:solidFill>
            </a:endParaRPr>
          </a:p>
        </p:txBody>
      </p:sp>
      <p:sp>
        <p:nvSpPr>
          <p:cNvPr id="104" name="Google Shape;104;p17"/>
          <p:cNvSpPr/>
          <p:nvPr/>
        </p:nvSpPr>
        <p:spPr>
          <a:xfrm>
            <a:off x="458425" y="1065500"/>
            <a:ext cx="1373400" cy="432900"/>
          </a:xfrm>
          <a:prstGeom prst="rightArrow">
            <a:avLst>
              <a:gd fmla="val 50000" name="adj1"/>
              <a:gd fmla="val 52045" name="adj2"/>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GB"/>
              <a:t>OUR GOAL</a:t>
            </a:r>
            <a:endParaRPr b="1"/>
          </a:p>
        </p:txBody>
      </p:sp>
      <p:sp>
        <p:nvSpPr>
          <p:cNvPr id="105" name="Google Shape;105;p17"/>
          <p:cNvSpPr txBox="1"/>
          <p:nvPr/>
        </p:nvSpPr>
        <p:spPr>
          <a:xfrm>
            <a:off x="2916400" y="1941325"/>
            <a:ext cx="59847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rgbClr val="9933FF"/>
              </a:buClr>
              <a:buSzPts val="1400"/>
              <a:buAutoNum type="arabicPeriod"/>
            </a:pPr>
            <a:r>
              <a:rPr b="1" lang="en-GB">
                <a:solidFill>
                  <a:srgbClr val="9933FF"/>
                </a:solidFill>
              </a:rPr>
              <a:t>Time dependent unbinned Likelihood using </a:t>
            </a:r>
            <a:r>
              <a:rPr b="1" i="1" lang="en-GB">
                <a:solidFill>
                  <a:srgbClr val="9933FF"/>
                </a:solidFill>
              </a:rPr>
              <a:t>Aanet</a:t>
            </a:r>
            <a:endParaRPr b="1">
              <a:solidFill>
                <a:srgbClr val="9933FF"/>
              </a:solidFill>
            </a:endParaRPr>
          </a:p>
          <a:p>
            <a:pPr indent="0" lvl="0" marL="457200" rtl="0" algn="l">
              <a:spcBef>
                <a:spcPts val="0"/>
              </a:spcBef>
              <a:spcAft>
                <a:spcPts val="0"/>
              </a:spcAft>
              <a:buNone/>
            </a:pPr>
            <a:r>
              <a:t/>
            </a:r>
            <a:endParaRPr b="1">
              <a:solidFill>
                <a:srgbClr val="9933FF"/>
              </a:solidFill>
            </a:endParaRPr>
          </a:p>
          <a:p>
            <a:pPr indent="-317500" lvl="0" marL="457200" rtl="0" algn="l">
              <a:spcBef>
                <a:spcPts val="0"/>
              </a:spcBef>
              <a:spcAft>
                <a:spcPts val="0"/>
              </a:spcAft>
              <a:buClr>
                <a:srgbClr val="9933FF"/>
              </a:buClr>
              <a:buSzPts val="1400"/>
              <a:buAutoNum type="arabicPeriod"/>
            </a:pPr>
            <a:r>
              <a:rPr b="1" lang="en-GB">
                <a:solidFill>
                  <a:srgbClr val="9933FF"/>
                </a:solidFill>
              </a:rPr>
              <a:t>Cut&amp;Count analysis</a:t>
            </a:r>
            <a:endParaRPr b="1">
              <a:solidFill>
                <a:srgbClr val="9933FF"/>
              </a:solidFill>
            </a:endParaRPr>
          </a:p>
        </p:txBody>
      </p:sp>
      <p:sp>
        <p:nvSpPr>
          <p:cNvPr id="106" name="Google Shape;106;p17"/>
          <p:cNvSpPr txBox="1"/>
          <p:nvPr/>
        </p:nvSpPr>
        <p:spPr>
          <a:xfrm>
            <a:off x="135550" y="21568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rPr>
              <a:t>Two approaches to be compared:</a:t>
            </a:r>
            <a:endParaRPr/>
          </a:p>
        </p:txBody>
      </p:sp>
      <p:sp>
        <p:nvSpPr>
          <p:cNvPr id="107" name="Google Shape;107;p17"/>
          <p:cNvSpPr txBox="1"/>
          <p:nvPr/>
        </p:nvSpPr>
        <p:spPr>
          <a:xfrm>
            <a:off x="4444950" y="3174875"/>
            <a:ext cx="4381500" cy="1262100"/>
          </a:xfrm>
          <a:prstGeom prst="rect">
            <a:avLst/>
          </a:prstGeom>
          <a:solidFill>
            <a:srgbClr val="D9EAD3"/>
          </a:solid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Char char="●"/>
            </a:pPr>
            <a:r>
              <a:rPr lang="en-GB">
                <a:solidFill>
                  <a:schemeClr val="dk1"/>
                </a:solidFill>
              </a:rPr>
              <a:t>Study the SN neutrinos emission model</a:t>
            </a:r>
            <a:endParaRPr>
              <a:solidFill>
                <a:schemeClr val="dk1"/>
              </a:solidFill>
            </a:endParaRPr>
          </a:p>
          <a:p>
            <a:pPr indent="0" lvl="0" marL="45720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Evaluation of the expected number of neutrino events using the model and different configurations of ARCA</a:t>
            </a:r>
            <a:endParaRPr/>
          </a:p>
        </p:txBody>
      </p:sp>
      <p:sp>
        <p:nvSpPr>
          <p:cNvPr id="108" name="Google Shape;108;p17"/>
          <p:cNvSpPr/>
          <p:nvPr/>
        </p:nvSpPr>
        <p:spPr>
          <a:xfrm>
            <a:off x="2934938" y="3589475"/>
            <a:ext cx="1373400" cy="432900"/>
          </a:xfrm>
          <a:prstGeom prst="rightArrow">
            <a:avLst>
              <a:gd fmla="val 50000" name="adj1"/>
              <a:gd fmla="val 52045" name="adj2"/>
            </a:avLst>
          </a:prstGeom>
          <a:solidFill>
            <a:srgbClr val="93C47D"/>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109" name="Google Shape;10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10" name="Google Shape;110;p17"/>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111" name="Google Shape;111;p17"/>
          <p:cNvSpPr txBox="1"/>
          <p:nvPr/>
        </p:nvSpPr>
        <p:spPr>
          <a:xfrm>
            <a:off x="2841750" y="4733725"/>
            <a:ext cx="5984700" cy="3231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rPr>
              <a:t>For the moment, we started investigating on the time dependent unbinned analysis…</a:t>
            </a:r>
            <a:endParaRPr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nvSpPr>
        <p:spPr>
          <a:xfrm>
            <a:off x="311700" y="994200"/>
            <a:ext cx="8520600" cy="99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In order to find an excess of 𝝂 from given SN positions and times, we chose to follow a time dependent point source likelihood method as described in  </a:t>
            </a:r>
            <a:endParaRPr>
              <a:solidFill>
                <a:schemeClr val="dk1"/>
              </a:solidFill>
            </a:endParaRPr>
          </a:p>
          <a:p>
            <a:pPr indent="0" lvl="0" marL="0" rtl="0" algn="l">
              <a:spcBef>
                <a:spcPts val="0"/>
              </a:spcBef>
              <a:spcAft>
                <a:spcPts val="0"/>
              </a:spcAft>
              <a:buNone/>
            </a:pPr>
            <a:br>
              <a:rPr lang="en-GB">
                <a:solidFill>
                  <a:schemeClr val="dk1"/>
                </a:solidFill>
              </a:rPr>
            </a:br>
            <a:r>
              <a:rPr lang="en-GB">
                <a:solidFill>
                  <a:schemeClr val="dk1"/>
                </a:solidFill>
              </a:rPr>
              <a:t>                       “</a:t>
            </a:r>
            <a:r>
              <a:rPr lang="en-GB" u="sng">
                <a:solidFill>
                  <a:schemeClr val="accent5"/>
                </a:solidFill>
                <a:hlinkClick r:id="rId3">
                  <a:extLst>
                    <a:ext uri="{A12FA001-AC4F-418D-AE19-62706E023703}">
                      <ahyp:hlinkClr val="tx"/>
                    </a:ext>
                  </a:extLst>
                </a:hlinkClick>
              </a:rPr>
              <a:t>Constraining High-Energy Neutrino Emission from Supernovae with IceCube</a:t>
            </a:r>
            <a:r>
              <a:rPr lang="en-GB">
                <a:solidFill>
                  <a:schemeClr val="dk1"/>
                </a:solidFill>
              </a:rPr>
              <a:t>”</a:t>
            </a:r>
            <a:endParaRPr>
              <a:solidFill>
                <a:schemeClr val="dk1"/>
              </a:solidFill>
            </a:endParaRPr>
          </a:p>
        </p:txBody>
      </p:sp>
      <p:sp>
        <p:nvSpPr>
          <p:cNvPr id="117" name="Google Shape;117;p18"/>
          <p:cNvSpPr txBox="1"/>
          <p:nvPr/>
        </p:nvSpPr>
        <p:spPr>
          <a:xfrm>
            <a:off x="1708625" y="3925850"/>
            <a:ext cx="571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a:solidFill>
                  <a:schemeClr val="dk1"/>
                </a:solidFill>
              </a:rPr>
              <a:t>Where S(𝝂) and B(𝝂) are PDF respectively for signal and background</a:t>
            </a:r>
            <a:endParaRPr>
              <a:solidFill>
                <a:schemeClr val="dk1"/>
              </a:solidFill>
            </a:endParaRPr>
          </a:p>
        </p:txBody>
      </p:sp>
      <p:pic>
        <p:nvPicPr>
          <p:cNvPr id="118" name="Google Shape;118;p18"/>
          <p:cNvPicPr preferRelativeResize="0"/>
          <p:nvPr/>
        </p:nvPicPr>
        <p:blipFill>
          <a:blip r:embed="rId4">
            <a:alphaModFix/>
          </a:blip>
          <a:stretch>
            <a:fillRect/>
          </a:stretch>
        </p:blipFill>
        <p:spPr>
          <a:xfrm>
            <a:off x="2588525" y="2789100"/>
            <a:ext cx="3966955" cy="995100"/>
          </a:xfrm>
          <a:prstGeom prst="rect">
            <a:avLst/>
          </a:prstGeom>
          <a:noFill/>
          <a:ln cap="flat" cmpd="sng" w="9525">
            <a:solidFill>
              <a:schemeClr val="dk1"/>
            </a:solidFill>
            <a:prstDash val="solid"/>
            <a:round/>
            <a:headEnd len="sm" w="sm" type="none"/>
            <a:tailEnd len="sm" w="sm" type="none"/>
          </a:ln>
        </p:spPr>
      </p:pic>
      <p:sp>
        <p:nvSpPr>
          <p:cNvPr id="119" name="Google Shape;119;p18"/>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120" name="Google Shape;120;p18"/>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9933FF"/>
                </a:solidFill>
              </a:rPr>
              <a:t>Time dependent Unbinned Likelihood using AANET</a:t>
            </a:r>
            <a:endParaRPr>
              <a:solidFill>
                <a:srgbClr val="9933FF"/>
              </a:solidFill>
            </a:endParaRPr>
          </a:p>
        </p:txBody>
      </p:sp>
      <p:sp>
        <p:nvSpPr>
          <p:cNvPr id="121" name="Google Shape;121;p18"/>
          <p:cNvSpPr txBox="1"/>
          <p:nvPr/>
        </p:nvSpPr>
        <p:spPr>
          <a:xfrm>
            <a:off x="2588600" y="2324350"/>
            <a:ext cx="3966900" cy="323100"/>
          </a:xfrm>
          <a:prstGeom prst="rect">
            <a:avLst/>
          </a:prstGeom>
          <a:solidFill>
            <a:srgbClr val="D9EAD3"/>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a:solidFill>
                  <a:schemeClr val="dk1"/>
                </a:solidFill>
              </a:rPr>
              <a:t>The Likelihood function is given by</a:t>
            </a:r>
            <a:endParaRPr b="1">
              <a:solidFill>
                <a:schemeClr val="dk1"/>
              </a:solidFill>
            </a:endParaRPr>
          </a:p>
        </p:txBody>
      </p:sp>
      <p:sp>
        <p:nvSpPr>
          <p:cNvPr id="122" name="Google Shape;122;p18"/>
          <p:cNvSpPr txBox="1"/>
          <p:nvPr>
            <p:ph idx="12" type="sldNum"/>
          </p:nvPr>
        </p:nvSpPr>
        <p:spPr>
          <a:xfrm>
            <a:off x="86429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nvSpPr>
        <p:spPr>
          <a:xfrm>
            <a:off x="2197438" y="2705725"/>
            <a:ext cx="1350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GB" sz="900">
                <a:solidFill>
                  <a:schemeClr val="dk1"/>
                </a:solidFill>
              </a:rPr>
              <a:t>Expected neutrino energy spectrum</a:t>
            </a:r>
            <a:endParaRPr>
              <a:solidFill>
                <a:schemeClr val="dk1"/>
              </a:solidFill>
            </a:endParaRPr>
          </a:p>
        </p:txBody>
      </p:sp>
      <p:sp>
        <p:nvSpPr>
          <p:cNvPr id="128" name="Google Shape;128;p19"/>
          <p:cNvSpPr txBox="1"/>
          <p:nvPr/>
        </p:nvSpPr>
        <p:spPr>
          <a:xfrm>
            <a:off x="909400" y="2705725"/>
            <a:ext cx="1350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1"/>
                </a:solidFill>
              </a:rPr>
              <a:t>Spatial term </a:t>
            </a:r>
            <a:endParaRPr sz="900">
              <a:solidFill>
                <a:schemeClr val="dk1"/>
              </a:solidFill>
            </a:endParaRPr>
          </a:p>
          <a:p>
            <a:pPr indent="0" lvl="0" marL="0" rtl="0" algn="ctr">
              <a:spcBef>
                <a:spcPts val="0"/>
              </a:spcBef>
              <a:spcAft>
                <a:spcPts val="0"/>
              </a:spcAft>
              <a:buNone/>
            </a:pPr>
            <a:r>
              <a:rPr lang="en-GB" sz="900">
                <a:solidFill>
                  <a:schemeClr val="dk1"/>
                </a:solidFill>
              </a:rPr>
              <a:t>(2D Gauss)</a:t>
            </a:r>
            <a:endParaRPr sz="900">
              <a:solidFill>
                <a:schemeClr val="dk1"/>
              </a:solidFill>
            </a:endParaRPr>
          </a:p>
        </p:txBody>
      </p:sp>
      <p:sp>
        <p:nvSpPr>
          <p:cNvPr id="129" name="Google Shape;129;p19"/>
          <p:cNvSpPr txBox="1"/>
          <p:nvPr/>
        </p:nvSpPr>
        <p:spPr>
          <a:xfrm>
            <a:off x="3821150" y="2705725"/>
            <a:ext cx="832200" cy="461700"/>
          </a:xfrm>
          <a:prstGeom prst="rect">
            <a:avLst/>
          </a:prstGeom>
          <a:solidFill>
            <a:srgbClr val="D0E0E3"/>
          </a:solidFill>
          <a:ln cap="flat" cmpd="sng" w="28575">
            <a:solidFill>
              <a:srgbClr val="9933F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GB" sz="900">
                <a:solidFill>
                  <a:schemeClr val="dk1"/>
                </a:solidFill>
              </a:rPr>
              <a:t>Time term </a:t>
            </a:r>
            <a:endParaRPr sz="900">
              <a:solidFill>
                <a:schemeClr val="dk1"/>
              </a:solidFill>
            </a:endParaRPr>
          </a:p>
          <a:p>
            <a:pPr indent="0" lvl="0" marL="0" rtl="0" algn="ctr">
              <a:spcBef>
                <a:spcPts val="0"/>
              </a:spcBef>
              <a:spcAft>
                <a:spcPts val="0"/>
              </a:spcAft>
              <a:buNone/>
            </a:pPr>
            <a:r>
              <a:rPr lang="en-GB" sz="900">
                <a:solidFill>
                  <a:schemeClr val="dk1"/>
                </a:solidFill>
              </a:rPr>
              <a:t>(light curve)</a:t>
            </a:r>
            <a:endParaRPr>
              <a:solidFill>
                <a:schemeClr val="dk1"/>
              </a:solidFill>
            </a:endParaRPr>
          </a:p>
        </p:txBody>
      </p:sp>
      <p:sp>
        <p:nvSpPr>
          <p:cNvPr id="130" name="Google Shape;130;p19"/>
          <p:cNvSpPr txBox="1"/>
          <p:nvPr/>
        </p:nvSpPr>
        <p:spPr>
          <a:xfrm>
            <a:off x="3060225" y="4750875"/>
            <a:ext cx="5858400" cy="32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rgbClr val="9900FF"/>
                </a:solidFill>
              </a:rPr>
              <a:t>Meriem is working on implementing this term in the Unbinned Likelihood framework</a:t>
            </a:r>
            <a:endParaRPr sz="1200">
              <a:solidFill>
                <a:srgbClr val="9900FF"/>
              </a:solidFill>
            </a:endParaRPr>
          </a:p>
        </p:txBody>
      </p:sp>
      <p:pic>
        <p:nvPicPr>
          <p:cNvPr id="131" name="Google Shape;131;p19"/>
          <p:cNvPicPr preferRelativeResize="0"/>
          <p:nvPr/>
        </p:nvPicPr>
        <p:blipFill>
          <a:blip r:embed="rId3">
            <a:alphaModFix/>
          </a:blip>
          <a:stretch>
            <a:fillRect/>
          </a:stretch>
        </p:blipFill>
        <p:spPr>
          <a:xfrm>
            <a:off x="911225" y="1392750"/>
            <a:ext cx="3878272" cy="995100"/>
          </a:xfrm>
          <a:prstGeom prst="rect">
            <a:avLst/>
          </a:prstGeom>
          <a:noFill/>
          <a:ln cap="flat" cmpd="sng" w="9525">
            <a:solidFill>
              <a:schemeClr val="dk1"/>
            </a:solidFill>
            <a:prstDash val="solid"/>
            <a:round/>
            <a:headEnd len="sm" w="sm" type="none"/>
            <a:tailEnd len="sm" w="sm" type="none"/>
          </a:ln>
        </p:spPr>
      </p:pic>
      <p:sp>
        <p:nvSpPr>
          <p:cNvPr id="132" name="Google Shape;132;p19"/>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33" name="Google Shape;133;p19"/>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134" name="Google Shape;134;p19"/>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9933FF"/>
                </a:solidFill>
              </a:rPr>
              <a:t>Time dependent Unbinned Likelihood using AANET</a:t>
            </a:r>
            <a:endParaRPr>
              <a:solidFill>
                <a:srgbClr val="9933FF"/>
              </a:solidFill>
            </a:endParaRPr>
          </a:p>
        </p:txBody>
      </p:sp>
      <p:cxnSp>
        <p:nvCxnSpPr>
          <p:cNvPr id="135" name="Google Shape;135;p19"/>
          <p:cNvCxnSpPr/>
          <p:nvPr/>
        </p:nvCxnSpPr>
        <p:spPr>
          <a:xfrm flipH="1">
            <a:off x="2948638" y="2167825"/>
            <a:ext cx="26400" cy="537900"/>
          </a:xfrm>
          <a:prstGeom prst="straightConnector1">
            <a:avLst/>
          </a:prstGeom>
          <a:noFill/>
          <a:ln cap="flat" cmpd="sng" w="28575">
            <a:solidFill>
              <a:srgbClr val="9933FF"/>
            </a:solidFill>
            <a:prstDash val="solid"/>
            <a:round/>
            <a:headEnd len="med" w="med" type="none"/>
            <a:tailEnd len="med" w="med" type="triangle"/>
          </a:ln>
        </p:spPr>
      </p:cxnSp>
      <p:cxnSp>
        <p:nvCxnSpPr>
          <p:cNvPr id="136" name="Google Shape;136;p19"/>
          <p:cNvCxnSpPr/>
          <p:nvPr/>
        </p:nvCxnSpPr>
        <p:spPr>
          <a:xfrm flipH="1">
            <a:off x="1687450" y="2147850"/>
            <a:ext cx="459300" cy="541800"/>
          </a:xfrm>
          <a:prstGeom prst="straightConnector1">
            <a:avLst/>
          </a:prstGeom>
          <a:noFill/>
          <a:ln cap="flat" cmpd="sng" w="28575">
            <a:solidFill>
              <a:srgbClr val="9933FF"/>
            </a:solidFill>
            <a:prstDash val="solid"/>
            <a:round/>
            <a:headEnd len="med" w="med" type="none"/>
            <a:tailEnd len="med" w="med" type="triangle"/>
          </a:ln>
        </p:spPr>
      </p:cxnSp>
      <p:cxnSp>
        <p:nvCxnSpPr>
          <p:cNvPr id="137" name="Google Shape;137;p19"/>
          <p:cNvCxnSpPr>
            <a:endCxn id="129" idx="0"/>
          </p:cNvCxnSpPr>
          <p:nvPr/>
        </p:nvCxnSpPr>
        <p:spPr>
          <a:xfrm flipH="1">
            <a:off x="4237250" y="2166025"/>
            <a:ext cx="84900" cy="539700"/>
          </a:xfrm>
          <a:prstGeom prst="straightConnector1">
            <a:avLst/>
          </a:prstGeom>
          <a:noFill/>
          <a:ln cap="flat" cmpd="sng" w="28575">
            <a:solidFill>
              <a:srgbClr val="9933FF"/>
            </a:solidFill>
            <a:prstDash val="solid"/>
            <a:round/>
            <a:headEnd len="med" w="med" type="none"/>
            <a:tailEnd len="med" w="med" type="triangle"/>
          </a:ln>
        </p:spPr>
      </p:cxnSp>
      <p:sp>
        <p:nvSpPr>
          <p:cNvPr id="138" name="Google Shape;138;p19"/>
          <p:cNvSpPr/>
          <p:nvPr/>
        </p:nvSpPr>
        <p:spPr>
          <a:xfrm>
            <a:off x="152408" y="1673850"/>
            <a:ext cx="900300" cy="432900"/>
          </a:xfrm>
          <a:prstGeom prst="rightArrow">
            <a:avLst>
              <a:gd fmla="val 50000" name="adj1"/>
              <a:gd fmla="val 52045" name="adj2"/>
            </a:avLst>
          </a:prstGeom>
          <a:solidFill>
            <a:srgbClr val="D9EAD3"/>
          </a:solidFill>
          <a:ln cap="flat" cmpd="sng" w="9525">
            <a:solidFill>
              <a:srgbClr val="D9EAD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p>
        </p:txBody>
      </p:sp>
      <p:sp>
        <p:nvSpPr>
          <p:cNvPr id="139" name="Google Shape;139;p19"/>
          <p:cNvSpPr txBox="1"/>
          <p:nvPr/>
        </p:nvSpPr>
        <p:spPr>
          <a:xfrm>
            <a:off x="432100" y="861500"/>
            <a:ext cx="5059500" cy="4002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rPr>
              <a:t>The signal PDF (same for BKG PDF) is a product of 3 terms</a:t>
            </a:r>
            <a:endParaRPr/>
          </a:p>
        </p:txBody>
      </p:sp>
      <p:sp>
        <p:nvSpPr>
          <p:cNvPr id="140" name="Google Shape;140;p19"/>
          <p:cNvSpPr txBox="1"/>
          <p:nvPr/>
        </p:nvSpPr>
        <p:spPr>
          <a:xfrm>
            <a:off x="5030725" y="1428600"/>
            <a:ext cx="38343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solidFill>
                  <a:schemeClr val="dk1"/>
                </a:solidFill>
              </a:rPr>
              <a:t>T</a:t>
            </a:r>
            <a:r>
              <a:rPr lang="en-GB" sz="1200">
                <a:solidFill>
                  <a:schemeClr val="dk1"/>
                </a:solidFill>
              </a:rPr>
              <a:t>he signal time PDF </a:t>
            </a:r>
            <a:r>
              <a:rPr i="1" lang="en-GB" sz="1200">
                <a:solidFill>
                  <a:schemeClr val="dk1"/>
                </a:solidFill>
              </a:rPr>
              <a:t>Ts</a:t>
            </a:r>
            <a:r>
              <a:rPr lang="en-GB" sz="1200">
                <a:solidFill>
                  <a:schemeClr val="dk1"/>
                </a:solidFill>
              </a:rPr>
              <a:t> corresponds to the expected neutrino flux as a function of time (light curve); the bkg time PDF </a:t>
            </a:r>
            <a:r>
              <a:rPr i="1" lang="en-GB" sz="1200">
                <a:solidFill>
                  <a:schemeClr val="dk1"/>
                </a:solidFill>
              </a:rPr>
              <a:t>Tb</a:t>
            </a:r>
            <a:r>
              <a:rPr lang="en-GB" sz="1200">
                <a:solidFill>
                  <a:schemeClr val="dk1"/>
                </a:solidFill>
              </a:rPr>
              <a:t> assumes a constant background rate.</a:t>
            </a:r>
            <a:endParaRPr sz="1200">
              <a:solidFill>
                <a:schemeClr val="dk1"/>
              </a:solidFill>
            </a:endParaRPr>
          </a:p>
        </p:txBody>
      </p:sp>
      <p:sp>
        <p:nvSpPr>
          <p:cNvPr id="141" name="Google Shape;141;p19"/>
          <p:cNvSpPr txBox="1"/>
          <p:nvPr/>
        </p:nvSpPr>
        <p:spPr>
          <a:xfrm>
            <a:off x="637924" y="3328100"/>
            <a:ext cx="8188500" cy="12621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rPr>
              <a:t>Longer neutrino emission would be expected under the scenario of CSM interaction: it would be necessary to test all SN types with box function PDFs of different </a:t>
            </a:r>
            <a:r>
              <a:rPr lang="en-GB">
                <a:solidFill>
                  <a:schemeClr val="dk1"/>
                </a:solidFill>
              </a:rPr>
              <a:t>lengths</a:t>
            </a:r>
            <a:r>
              <a:rPr lang="en-GB">
                <a:solidFill>
                  <a:schemeClr val="dk1"/>
                </a:solidFill>
              </a:rPr>
              <a:t>, up to 1000 days possibly.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SNe IIn and IIP light curves are going to be tested with the formula: </a:t>
            </a:r>
            <a:endParaRPr>
              <a:solidFill>
                <a:schemeClr val="dk1"/>
              </a:solidFill>
            </a:endParaRPr>
          </a:p>
        </p:txBody>
      </p:sp>
      <p:pic>
        <p:nvPicPr>
          <p:cNvPr id="142" name="Google Shape;142;p19"/>
          <p:cNvPicPr preferRelativeResize="0"/>
          <p:nvPr/>
        </p:nvPicPr>
        <p:blipFill>
          <a:blip r:embed="rId4">
            <a:alphaModFix/>
          </a:blip>
          <a:stretch>
            <a:fillRect/>
          </a:stretch>
        </p:blipFill>
        <p:spPr>
          <a:xfrm>
            <a:off x="6725700" y="4017313"/>
            <a:ext cx="2326800" cy="567159"/>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nvSpPr>
        <p:spPr>
          <a:xfrm>
            <a:off x="305825" y="803650"/>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chemeClr val="dk1"/>
                </a:solidFill>
              </a:rPr>
              <a:t>We started focusing on H-E neutrinos from CSM interaction production mechanism:</a:t>
            </a:r>
            <a:endParaRPr>
              <a:solidFill>
                <a:schemeClr val="dk1"/>
              </a:solidFill>
            </a:endParaRPr>
          </a:p>
        </p:txBody>
      </p:sp>
      <p:sp>
        <p:nvSpPr>
          <p:cNvPr id="148" name="Google Shape;148;p20"/>
          <p:cNvSpPr txBox="1"/>
          <p:nvPr>
            <p:ph idx="1" type="body"/>
          </p:nvPr>
        </p:nvSpPr>
        <p:spPr>
          <a:xfrm>
            <a:off x="225075" y="1317175"/>
            <a:ext cx="4367700" cy="1377000"/>
          </a:xfrm>
          <a:prstGeom prst="rect">
            <a:avLst/>
          </a:prstGeom>
          <a:solidFill>
            <a:srgbClr val="D0E0E3"/>
          </a:solidFill>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9933FF"/>
                </a:solidFill>
              </a:rPr>
              <a:t>1) </a:t>
            </a:r>
            <a:r>
              <a:rPr b="1" lang="en-GB">
                <a:solidFill>
                  <a:srgbClr val="9933FF"/>
                </a:solidFill>
              </a:rPr>
              <a:t>Model:</a:t>
            </a:r>
            <a:endParaRPr b="1">
              <a:solidFill>
                <a:srgbClr val="9933FF"/>
              </a:solidFill>
            </a:endParaRPr>
          </a:p>
          <a:p>
            <a:pPr indent="0" lvl="0" marL="0" rtl="0" algn="l">
              <a:spcBef>
                <a:spcPts val="1200"/>
              </a:spcBef>
              <a:spcAft>
                <a:spcPts val="0"/>
              </a:spcAft>
              <a:buNone/>
            </a:pPr>
            <a:r>
              <a:rPr lang="en-GB">
                <a:solidFill>
                  <a:schemeClr val="dk1"/>
                </a:solidFill>
              </a:rPr>
              <a:t>The model used for our studies is the one described in the Murase’s works ([</a:t>
            </a:r>
            <a:r>
              <a:rPr lang="en-GB" u="sng">
                <a:solidFill>
                  <a:schemeClr val="accent5"/>
                </a:solidFill>
                <a:hlinkClick r:id="rId3">
                  <a:extLst>
                    <a:ext uri="{A12FA001-AC4F-418D-AE19-62706E023703}">
                      <ahyp:hlinkClr val="tx"/>
                    </a:ext>
                  </a:extLst>
                </a:hlinkClick>
              </a:rPr>
              <a:t>1</a:t>
            </a:r>
            <a:r>
              <a:rPr lang="en-GB">
                <a:solidFill>
                  <a:schemeClr val="dk1"/>
                </a:solidFill>
              </a:rPr>
              <a:t>], [</a:t>
            </a:r>
            <a:r>
              <a:rPr lang="en-GB" u="sng">
                <a:solidFill>
                  <a:schemeClr val="accent5"/>
                </a:solidFill>
                <a:hlinkClick r:id="rId4">
                  <a:extLst>
                    <a:ext uri="{A12FA001-AC4F-418D-AE19-62706E023703}">
                      <ahyp:hlinkClr val="tx"/>
                    </a:ext>
                  </a:extLst>
                </a:hlinkClick>
              </a:rPr>
              <a:t>2</a:t>
            </a:r>
            <a:r>
              <a:rPr lang="en-GB">
                <a:solidFill>
                  <a:schemeClr val="dk1"/>
                </a:solidFill>
              </a:rPr>
              <a:t>])</a:t>
            </a:r>
            <a:endParaRPr>
              <a:solidFill>
                <a:schemeClr val="dk1"/>
              </a:solidFill>
            </a:endParaRPr>
          </a:p>
          <a:p>
            <a:pPr indent="0" lvl="0" marL="0" rtl="0" algn="l">
              <a:spcBef>
                <a:spcPts val="1200"/>
              </a:spcBef>
              <a:spcAft>
                <a:spcPts val="0"/>
              </a:spcAft>
              <a:buNone/>
            </a:pPr>
            <a:r>
              <a:rPr lang="en-GB">
                <a:solidFill>
                  <a:schemeClr val="dk1"/>
                </a:solidFill>
              </a:rPr>
              <a:t>The neutrino energy </a:t>
            </a:r>
            <a:r>
              <a:rPr lang="en-GB">
                <a:solidFill>
                  <a:schemeClr val="dk1"/>
                </a:solidFill>
              </a:rPr>
              <a:t>fluence</a:t>
            </a:r>
            <a:r>
              <a:rPr lang="en-GB">
                <a:solidFill>
                  <a:schemeClr val="dk1"/>
                </a:solidFill>
              </a:rPr>
              <a:t> is described as follows:</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149" name="Google Shape;149;p20"/>
          <p:cNvSpPr txBox="1"/>
          <p:nvPr>
            <p:ph idx="2" type="body"/>
          </p:nvPr>
        </p:nvSpPr>
        <p:spPr>
          <a:xfrm>
            <a:off x="4960125" y="1317175"/>
            <a:ext cx="3999900" cy="2843700"/>
          </a:xfrm>
          <a:prstGeom prst="rect">
            <a:avLst/>
          </a:prstGeom>
          <a:solidFill>
            <a:srgbClr val="D0E0E3"/>
          </a:solidFill>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9933FF"/>
                </a:solidFill>
              </a:rPr>
              <a:t>2) </a:t>
            </a:r>
            <a:r>
              <a:rPr b="1" lang="en-GB">
                <a:solidFill>
                  <a:srgbClr val="9933FF"/>
                </a:solidFill>
              </a:rPr>
              <a:t>Sources catalogue:</a:t>
            </a:r>
            <a:endParaRPr b="1">
              <a:solidFill>
                <a:srgbClr val="9933FF"/>
              </a:solidFill>
            </a:endParaRPr>
          </a:p>
          <a:p>
            <a:pPr indent="0" lvl="0" marL="0" rtl="0" algn="l">
              <a:spcBef>
                <a:spcPts val="1200"/>
              </a:spcBef>
              <a:spcAft>
                <a:spcPts val="0"/>
              </a:spcAft>
              <a:buNone/>
            </a:pPr>
            <a:r>
              <a:rPr lang="en-GB">
                <a:solidFill>
                  <a:schemeClr val="dk1"/>
                </a:solidFill>
              </a:rPr>
              <a:t>Producing the catalogue consists of</a:t>
            </a:r>
            <a:endParaRPr>
              <a:solidFill>
                <a:schemeClr val="dk1"/>
              </a:solidFill>
            </a:endParaRPr>
          </a:p>
          <a:p>
            <a:pPr indent="-317500" lvl="0" marL="457200" rtl="0" algn="l">
              <a:spcBef>
                <a:spcPts val="1200"/>
              </a:spcBef>
              <a:spcAft>
                <a:spcPts val="0"/>
              </a:spcAft>
              <a:buClr>
                <a:schemeClr val="dk1"/>
              </a:buClr>
              <a:buSzPts val="1400"/>
              <a:buChar char="➢"/>
            </a:pPr>
            <a:r>
              <a:rPr lang="en-GB">
                <a:solidFill>
                  <a:schemeClr val="dk1"/>
                </a:solidFill>
              </a:rPr>
              <a:t>selecting SNe Type II (IIn or IIP);</a:t>
            </a:r>
            <a:br>
              <a:rPr lang="en-GB">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choosing the sources according to the life time of ARCA (from ARCA6 to ARCA21);</a:t>
            </a:r>
            <a:br>
              <a:rPr lang="en-GB">
                <a:solidFill>
                  <a:schemeClr val="dk1"/>
                </a:solidFill>
              </a:rPr>
            </a:br>
            <a:endParaRPr>
              <a:solidFill>
                <a:schemeClr val="dk1"/>
              </a:solidFill>
            </a:endParaRPr>
          </a:p>
          <a:p>
            <a:pPr indent="-317500" lvl="0" marL="457200" rtl="0" algn="l">
              <a:spcBef>
                <a:spcPts val="0"/>
              </a:spcBef>
              <a:spcAft>
                <a:spcPts val="0"/>
              </a:spcAft>
              <a:buClr>
                <a:schemeClr val="dk1"/>
              </a:buClr>
              <a:buSzPts val="1400"/>
              <a:buChar char="➢"/>
            </a:pPr>
            <a:r>
              <a:rPr lang="en-GB">
                <a:solidFill>
                  <a:schemeClr val="dk1"/>
                </a:solidFill>
              </a:rPr>
              <a:t>selecting the declinations in the range from -90° to 40° (according to KM3NeT field of view)</a:t>
            </a:r>
            <a:br>
              <a:rPr lang="en-GB">
                <a:solidFill>
                  <a:schemeClr val="dk1"/>
                </a:solidFill>
              </a:rPr>
            </a:br>
            <a:endParaRPr>
              <a:solidFill>
                <a:schemeClr val="dk1"/>
              </a:solidFill>
            </a:endParaRPr>
          </a:p>
          <a:p>
            <a:pPr indent="0" lvl="0" marL="457200" rtl="0" algn="l">
              <a:spcBef>
                <a:spcPts val="1200"/>
              </a:spcBef>
              <a:spcAft>
                <a:spcPts val="1200"/>
              </a:spcAft>
              <a:buNone/>
            </a:pPr>
            <a:r>
              <a:t/>
            </a:r>
            <a:endParaRPr>
              <a:solidFill>
                <a:schemeClr val="dk1"/>
              </a:solidFill>
            </a:endParaRPr>
          </a:p>
        </p:txBody>
      </p:sp>
      <p:pic>
        <p:nvPicPr>
          <p:cNvPr id="150" name="Google Shape;150;p20"/>
          <p:cNvPicPr preferRelativeResize="0"/>
          <p:nvPr/>
        </p:nvPicPr>
        <p:blipFill>
          <a:blip r:embed="rId5">
            <a:alphaModFix/>
          </a:blip>
          <a:stretch>
            <a:fillRect/>
          </a:stretch>
        </p:blipFill>
        <p:spPr>
          <a:xfrm>
            <a:off x="132150" y="3339700"/>
            <a:ext cx="4259499" cy="668275"/>
          </a:xfrm>
          <a:prstGeom prst="rect">
            <a:avLst/>
          </a:prstGeom>
          <a:noFill/>
          <a:ln cap="flat" cmpd="sng" w="9525">
            <a:solidFill>
              <a:schemeClr val="dk1"/>
            </a:solidFill>
            <a:prstDash val="solid"/>
            <a:round/>
            <a:headEnd len="sm" w="sm" type="none"/>
            <a:tailEnd len="sm" w="sm" type="none"/>
          </a:ln>
        </p:spPr>
      </p:pic>
      <p:cxnSp>
        <p:nvCxnSpPr>
          <p:cNvPr id="151" name="Google Shape;151;p20"/>
          <p:cNvCxnSpPr/>
          <p:nvPr/>
        </p:nvCxnSpPr>
        <p:spPr>
          <a:xfrm>
            <a:off x="1998000" y="4160950"/>
            <a:ext cx="0" cy="394500"/>
          </a:xfrm>
          <a:prstGeom prst="straightConnector1">
            <a:avLst/>
          </a:prstGeom>
          <a:noFill/>
          <a:ln cap="flat" cmpd="sng" w="28575">
            <a:solidFill>
              <a:srgbClr val="9933FF"/>
            </a:solidFill>
            <a:prstDash val="solid"/>
            <a:round/>
            <a:headEnd len="med" w="med" type="none"/>
            <a:tailEnd len="med" w="med" type="stealth"/>
          </a:ln>
        </p:spPr>
      </p:cxnSp>
      <p:sp>
        <p:nvSpPr>
          <p:cNvPr id="152" name="Google Shape;152;p20"/>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53" name="Google Shape;153;p20"/>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154" name="Google Shape;154;p20"/>
          <p:cNvSpPr txBox="1"/>
          <p:nvPr/>
        </p:nvSpPr>
        <p:spPr>
          <a:xfrm rot="5400000">
            <a:off x="1939525" y="3458800"/>
            <a:ext cx="200400" cy="81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100">
                <a:solidFill>
                  <a:srgbClr val="9933FF"/>
                </a:solidFill>
              </a:rPr>
              <a:t>}</a:t>
            </a:r>
            <a:endParaRPr sz="4100">
              <a:solidFill>
                <a:srgbClr val="9933FF"/>
              </a:solidFill>
            </a:endParaRPr>
          </a:p>
        </p:txBody>
      </p:sp>
      <p:cxnSp>
        <p:nvCxnSpPr>
          <p:cNvPr id="155" name="Google Shape;155;p20"/>
          <p:cNvCxnSpPr/>
          <p:nvPr/>
        </p:nvCxnSpPr>
        <p:spPr>
          <a:xfrm flipH="1" rot="-1770690">
            <a:off x="2898747" y="3935772"/>
            <a:ext cx="18270" cy="529846"/>
          </a:xfrm>
          <a:prstGeom prst="straightConnector1">
            <a:avLst/>
          </a:prstGeom>
          <a:noFill/>
          <a:ln cap="flat" cmpd="sng" w="28575">
            <a:solidFill>
              <a:srgbClr val="9933FF"/>
            </a:solidFill>
            <a:prstDash val="solid"/>
            <a:round/>
            <a:headEnd len="med" w="med" type="none"/>
            <a:tailEnd len="med" w="med" type="stealth"/>
          </a:ln>
        </p:spPr>
      </p:cxnSp>
      <p:cxnSp>
        <p:nvCxnSpPr>
          <p:cNvPr id="156" name="Google Shape;156;p20"/>
          <p:cNvCxnSpPr/>
          <p:nvPr/>
        </p:nvCxnSpPr>
        <p:spPr>
          <a:xfrm flipH="1" rot="10800000">
            <a:off x="2872263" y="3042349"/>
            <a:ext cx="427500" cy="425400"/>
          </a:xfrm>
          <a:prstGeom prst="straightConnector1">
            <a:avLst/>
          </a:prstGeom>
          <a:noFill/>
          <a:ln cap="flat" cmpd="sng" w="28575">
            <a:solidFill>
              <a:srgbClr val="9933FF"/>
            </a:solidFill>
            <a:prstDash val="solid"/>
            <a:round/>
            <a:headEnd len="med" w="med" type="none"/>
            <a:tailEnd len="med" w="med" type="stealth"/>
          </a:ln>
        </p:spPr>
      </p:cxnSp>
      <p:cxnSp>
        <p:nvCxnSpPr>
          <p:cNvPr id="157" name="Google Shape;157;p20"/>
          <p:cNvCxnSpPr/>
          <p:nvPr/>
        </p:nvCxnSpPr>
        <p:spPr>
          <a:xfrm rot="10800000">
            <a:off x="2158300" y="3118450"/>
            <a:ext cx="361800" cy="366000"/>
          </a:xfrm>
          <a:prstGeom prst="straightConnector1">
            <a:avLst/>
          </a:prstGeom>
          <a:noFill/>
          <a:ln cap="flat" cmpd="sng" w="28575">
            <a:solidFill>
              <a:srgbClr val="9933FF"/>
            </a:solidFill>
            <a:prstDash val="solid"/>
            <a:round/>
            <a:headEnd len="med" w="med" type="none"/>
            <a:tailEnd len="med" w="med" type="stealth"/>
          </a:ln>
        </p:spPr>
      </p:cxnSp>
      <p:sp>
        <p:nvSpPr>
          <p:cNvPr id="158" name="Google Shape;158;p20"/>
          <p:cNvSpPr txBox="1"/>
          <p:nvPr/>
        </p:nvSpPr>
        <p:spPr>
          <a:xfrm>
            <a:off x="1230400" y="4588575"/>
            <a:ext cx="1493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chemeClr val="dk2"/>
                </a:solidFill>
              </a:rPr>
              <a:t>p</a:t>
            </a:r>
            <a:r>
              <a:rPr lang="en-GB" sz="1000">
                <a:solidFill>
                  <a:schemeClr val="dk2"/>
                </a:solidFill>
              </a:rPr>
              <a:t>p optical depth</a:t>
            </a:r>
            <a:endParaRPr sz="1000">
              <a:solidFill>
                <a:schemeClr val="dk2"/>
              </a:solidFill>
            </a:endParaRPr>
          </a:p>
        </p:txBody>
      </p:sp>
      <p:sp>
        <p:nvSpPr>
          <p:cNvPr id="159" name="Google Shape;159;p20"/>
          <p:cNvSpPr txBox="1"/>
          <p:nvPr/>
        </p:nvSpPr>
        <p:spPr>
          <a:xfrm>
            <a:off x="3617100" y="4846900"/>
            <a:ext cx="90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60" name="Google Shape;160;p20"/>
          <p:cNvSpPr txBox="1"/>
          <p:nvPr/>
        </p:nvSpPr>
        <p:spPr>
          <a:xfrm>
            <a:off x="1522950" y="2694125"/>
            <a:ext cx="12900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chemeClr val="dk2"/>
                </a:solidFill>
              </a:rPr>
              <a:t>Fraction of energy carried by CR</a:t>
            </a:r>
            <a:endParaRPr sz="1000">
              <a:solidFill>
                <a:schemeClr val="dk2"/>
              </a:solidFill>
            </a:endParaRPr>
          </a:p>
        </p:txBody>
      </p:sp>
      <p:sp>
        <p:nvSpPr>
          <p:cNvPr id="161" name="Google Shape;161;p20"/>
          <p:cNvSpPr txBox="1"/>
          <p:nvPr/>
        </p:nvSpPr>
        <p:spPr>
          <a:xfrm>
            <a:off x="4960125" y="4846900"/>
            <a:ext cx="6944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62" name="Google Shape;162;p20"/>
          <p:cNvSpPr txBox="1"/>
          <p:nvPr/>
        </p:nvSpPr>
        <p:spPr>
          <a:xfrm>
            <a:off x="3000000" y="2771075"/>
            <a:ext cx="1863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dk2"/>
                </a:solidFill>
              </a:rPr>
              <a:t>Spectrum dependent factor</a:t>
            </a:r>
            <a:endParaRPr sz="1000">
              <a:solidFill>
                <a:schemeClr val="dk2"/>
              </a:solidFill>
            </a:endParaRPr>
          </a:p>
        </p:txBody>
      </p:sp>
      <p:sp>
        <p:nvSpPr>
          <p:cNvPr id="163" name="Google Shape;163;p20"/>
          <p:cNvSpPr txBox="1"/>
          <p:nvPr/>
        </p:nvSpPr>
        <p:spPr>
          <a:xfrm>
            <a:off x="2527850" y="4434550"/>
            <a:ext cx="1863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000">
                <a:solidFill>
                  <a:schemeClr val="dk2"/>
                </a:solidFill>
              </a:rPr>
              <a:t>Spectrum dependent factor</a:t>
            </a:r>
            <a:endParaRPr sz="1000">
              <a:solidFill>
                <a:schemeClr val="dk2"/>
              </a:solidFill>
            </a:endParaRPr>
          </a:p>
        </p:txBody>
      </p:sp>
      <p:sp>
        <p:nvSpPr>
          <p:cNvPr id="164" name="Google Shape;164;p20"/>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solidFill>
                  <a:srgbClr val="9933FF"/>
                </a:solidFill>
              </a:rPr>
              <a:t>Preliminary studies</a:t>
            </a:r>
            <a:endParaRPr i="1">
              <a:solidFill>
                <a:srgbClr val="9933FF"/>
              </a:solidFill>
            </a:endParaRPr>
          </a:p>
        </p:txBody>
      </p:sp>
      <p:cxnSp>
        <p:nvCxnSpPr>
          <p:cNvPr id="165" name="Google Shape;165;p20"/>
          <p:cNvCxnSpPr/>
          <p:nvPr/>
        </p:nvCxnSpPr>
        <p:spPr>
          <a:xfrm>
            <a:off x="4222575" y="3593850"/>
            <a:ext cx="217800" cy="420900"/>
          </a:xfrm>
          <a:prstGeom prst="straightConnector1">
            <a:avLst/>
          </a:prstGeom>
          <a:noFill/>
          <a:ln cap="flat" cmpd="sng" w="28575">
            <a:solidFill>
              <a:srgbClr val="9933FF"/>
            </a:solidFill>
            <a:prstDash val="solid"/>
            <a:round/>
            <a:headEnd len="med" w="med" type="none"/>
            <a:tailEnd len="med" w="med" type="stealth"/>
          </a:ln>
        </p:spPr>
      </p:cxnSp>
      <p:sp>
        <p:nvSpPr>
          <p:cNvPr id="166" name="Google Shape;166;p20"/>
          <p:cNvSpPr txBox="1"/>
          <p:nvPr/>
        </p:nvSpPr>
        <p:spPr>
          <a:xfrm>
            <a:off x="4030675" y="3942993"/>
            <a:ext cx="1082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000">
                <a:solidFill>
                  <a:schemeClr val="dk2"/>
                </a:solidFill>
              </a:rPr>
              <a:t>Proton momentum index</a:t>
            </a:r>
            <a:endParaRPr sz="10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1"/>
          <p:cNvSpPr txBox="1"/>
          <p:nvPr>
            <p:ph idx="1" type="body"/>
          </p:nvPr>
        </p:nvSpPr>
        <p:spPr>
          <a:xfrm>
            <a:off x="4738300" y="2037900"/>
            <a:ext cx="4327500" cy="1067700"/>
          </a:xfrm>
          <a:prstGeom prst="rect">
            <a:avLst/>
          </a:prstGeom>
          <a:solidFill>
            <a:srgbClr val="D0E0E3"/>
          </a:solidFill>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chemeClr val="dk1"/>
                </a:solidFill>
              </a:rPr>
              <a:t>Firstly, we managed to reproduce the differential neutrino luminosity vs. time for </a:t>
            </a:r>
            <a:r>
              <a:rPr lang="en-GB" sz="1400">
                <a:solidFill>
                  <a:schemeClr val="dk1"/>
                </a:solidFill>
              </a:rPr>
              <a:t>IIn and II-P type SN</a:t>
            </a:r>
            <a:r>
              <a:rPr lang="en-GB" sz="1400">
                <a:solidFill>
                  <a:schemeClr val="dk1"/>
                </a:solidFill>
              </a:rPr>
              <a:t>  </a:t>
            </a:r>
            <a:endParaRPr sz="1400">
              <a:solidFill>
                <a:schemeClr val="dk1"/>
              </a:solidFill>
            </a:endParaRPr>
          </a:p>
          <a:p>
            <a:pPr indent="0" lvl="0" marL="0" rtl="0" algn="ctr">
              <a:spcBef>
                <a:spcPts val="1200"/>
              </a:spcBef>
              <a:spcAft>
                <a:spcPts val="0"/>
              </a:spcAft>
              <a:buNone/>
            </a:pPr>
            <a:r>
              <a:rPr lang="en-GB" sz="1400">
                <a:solidFill>
                  <a:schemeClr val="dk1"/>
                </a:solidFill>
              </a:rPr>
              <a:t>(fig. 1 from the paper </a:t>
            </a:r>
            <a:r>
              <a:rPr lang="en-GB" sz="1400">
                <a:solidFill>
                  <a:schemeClr val="dk1"/>
                </a:solidFill>
              </a:rPr>
              <a:t>[</a:t>
            </a:r>
            <a:r>
              <a:rPr lang="en-GB" sz="1400" u="sng">
                <a:solidFill>
                  <a:schemeClr val="accent5"/>
                </a:solidFill>
                <a:hlinkClick r:id="rId3">
                  <a:extLst>
                    <a:ext uri="{A12FA001-AC4F-418D-AE19-62706E023703}">
                      <ahyp:hlinkClr val="tx"/>
                    </a:ext>
                  </a:extLst>
                </a:hlinkClick>
              </a:rPr>
              <a:t>1</a:t>
            </a:r>
            <a:r>
              <a:rPr lang="en-GB" sz="1400">
                <a:solidFill>
                  <a:schemeClr val="dk1"/>
                </a:solidFill>
              </a:rPr>
              <a:t>]</a:t>
            </a:r>
            <a:r>
              <a:rPr lang="en-GB" sz="1400">
                <a:solidFill>
                  <a:schemeClr val="dk1"/>
                </a:solidFill>
              </a:rPr>
              <a:t>) </a:t>
            </a:r>
            <a:endParaRPr sz="1400">
              <a:solidFill>
                <a:schemeClr val="dk1"/>
              </a:solidFill>
            </a:endParaRPr>
          </a:p>
          <a:p>
            <a:pPr indent="0" lvl="0" marL="0" rtl="0" algn="l">
              <a:spcBef>
                <a:spcPts val="1200"/>
              </a:spcBef>
              <a:spcAft>
                <a:spcPts val="1200"/>
              </a:spcAft>
              <a:buNone/>
            </a:pPr>
            <a:r>
              <a:t/>
            </a:r>
            <a:endParaRPr sz="1400"/>
          </a:p>
        </p:txBody>
      </p:sp>
      <p:pic>
        <p:nvPicPr>
          <p:cNvPr id="172" name="Google Shape;172;p21"/>
          <p:cNvPicPr preferRelativeResize="0"/>
          <p:nvPr/>
        </p:nvPicPr>
        <p:blipFill>
          <a:blip r:embed="rId4">
            <a:alphaModFix/>
          </a:blip>
          <a:stretch>
            <a:fillRect/>
          </a:stretch>
        </p:blipFill>
        <p:spPr>
          <a:xfrm>
            <a:off x="415000" y="1427025"/>
            <a:ext cx="4157000" cy="3376338"/>
          </a:xfrm>
          <a:prstGeom prst="rect">
            <a:avLst/>
          </a:prstGeom>
          <a:noFill/>
          <a:ln>
            <a:noFill/>
          </a:ln>
        </p:spPr>
      </p:pic>
      <p:sp>
        <p:nvSpPr>
          <p:cNvPr id="173" name="Google Shape;173;p21"/>
          <p:cNvSpPr txBox="1"/>
          <p:nvPr/>
        </p:nvSpPr>
        <p:spPr>
          <a:xfrm>
            <a:off x="5645650" y="582250"/>
            <a:ext cx="3516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74" name="Google Shape;174;p21"/>
          <p:cNvSpPr txBox="1"/>
          <p:nvPr/>
        </p:nvSpPr>
        <p:spPr>
          <a:xfrm>
            <a:off x="4906750" y="3410575"/>
            <a:ext cx="3990600" cy="79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 light curves in the plot are drown selecting fixed </a:t>
            </a:r>
            <a:r>
              <a:rPr lang="en-GB">
                <a:solidFill>
                  <a:schemeClr val="dk1"/>
                </a:solidFill>
              </a:rPr>
              <a:t>𝝂 </a:t>
            </a:r>
            <a:r>
              <a:rPr lang="en-GB">
                <a:solidFill>
                  <a:schemeClr val="dk1"/>
                </a:solidFill>
              </a:rPr>
              <a:t>energy </a:t>
            </a:r>
            <a:r>
              <a:rPr lang="en-GB">
                <a:solidFill>
                  <a:schemeClr val="dk1"/>
                </a:solidFill>
              </a:rPr>
              <a:t> </a:t>
            </a:r>
            <a:endParaRPr>
              <a:solidFill>
                <a:schemeClr val="dk1"/>
              </a:solidFill>
            </a:endParaRPr>
          </a:p>
          <a:p>
            <a:pPr indent="0" lvl="0" marL="0" rtl="0" algn="l">
              <a:spcBef>
                <a:spcPts val="0"/>
              </a:spcBef>
              <a:spcAft>
                <a:spcPts val="0"/>
              </a:spcAft>
              <a:buNone/>
            </a:pPr>
            <a:r>
              <a:rPr lang="en-GB">
                <a:solidFill>
                  <a:schemeClr val="dk1"/>
                </a:solidFill>
              </a:rPr>
              <a:t>                              E𝝂 = 1TeV</a:t>
            </a:r>
            <a:endParaRPr>
              <a:solidFill>
                <a:schemeClr val="dk1"/>
              </a:solidFill>
            </a:endParaRPr>
          </a:p>
        </p:txBody>
      </p:sp>
      <p:sp>
        <p:nvSpPr>
          <p:cNvPr id="175" name="Google Shape;175;p21"/>
          <p:cNvSpPr txBox="1"/>
          <p:nvPr/>
        </p:nvSpPr>
        <p:spPr>
          <a:xfrm>
            <a:off x="3646975" y="4686400"/>
            <a:ext cx="37104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sz="1200">
                <a:solidFill>
                  <a:srgbClr val="9933FF"/>
                </a:solidFill>
              </a:rPr>
              <a:t>*</a:t>
            </a:r>
            <a:r>
              <a:rPr lang="en-GB" sz="1200">
                <a:solidFill>
                  <a:srgbClr val="9933FF"/>
                </a:solidFill>
              </a:rPr>
              <a:t>both proton momentum index (s=2.0 and s=2.2)</a:t>
            </a:r>
            <a:endParaRPr sz="1200">
              <a:solidFill>
                <a:srgbClr val="9933FF"/>
              </a:solidFill>
            </a:endParaRPr>
          </a:p>
        </p:txBody>
      </p:sp>
      <p:sp>
        <p:nvSpPr>
          <p:cNvPr id="176" name="Google Shape;176;p21"/>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77" name="Google Shape;177;p21"/>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178" name="Google Shape;178;p21"/>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9933FF"/>
                </a:solidFill>
              </a:rPr>
              <a:t>1.a) Model of the Light Curve</a:t>
            </a:r>
            <a:endParaRPr i="1">
              <a:solidFill>
                <a:srgbClr val="9933FF"/>
              </a:solidFill>
            </a:endParaRPr>
          </a:p>
        </p:txBody>
      </p:sp>
      <p:sp>
        <p:nvSpPr>
          <p:cNvPr id="179" name="Google Shape;179;p21"/>
          <p:cNvSpPr txBox="1"/>
          <p:nvPr/>
        </p:nvSpPr>
        <p:spPr>
          <a:xfrm>
            <a:off x="305825" y="762000"/>
            <a:ext cx="85047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GB">
                <a:solidFill>
                  <a:schemeClr val="dk1"/>
                </a:solidFill>
              </a:rPr>
              <a:t>To reproduce the light curves of SN IIn and IIP we used the neutrino flux by Murase’s simulation: (</a:t>
            </a:r>
            <a:r>
              <a:rPr i="1" lang="en-GB" u="sng">
                <a:solidFill>
                  <a:schemeClr val="accent1"/>
                </a:solidFill>
                <a:hlinkClick r:id="rId5">
                  <a:extLst>
                    <a:ext uri="{A12FA001-AC4F-418D-AE19-62706E023703}">
                      <ahyp:hlinkClr val="tx"/>
                    </a:ext>
                  </a:extLst>
                </a:hlinkClick>
              </a:rPr>
              <a:t>https://github.com/pegasuskmurase/ModelTemplates/tree/main/SNHEMM</a:t>
            </a:r>
            <a:r>
              <a:rPr lang="en-GB">
                <a:solidFill>
                  <a:schemeClr val="dk1"/>
                </a:solidFill>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2"/>
          <p:cNvPicPr preferRelativeResize="0"/>
          <p:nvPr/>
        </p:nvPicPr>
        <p:blipFill rotWithShape="1">
          <a:blip r:embed="rId3">
            <a:alphaModFix/>
          </a:blip>
          <a:srcRect b="680" l="0" r="0" t="690"/>
          <a:stretch/>
        </p:blipFill>
        <p:spPr>
          <a:xfrm>
            <a:off x="4567925" y="1951313"/>
            <a:ext cx="4416774" cy="2885526"/>
          </a:xfrm>
          <a:prstGeom prst="rect">
            <a:avLst/>
          </a:prstGeom>
          <a:noFill/>
          <a:ln>
            <a:noFill/>
          </a:ln>
        </p:spPr>
      </p:pic>
      <p:pic>
        <p:nvPicPr>
          <p:cNvPr id="185" name="Google Shape;185;p22"/>
          <p:cNvPicPr preferRelativeResize="0"/>
          <p:nvPr/>
        </p:nvPicPr>
        <p:blipFill rotWithShape="1">
          <a:blip r:embed="rId4">
            <a:alphaModFix/>
          </a:blip>
          <a:srcRect b="845" l="0" r="0" t="845"/>
          <a:stretch/>
        </p:blipFill>
        <p:spPr>
          <a:xfrm>
            <a:off x="81250" y="1949775"/>
            <a:ext cx="4416774" cy="2876150"/>
          </a:xfrm>
          <a:prstGeom prst="rect">
            <a:avLst/>
          </a:prstGeom>
          <a:noFill/>
          <a:ln>
            <a:noFill/>
          </a:ln>
        </p:spPr>
      </p:pic>
      <p:sp>
        <p:nvSpPr>
          <p:cNvPr id="186" name="Google Shape;186;p22"/>
          <p:cNvSpPr txBox="1"/>
          <p:nvPr/>
        </p:nvSpPr>
        <p:spPr>
          <a:xfrm>
            <a:off x="387800" y="921975"/>
            <a:ext cx="8520600" cy="8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We also reproduced the fluences of neutrinos for both </a:t>
            </a:r>
            <a:r>
              <a:rPr lang="en-GB">
                <a:solidFill>
                  <a:schemeClr val="dk1"/>
                </a:solidFill>
              </a:rPr>
              <a:t>type of SN, </a:t>
            </a:r>
            <a:r>
              <a:rPr lang="en-GB">
                <a:solidFill>
                  <a:schemeClr val="dk1"/>
                </a:solidFill>
              </a:rPr>
              <a:t>considering the time </a:t>
            </a:r>
            <a:r>
              <a:rPr b="1" lang="en-GB">
                <a:solidFill>
                  <a:schemeClr val="dk1"/>
                </a:solidFill>
              </a:rPr>
              <a:t>t_</a:t>
            </a:r>
            <a:r>
              <a:rPr lang="en-GB">
                <a:solidFill>
                  <a:schemeClr val="dk1"/>
                </a:solidFill>
              </a:rPr>
              <a:t>𝝂</a:t>
            </a:r>
            <a:r>
              <a:rPr b="1" lang="en-GB">
                <a:solidFill>
                  <a:schemeClr val="dk1"/>
                </a:solidFill>
              </a:rPr>
              <a:t>max</a:t>
            </a:r>
            <a:r>
              <a:rPr lang="en-GB">
                <a:solidFill>
                  <a:schemeClr val="dk1"/>
                </a:solidFill>
              </a:rPr>
              <a:t> as the time when the significance of neutrino emission is maximized. </a:t>
            </a:r>
            <a:endParaRPr>
              <a:solidFill>
                <a:schemeClr val="dk1"/>
              </a:solidFill>
            </a:endParaRPr>
          </a:p>
          <a:p>
            <a:pPr indent="0" lvl="0" marL="0" rtl="0" algn="l">
              <a:spcBef>
                <a:spcPts val="0"/>
              </a:spcBef>
              <a:spcAft>
                <a:spcPts val="0"/>
              </a:spcAft>
              <a:buNone/>
            </a:pPr>
            <a:r>
              <a:rPr lang="en-GB">
                <a:solidFill>
                  <a:schemeClr val="dk1"/>
                </a:solidFill>
              </a:rPr>
              <a:t>(See fig. 2 right from the paper </a:t>
            </a:r>
            <a:r>
              <a:rPr lang="en-GB">
                <a:solidFill>
                  <a:schemeClr val="dk1"/>
                </a:solidFill>
              </a:rPr>
              <a:t>[</a:t>
            </a:r>
            <a:r>
              <a:rPr lang="en-GB" u="sng">
                <a:solidFill>
                  <a:schemeClr val="accent5"/>
                </a:solidFill>
                <a:hlinkClick r:id="rId5">
                  <a:extLst>
                    <a:ext uri="{A12FA001-AC4F-418D-AE19-62706E023703}">
                      <ahyp:hlinkClr val="tx"/>
                    </a:ext>
                  </a:extLst>
                </a:hlinkClick>
              </a:rPr>
              <a:t>2</a:t>
            </a:r>
            <a:r>
              <a:rPr lang="en-GB">
                <a:solidFill>
                  <a:schemeClr val="dk1"/>
                </a:solidFill>
              </a:rPr>
              <a:t>]</a:t>
            </a:r>
            <a:r>
              <a:rPr lang="en-GB">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187" name="Google Shape;187;p22"/>
          <p:cNvSpPr txBox="1"/>
          <p:nvPr/>
        </p:nvSpPr>
        <p:spPr>
          <a:xfrm>
            <a:off x="5759950" y="212975"/>
            <a:ext cx="14331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88" name="Google Shape;188;p22"/>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189" name="Google Shape;189;p22"/>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190" name="Google Shape;190;p22"/>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solidFill>
                  <a:srgbClr val="9933FF"/>
                </a:solidFill>
              </a:rPr>
              <a:t>1.b) </a:t>
            </a:r>
            <a:r>
              <a:rPr b="1" lang="en-GB">
                <a:solidFill>
                  <a:srgbClr val="9933FF"/>
                </a:solidFill>
              </a:rPr>
              <a:t>Model of the Fluence</a:t>
            </a:r>
            <a:endParaRPr i="1">
              <a:solidFill>
                <a:srgbClr val="9933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idx="1" type="body"/>
          </p:nvPr>
        </p:nvSpPr>
        <p:spPr>
          <a:xfrm>
            <a:off x="271350" y="934525"/>
            <a:ext cx="8520600" cy="146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solidFill>
                  <a:schemeClr val="dk1"/>
                </a:solidFill>
              </a:rPr>
              <a:t>The light curves will be used for the time-dependent unbinned likelihood (signal time PDF)</a:t>
            </a:r>
            <a:endParaRPr sz="1400">
              <a:solidFill>
                <a:schemeClr val="dk1"/>
              </a:solidFill>
            </a:endParaRPr>
          </a:p>
          <a:p>
            <a:pPr indent="0" lvl="0" marL="0" rtl="0" algn="l">
              <a:spcBef>
                <a:spcPts val="1200"/>
              </a:spcBef>
              <a:spcAft>
                <a:spcPts val="0"/>
              </a:spcAft>
              <a:buNone/>
            </a:pPr>
            <a:r>
              <a:rPr lang="en-GB" sz="1400">
                <a:solidFill>
                  <a:schemeClr val="dk1"/>
                </a:solidFill>
              </a:rPr>
              <a:t>In the </a:t>
            </a:r>
            <a:r>
              <a:rPr lang="en-GB" sz="1400">
                <a:solidFill>
                  <a:schemeClr val="dk1"/>
                </a:solidFill>
              </a:rPr>
              <a:t>meanwhile</a:t>
            </a:r>
            <a:r>
              <a:rPr lang="en-GB" sz="1400">
                <a:solidFill>
                  <a:schemeClr val="dk1"/>
                </a:solidFill>
              </a:rPr>
              <a:t>, we have been focusing on reproducing the </a:t>
            </a:r>
            <a:r>
              <a:rPr b="1" lang="en-GB" sz="1400">
                <a:solidFill>
                  <a:schemeClr val="dk1"/>
                </a:solidFill>
              </a:rPr>
              <a:t>expected number</a:t>
            </a:r>
            <a:r>
              <a:rPr lang="en-GB" sz="1400">
                <a:solidFill>
                  <a:schemeClr val="dk1"/>
                </a:solidFill>
              </a:rPr>
              <a:t> of </a:t>
            </a:r>
            <a:r>
              <a:rPr lang="en-GB" sz="1400">
                <a:solidFill>
                  <a:schemeClr val="dk1"/>
                </a:solidFill>
              </a:rPr>
              <a:t>neutrinos,</a:t>
            </a:r>
            <a:r>
              <a:rPr lang="en-GB" sz="1400">
                <a:solidFill>
                  <a:schemeClr val="dk1"/>
                </a:solidFill>
              </a:rPr>
              <a:t> considering time range </a:t>
            </a:r>
            <a:r>
              <a:rPr lang="en-GB" sz="1400">
                <a:solidFill>
                  <a:schemeClr val="dk1"/>
                </a:solidFill>
              </a:rPr>
              <a:t>correspondent</a:t>
            </a:r>
            <a:r>
              <a:rPr lang="en-GB" sz="1400">
                <a:solidFill>
                  <a:schemeClr val="dk1"/>
                </a:solidFill>
              </a:rPr>
              <a:t> to the H-E neutrino emission as predicted in the Murase model.</a:t>
            </a:r>
            <a:endParaRPr sz="1400">
              <a:solidFill>
                <a:schemeClr val="dk1"/>
              </a:solidFill>
            </a:endParaRPr>
          </a:p>
          <a:p>
            <a:pPr indent="0" lvl="0" marL="0" rtl="0" algn="l">
              <a:spcBef>
                <a:spcPts val="1200"/>
              </a:spcBef>
              <a:spcAft>
                <a:spcPts val="1200"/>
              </a:spcAft>
              <a:buNone/>
            </a:pPr>
            <a:r>
              <a:t/>
            </a:r>
            <a:endParaRPr sz="1400">
              <a:solidFill>
                <a:schemeClr val="dk1"/>
              </a:solidFill>
            </a:endParaRPr>
          </a:p>
        </p:txBody>
      </p:sp>
      <p:pic>
        <p:nvPicPr>
          <p:cNvPr id="196" name="Google Shape;196;p23"/>
          <p:cNvPicPr preferRelativeResize="0"/>
          <p:nvPr/>
        </p:nvPicPr>
        <p:blipFill rotWithShape="1">
          <a:blip r:embed="rId3">
            <a:alphaModFix/>
          </a:blip>
          <a:srcRect b="34097" l="0" r="0" t="0"/>
          <a:stretch/>
        </p:blipFill>
        <p:spPr>
          <a:xfrm>
            <a:off x="1102050" y="1989475"/>
            <a:ext cx="6939899" cy="2143650"/>
          </a:xfrm>
          <a:prstGeom prst="rect">
            <a:avLst/>
          </a:prstGeom>
          <a:noFill/>
          <a:ln>
            <a:noFill/>
          </a:ln>
        </p:spPr>
      </p:pic>
      <p:cxnSp>
        <p:nvCxnSpPr>
          <p:cNvPr id="197" name="Google Shape;197;p23"/>
          <p:cNvCxnSpPr/>
          <p:nvPr/>
        </p:nvCxnSpPr>
        <p:spPr>
          <a:xfrm flipH="1">
            <a:off x="989700" y="2994700"/>
            <a:ext cx="1427100" cy="619800"/>
          </a:xfrm>
          <a:prstGeom prst="straightConnector1">
            <a:avLst/>
          </a:prstGeom>
          <a:noFill/>
          <a:ln cap="flat" cmpd="sng" w="28575">
            <a:solidFill>
              <a:srgbClr val="9933FF"/>
            </a:solidFill>
            <a:prstDash val="solid"/>
            <a:round/>
            <a:headEnd len="med" w="med" type="none"/>
            <a:tailEnd len="med" w="med" type="triangle"/>
          </a:ln>
        </p:spPr>
      </p:cxnSp>
      <p:sp>
        <p:nvSpPr>
          <p:cNvPr id="198" name="Google Shape;198;p23"/>
          <p:cNvSpPr/>
          <p:nvPr/>
        </p:nvSpPr>
        <p:spPr>
          <a:xfrm>
            <a:off x="69525" y="3662925"/>
            <a:ext cx="1344000" cy="470100"/>
          </a:xfrm>
          <a:prstGeom prst="rect">
            <a:avLst/>
          </a:prstGeom>
          <a:solidFill>
            <a:schemeClr val="lt2"/>
          </a:solidFill>
          <a:ln cap="flat" cmpd="sng" w="9525">
            <a:solidFill>
              <a:srgbClr val="993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sz="1000"/>
              <a:t>Duration of the H-E neutrino emission</a:t>
            </a:r>
            <a:endParaRPr sz="1000"/>
          </a:p>
        </p:txBody>
      </p:sp>
      <p:sp>
        <p:nvSpPr>
          <p:cNvPr id="199" name="Google Shape;199;p23"/>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00" name="Google Shape;200;p23"/>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201" name="Google Shape;201;p23"/>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solidFill>
                  <a:srgbClr val="9933FF"/>
                </a:solidFill>
              </a:rPr>
              <a:t>1.c) </a:t>
            </a:r>
            <a:r>
              <a:rPr b="1" lang="en-GB">
                <a:solidFill>
                  <a:srgbClr val="9933FF"/>
                </a:solidFill>
              </a:rPr>
              <a:t>Number of expected events</a:t>
            </a:r>
            <a:endParaRPr i="1">
              <a:solidFill>
                <a:srgbClr val="9933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idx="1" type="body"/>
          </p:nvPr>
        </p:nvSpPr>
        <p:spPr>
          <a:xfrm>
            <a:off x="305825" y="811700"/>
            <a:ext cx="8520600" cy="1030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1400">
                <a:solidFill>
                  <a:schemeClr val="dk1"/>
                </a:solidFill>
              </a:rPr>
              <a:t>We considered the effective area at different declinations. </a:t>
            </a:r>
            <a:br>
              <a:rPr lang="en-GB" sz="1400">
                <a:solidFill>
                  <a:schemeClr val="dk1"/>
                </a:solidFill>
              </a:rPr>
            </a:br>
            <a:r>
              <a:rPr lang="en-GB" sz="1400">
                <a:solidFill>
                  <a:schemeClr val="dk1"/>
                </a:solidFill>
              </a:rPr>
              <a:t>In particular, we computed the </a:t>
            </a:r>
            <a:r>
              <a:rPr i="1" lang="en-GB" sz="1400">
                <a:solidFill>
                  <a:schemeClr val="dk1"/>
                </a:solidFill>
              </a:rPr>
              <a:t>Aeff</a:t>
            </a:r>
            <a:r>
              <a:rPr lang="en-GB" sz="1400">
                <a:solidFill>
                  <a:schemeClr val="dk1"/>
                </a:solidFill>
              </a:rPr>
              <a:t> for the declination in the range [-90°, 40°], </a:t>
            </a:r>
            <a:r>
              <a:rPr lang="en-GB" sz="1400">
                <a:solidFill>
                  <a:schemeClr val="dk1"/>
                </a:solidFill>
              </a:rPr>
              <a:t>c</a:t>
            </a:r>
            <a:r>
              <a:rPr lang="en-GB" sz="1400">
                <a:solidFill>
                  <a:schemeClr val="dk1"/>
                </a:solidFill>
              </a:rPr>
              <a:t>onsidering the </a:t>
            </a:r>
            <a:r>
              <a:rPr lang="en-GB" sz="1400">
                <a:solidFill>
                  <a:schemeClr val="dk1"/>
                </a:solidFill>
              </a:rPr>
              <a:t>southern</a:t>
            </a:r>
            <a:r>
              <a:rPr lang="en-GB" sz="1400">
                <a:solidFill>
                  <a:schemeClr val="dk1"/>
                </a:solidFill>
              </a:rPr>
              <a:t> hemisphere.</a:t>
            </a:r>
            <a:endParaRPr sz="1400">
              <a:solidFill>
                <a:schemeClr val="dk1"/>
              </a:solidFill>
            </a:endParaRPr>
          </a:p>
        </p:txBody>
      </p:sp>
      <p:pic>
        <p:nvPicPr>
          <p:cNvPr id="207" name="Google Shape;207;p24"/>
          <p:cNvPicPr preferRelativeResize="0"/>
          <p:nvPr/>
        </p:nvPicPr>
        <p:blipFill>
          <a:blip r:embed="rId3">
            <a:alphaModFix/>
          </a:blip>
          <a:stretch>
            <a:fillRect/>
          </a:stretch>
        </p:blipFill>
        <p:spPr>
          <a:xfrm>
            <a:off x="1790200" y="1770150"/>
            <a:ext cx="4862050" cy="3029100"/>
          </a:xfrm>
          <a:prstGeom prst="rect">
            <a:avLst/>
          </a:prstGeom>
          <a:noFill/>
          <a:ln>
            <a:noFill/>
          </a:ln>
        </p:spPr>
      </p:pic>
      <p:sp>
        <p:nvSpPr>
          <p:cNvPr id="208" name="Google Shape;208;p24"/>
          <p:cNvSpPr txBox="1"/>
          <p:nvPr/>
        </p:nvSpPr>
        <p:spPr>
          <a:xfrm>
            <a:off x="4367650" y="3130200"/>
            <a:ext cx="7980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9933FF"/>
                </a:solidFill>
              </a:rPr>
              <a:t>&gt;75%</a:t>
            </a:r>
            <a:endParaRPr b="1" sz="1800">
              <a:solidFill>
                <a:srgbClr val="9933FF"/>
              </a:solidFill>
            </a:endParaRPr>
          </a:p>
        </p:txBody>
      </p:sp>
      <p:sp>
        <p:nvSpPr>
          <p:cNvPr id="209" name="Google Shape;209;p24"/>
          <p:cNvSpPr txBox="1"/>
          <p:nvPr/>
        </p:nvSpPr>
        <p:spPr>
          <a:xfrm>
            <a:off x="3087450" y="3130200"/>
            <a:ext cx="7980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9933FF"/>
                </a:solidFill>
              </a:rPr>
              <a:t>&gt;25%</a:t>
            </a:r>
            <a:endParaRPr b="1" sz="1800">
              <a:solidFill>
                <a:srgbClr val="9933FF"/>
              </a:solidFill>
            </a:endParaRPr>
          </a:p>
        </p:txBody>
      </p:sp>
      <p:sp>
        <p:nvSpPr>
          <p:cNvPr id="210" name="Google Shape;210;p24"/>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11" name="Google Shape;211;p24"/>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212" name="Google Shape;212;p24"/>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solidFill>
                  <a:srgbClr val="9933FF"/>
                </a:solidFill>
              </a:rPr>
              <a:t>2.a) </a:t>
            </a:r>
            <a:r>
              <a:rPr b="1" lang="en-GB">
                <a:solidFill>
                  <a:srgbClr val="9933FF"/>
                </a:solidFill>
              </a:rPr>
              <a:t>ARCA21 effective area for point source</a:t>
            </a:r>
            <a:endParaRPr b="1" i="1">
              <a:solidFill>
                <a:srgbClr val="9933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idx="1" type="body"/>
          </p:nvPr>
        </p:nvSpPr>
        <p:spPr>
          <a:xfrm>
            <a:off x="311700" y="1152475"/>
            <a:ext cx="3999900" cy="977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GB">
                <a:solidFill>
                  <a:schemeClr val="dk1"/>
                </a:solidFill>
              </a:rPr>
              <a:t>Negative declinations</a:t>
            </a:r>
            <a:endParaRPr b="1">
              <a:solidFill>
                <a:schemeClr val="dk1"/>
              </a:solidFill>
            </a:endParaRPr>
          </a:p>
        </p:txBody>
      </p:sp>
      <p:sp>
        <p:nvSpPr>
          <p:cNvPr id="218" name="Google Shape;218;p2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GB">
                <a:solidFill>
                  <a:schemeClr val="dk1"/>
                </a:solidFill>
              </a:rPr>
              <a:t>Positive declinations</a:t>
            </a:r>
            <a:endParaRPr b="1">
              <a:solidFill>
                <a:schemeClr val="dk1"/>
              </a:solidFill>
            </a:endParaRPr>
          </a:p>
        </p:txBody>
      </p:sp>
      <p:pic>
        <p:nvPicPr>
          <p:cNvPr id="219" name="Google Shape;219;p25"/>
          <p:cNvPicPr preferRelativeResize="0"/>
          <p:nvPr/>
        </p:nvPicPr>
        <p:blipFill rotWithShape="1">
          <a:blip r:embed="rId3">
            <a:alphaModFix/>
          </a:blip>
          <a:srcRect b="49" l="0" r="0" t="49"/>
          <a:stretch/>
        </p:blipFill>
        <p:spPr>
          <a:xfrm>
            <a:off x="85441" y="1574800"/>
            <a:ext cx="4315309" cy="2571750"/>
          </a:xfrm>
          <a:prstGeom prst="rect">
            <a:avLst/>
          </a:prstGeom>
          <a:noFill/>
          <a:ln>
            <a:noFill/>
          </a:ln>
        </p:spPr>
      </p:pic>
      <p:pic>
        <p:nvPicPr>
          <p:cNvPr id="220" name="Google Shape;220;p25"/>
          <p:cNvPicPr preferRelativeResize="0"/>
          <p:nvPr/>
        </p:nvPicPr>
        <p:blipFill rotWithShape="1">
          <a:blip r:embed="rId4">
            <a:alphaModFix/>
          </a:blip>
          <a:srcRect b="49" l="0" r="0" t="49"/>
          <a:stretch/>
        </p:blipFill>
        <p:spPr>
          <a:xfrm>
            <a:off x="4732816" y="1574800"/>
            <a:ext cx="4315309" cy="2571750"/>
          </a:xfrm>
          <a:prstGeom prst="rect">
            <a:avLst/>
          </a:prstGeom>
          <a:noFill/>
          <a:ln>
            <a:noFill/>
          </a:ln>
        </p:spPr>
      </p:pic>
      <p:sp>
        <p:nvSpPr>
          <p:cNvPr id="221" name="Google Shape;221;p25"/>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22" name="Google Shape;222;p25"/>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223" name="Google Shape;223;p25"/>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9933FF"/>
                </a:solidFill>
              </a:rPr>
              <a:t>2.a) </a:t>
            </a:r>
            <a:r>
              <a:rPr b="1" lang="en-GB">
                <a:solidFill>
                  <a:srgbClr val="9933FF"/>
                </a:solidFill>
              </a:rPr>
              <a:t>ARCA21 effective area for point source</a:t>
            </a:r>
            <a:endParaRPr b="1" i="1">
              <a:solidFill>
                <a:srgbClr val="9933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6"/>
          <p:cNvSpPr txBox="1"/>
          <p:nvPr>
            <p:ph idx="1" type="body"/>
          </p:nvPr>
        </p:nvSpPr>
        <p:spPr>
          <a:xfrm>
            <a:off x="311700" y="847675"/>
            <a:ext cx="8520600" cy="977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SzPts val="1018"/>
              <a:buFont typeface="Arial"/>
              <a:buNone/>
            </a:pPr>
            <a:r>
              <a:rPr lang="en-GB">
                <a:solidFill>
                  <a:schemeClr val="dk1"/>
                </a:solidFill>
              </a:rPr>
              <a:t>We chose to plot the number of events vs. the source distance in a range from 10 Kpc to 10 Mpc, for each declination </a:t>
            </a:r>
            <a:r>
              <a:rPr lang="en-GB">
                <a:solidFill>
                  <a:srgbClr val="9933FF"/>
                </a:solidFill>
              </a:rPr>
              <a:t>—&gt;</a:t>
            </a:r>
            <a:r>
              <a:rPr b="1" i="1" lang="en-GB">
                <a:solidFill>
                  <a:schemeClr val="dk1"/>
                </a:solidFill>
              </a:rPr>
              <a:t> SN type IIn </a:t>
            </a:r>
            <a:endParaRPr b="1" i="1">
              <a:solidFill>
                <a:schemeClr val="dk1"/>
              </a:solidFill>
            </a:endParaRPr>
          </a:p>
          <a:p>
            <a:pPr indent="0" lvl="0" marL="0" rtl="0" algn="l">
              <a:spcBef>
                <a:spcPts val="0"/>
              </a:spcBef>
              <a:spcAft>
                <a:spcPts val="1200"/>
              </a:spcAft>
              <a:buNone/>
            </a:pPr>
            <a:r>
              <a:t/>
            </a:r>
            <a:endParaRPr>
              <a:solidFill>
                <a:schemeClr val="dk1"/>
              </a:solidFill>
            </a:endParaRPr>
          </a:p>
        </p:txBody>
      </p:sp>
      <p:pic>
        <p:nvPicPr>
          <p:cNvPr id="229" name="Google Shape;229;p26"/>
          <p:cNvPicPr preferRelativeResize="0"/>
          <p:nvPr/>
        </p:nvPicPr>
        <p:blipFill rotWithShape="1">
          <a:blip r:embed="rId3">
            <a:alphaModFix/>
          </a:blip>
          <a:srcRect b="0" l="0" r="0" t="0"/>
          <a:stretch/>
        </p:blipFill>
        <p:spPr>
          <a:xfrm>
            <a:off x="85441" y="1422400"/>
            <a:ext cx="4315309" cy="2571750"/>
          </a:xfrm>
          <a:prstGeom prst="rect">
            <a:avLst/>
          </a:prstGeom>
          <a:noFill/>
          <a:ln>
            <a:noFill/>
          </a:ln>
        </p:spPr>
      </p:pic>
      <p:pic>
        <p:nvPicPr>
          <p:cNvPr id="230" name="Google Shape;230;p26"/>
          <p:cNvPicPr preferRelativeResize="0"/>
          <p:nvPr/>
        </p:nvPicPr>
        <p:blipFill rotWithShape="1">
          <a:blip r:embed="rId4">
            <a:alphaModFix/>
          </a:blip>
          <a:srcRect b="0" l="0" r="0" t="0"/>
          <a:stretch/>
        </p:blipFill>
        <p:spPr>
          <a:xfrm>
            <a:off x="4732816" y="1422400"/>
            <a:ext cx="4315309" cy="2571750"/>
          </a:xfrm>
          <a:prstGeom prst="rect">
            <a:avLst/>
          </a:prstGeom>
          <a:noFill/>
          <a:ln>
            <a:noFill/>
          </a:ln>
        </p:spPr>
      </p:pic>
      <p:sp>
        <p:nvSpPr>
          <p:cNvPr id="231" name="Google Shape;231;p26"/>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32" name="Google Shape;232;p26"/>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233" name="Google Shape;233;p26"/>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9933FF"/>
                </a:solidFill>
              </a:rPr>
              <a:t>2.b) </a:t>
            </a:r>
            <a:r>
              <a:rPr b="1" lang="en-GB">
                <a:solidFill>
                  <a:srgbClr val="9933FF"/>
                </a:solidFill>
              </a:rPr>
              <a:t>Number of expected events (SN type IIn)</a:t>
            </a:r>
            <a:endParaRPr b="1">
              <a:solidFill>
                <a:srgbClr val="9933FF"/>
              </a:solidFill>
            </a:endParaRPr>
          </a:p>
        </p:txBody>
      </p:sp>
      <p:sp>
        <p:nvSpPr>
          <p:cNvPr id="234" name="Google Shape;234;p26"/>
          <p:cNvSpPr txBox="1"/>
          <p:nvPr>
            <p:ph idx="1" type="body"/>
          </p:nvPr>
        </p:nvSpPr>
        <p:spPr>
          <a:xfrm>
            <a:off x="400850" y="4048950"/>
            <a:ext cx="3999900" cy="977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dk1"/>
                </a:solidFill>
              </a:rPr>
              <a:t>Number of expected events for sources at negative declination</a:t>
            </a:r>
            <a:endParaRPr>
              <a:solidFill>
                <a:schemeClr val="dk1"/>
              </a:solidFill>
            </a:endParaRPr>
          </a:p>
        </p:txBody>
      </p:sp>
      <p:sp>
        <p:nvSpPr>
          <p:cNvPr id="235" name="Google Shape;235;p26"/>
          <p:cNvSpPr txBox="1"/>
          <p:nvPr>
            <p:ph idx="1" type="body"/>
          </p:nvPr>
        </p:nvSpPr>
        <p:spPr>
          <a:xfrm>
            <a:off x="5048225" y="3994150"/>
            <a:ext cx="3999900" cy="977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dk1"/>
                </a:solidFill>
              </a:rPr>
              <a:t>Number of expected events for sources at positive declination</a:t>
            </a:r>
            <a:endParaRPr>
              <a:solidFill>
                <a:schemeClr val="dk1"/>
              </a:solidFill>
            </a:endParaRPr>
          </a:p>
        </p:txBody>
      </p:sp>
      <p:sp>
        <p:nvSpPr>
          <p:cNvPr id="236" name="Google Shape;236;p26"/>
          <p:cNvSpPr txBox="1"/>
          <p:nvPr/>
        </p:nvSpPr>
        <p:spPr>
          <a:xfrm>
            <a:off x="2335150" y="2242975"/>
            <a:ext cx="11676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2"/>
                </a:solidFill>
              </a:rPr>
              <a:t>AR</a:t>
            </a:r>
            <a:r>
              <a:rPr lang="en-GB" sz="1300">
                <a:solidFill>
                  <a:schemeClr val="dk2"/>
                </a:solidFill>
              </a:rPr>
              <a:t>C</a:t>
            </a:r>
            <a:r>
              <a:rPr lang="en-GB" sz="1300">
                <a:solidFill>
                  <a:schemeClr val="dk2"/>
                </a:solidFill>
              </a:rPr>
              <a:t>A21</a:t>
            </a:r>
            <a:endParaRPr sz="1300">
              <a:solidFill>
                <a:schemeClr val="dk2"/>
              </a:solidFill>
            </a:endParaRPr>
          </a:p>
        </p:txBody>
      </p:sp>
      <p:sp>
        <p:nvSpPr>
          <p:cNvPr id="237" name="Google Shape;237;p26"/>
          <p:cNvSpPr txBox="1"/>
          <p:nvPr/>
        </p:nvSpPr>
        <p:spPr>
          <a:xfrm>
            <a:off x="7127150" y="2242975"/>
            <a:ext cx="11676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2"/>
                </a:solidFill>
              </a:rPr>
              <a:t>ARCA21</a:t>
            </a:r>
            <a:endParaRPr sz="13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27"/>
          <p:cNvPicPr preferRelativeResize="0"/>
          <p:nvPr/>
        </p:nvPicPr>
        <p:blipFill rotWithShape="1">
          <a:blip r:embed="rId3">
            <a:alphaModFix/>
          </a:blip>
          <a:srcRect b="49" l="0" r="0" t="49"/>
          <a:stretch/>
        </p:blipFill>
        <p:spPr>
          <a:xfrm>
            <a:off x="85441" y="1498600"/>
            <a:ext cx="4315309" cy="2571750"/>
          </a:xfrm>
          <a:prstGeom prst="rect">
            <a:avLst/>
          </a:prstGeom>
          <a:noFill/>
          <a:ln>
            <a:noFill/>
          </a:ln>
        </p:spPr>
      </p:pic>
      <p:pic>
        <p:nvPicPr>
          <p:cNvPr id="243" name="Google Shape;243;p27"/>
          <p:cNvPicPr preferRelativeResize="0"/>
          <p:nvPr/>
        </p:nvPicPr>
        <p:blipFill rotWithShape="1">
          <a:blip r:embed="rId4">
            <a:alphaModFix/>
          </a:blip>
          <a:srcRect b="0" l="0" r="0" t="0"/>
          <a:stretch/>
        </p:blipFill>
        <p:spPr>
          <a:xfrm>
            <a:off x="4732816" y="1498600"/>
            <a:ext cx="4315309" cy="2571750"/>
          </a:xfrm>
          <a:prstGeom prst="rect">
            <a:avLst/>
          </a:prstGeom>
          <a:noFill/>
          <a:ln>
            <a:noFill/>
          </a:ln>
        </p:spPr>
      </p:pic>
      <p:sp>
        <p:nvSpPr>
          <p:cNvPr id="244" name="Google Shape;244;p27"/>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45" name="Google Shape;245;p27"/>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246" name="Google Shape;246;p27"/>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solidFill>
                  <a:srgbClr val="9933FF"/>
                </a:solidFill>
              </a:rPr>
              <a:t>2.b) </a:t>
            </a:r>
            <a:r>
              <a:rPr b="1" lang="en-GB">
                <a:solidFill>
                  <a:srgbClr val="9933FF"/>
                </a:solidFill>
              </a:rPr>
              <a:t>Number of expected events (SN type IIP)</a:t>
            </a:r>
            <a:endParaRPr b="1">
              <a:solidFill>
                <a:srgbClr val="9933FF"/>
              </a:solidFill>
            </a:endParaRPr>
          </a:p>
        </p:txBody>
      </p:sp>
      <p:sp>
        <p:nvSpPr>
          <p:cNvPr id="247" name="Google Shape;247;p27"/>
          <p:cNvSpPr txBox="1"/>
          <p:nvPr>
            <p:ph idx="1" type="body"/>
          </p:nvPr>
        </p:nvSpPr>
        <p:spPr>
          <a:xfrm>
            <a:off x="305825" y="4166100"/>
            <a:ext cx="3999900" cy="977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dk1"/>
                </a:solidFill>
              </a:rPr>
              <a:t>Number of expected events for sources at negative declination</a:t>
            </a:r>
            <a:endParaRPr>
              <a:solidFill>
                <a:schemeClr val="dk1"/>
              </a:solidFill>
            </a:endParaRPr>
          </a:p>
        </p:txBody>
      </p:sp>
      <p:sp>
        <p:nvSpPr>
          <p:cNvPr id="248" name="Google Shape;248;p27"/>
          <p:cNvSpPr txBox="1"/>
          <p:nvPr>
            <p:ph idx="1" type="body"/>
          </p:nvPr>
        </p:nvSpPr>
        <p:spPr>
          <a:xfrm>
            <a:off x="5048225" y="4166100"/>
            <a:ext cx="3999900" cy="977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dk1"/>
                </a:solidFill>
              </a:rPr>
              <a:t>Number of expected events for sources at positive declination</a:t>
            </a:r>
            <a:endParaRPr>
              <a:solidFill>
                <a:schemeClr val="dk1"/>
              </a:solidFill>
            </a:endParaRPr>
          </a:p>
        </p:txBody>
      </p:sp>
      <p:sp>
        <p:nvSpPr>
          <p:cNvPr id="249" name="Google Shape;249;p27"/>
          <p:cNvSpPr txBox="1"/>
          <p:nvPr/>
        </p:nvSpPr>
        <p:spPr>
          <a:xfrm>
            <a:off x="2273700" y="1926550"/>
            <a:ext cx="11676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2"/>
                </a:solidFill>
              </a:rPr>
              <a:t>ARCA21</a:t>
            </a:r>
            <a:endParaRPr sz="1300">
              <a:solidFill>
                <a:schemeClr val="dk2"/>
              </a:solidFill>
            </a:endParaRPr>
          </a:p>
        </p:txBody>
      </p:sp>
      <p:sp>
        <p:nvSpPr>
          <p:cNvPr id="250" name="Google Shape;250;p27"/>
          <p:cNvSpPr txBox="1"/>
          <p:nvPr/>
        </p:nvSpPr>
        <p:spPr>
          <a:xfrm>
            <a:off x="7142525" y="1926550"/>
            <a:ext cx="1167600" cy="5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chemeClr val="dk2"/>
                </a:solidFill>
              </a:rPr>
              <a:t>ARCA21</a:t>
            </a:r>
            <a:endParaRPr sz="1300">
              <a:solidFill>
                <a:schemeClr val="dk2"/>
              </a:solidFill>
            </a:endParaRPr>
          </a:p>
        </p:txBody>
      </p:sp>
      <p:sp>
        <p:nvSpPr>
          <p:cNvPr id="251" name="Google Shape;251;p27"/>
          <p:cNvSpPr txBox="1"/>
          <p:nvPr>
            <p:ph idx="1" type="body"/>
          </p:nvPr>
        </p:nvSpPr>
        <p:spPr>
          <a:xfrm>
            <a:off x="311700" y="847675"/>
            <a:ext cx="8520600" cy="977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SzPts val="1018"/>
              <a:buFont typeface="Arial"/>
              <a:buNone/>
            </a:pPr>
            <a:r>
              <a:rPr lang="en-GB">
                <a:solidFill>
                  <a:schemeClr val="dk1"/>
                </a:solidFill>
              </a:rPr>
              <a:t>We chose to plot the number of events vs. the source distance in a range from 10 Kpc to 10 Mpc, for each declination</a:t>
            </a:r>
            <a:r>
              <a:rPr b="1" lang="en-GB">
                <a:solidFill>
                  <a:srgbClr val="9933FF"/>
                </a:solidFill>
              </a:rPr>
              <a:t> —&gt;</a:t>
            </a:r>
            <a:r>
              <a:rPr lang="en-GB">
                <a:solidFill>
                  <a:schemeClr val="dk1"/>
                </a:solidFill>
              </a:rPr>
              <a:t> </a:t>
            </a:r>
            <a:r>
              <a:rPr b="1" i="1" lang="en-GB">
                <a:solidFill>
                  <a:schemeClr val="dk1"/>
                </a:solidFill>
              </a:rPr>
              <a:t>SN type IIP</a:t>
            </a:r>
            <a:r>
              <a:rPr lang="en-GB">
                <a:solidFill>
                  <a:schemeClr val="dk1"/>
                </a:solidFill>
              </a:rPr>
              <a:t> </a:t>
            </a:r>
            <a:endParaRPr>
              <a:solidFill>
                <a:schemeClr val="dk1"/>
              </a:solidFill>
            </a:endParaRPr>
          </a:p>
          <a:p>
            <a:pPr indent="0" lvl="0" marL="0" rtl="0" algn="l">
              <a:spcBef>
                <a:spcPts val="0"/>
              </a:spcBef>
              <a:spcAft>
                <a:spcPts val="1200"/>
              </a:spcAft>
              <a:buNone/>
            </a:pPr>
            <a:r>
              <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idx="1" type="body"/>
          </p:nvPr>
        </p:nvSpPr>
        <p:spPr>
          <a:xfrm>
            <a:off x="305825" y="793975"/>
            <a:ext cx="8520600" cy="977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dk1"/>
                </a:solidFill>
              </a:rPr>
              <a:t>At the moment, the catalogue </a:t>
            </a:r>
            <a:r>
              <a:rPr lang="en-GB">
                <a:solidFill>
                  <a:schemeClr val="dk1"/>
                </a:solidFill>
              </a:rPr>
              <a:t>contains</a:t>
            </a:r>
            <a:r>
              <a:rPr lang="en-GB">
                <a:solidFill>
                  <a:schemeClr val="dk1"/>
                </a:solidFill>
              </a:rPr>
              <a:t> a </a:t>
            </a:r>
            <a:r>
              <a:rPr lang="en-GB">
                <a:solidFill>
                  <a:schemeClr val="dk1"/>
                </a:solidFill>
              </a:rPr>
              <a:t>bunch</a:t>
            </a:r>
            <a:r>
              <a:rPr lang="en-GB">
                <a:solidFill>
                  <a:schemeClr val="dk1"/>
                </a:solidFill>
              </a:rPr>
              <a:t> of SNe exploded in the entire ARCA lifetime (from ARCA6 to ARCA21) but we need to select them more carefully according to each ARCA period!</a:t>
            </a:r>
            <a:endParaRPr>
              <a:solidFill>
                <a:schemeClr val="dk1"/>
              </a:solidFill>
            </a:endParaRPr>
          </a:p>
        </p:txBody>
      </p:sp>
      <p:pic>
        <p:nvPicPr>
          <p:cNvPr id="257" name="Google Shape;257;p28"/>
          <p:cNvPicPr preferRelativeResize="0"/>
          <p:nvPr/>
        </p:nvPicPr>
        <p:blipFill>
          <a:blip r:embed="rId3">
            <a:alphaModFix/>
          </a:blip>
          <a:stretch>
            <a:fillRect/>
          </a:stretch>
        </p:blipFill>
        <p:spPr>
          <a:xfrm>
            <a:off x="393800" y="1510901"/>
            <a:ext cx="7860183" cy="3203900"/>
          </a:xfrm>
          <a:prstGeom prst="rect">
            <a:avLst/>
          </a:prstGeom>
          <a:noFill/>
          <a:ln>
            <a:noFill/>
          </a:ln>
        </p:spPr>
      </p:pic>
      <p:sp>
        <p:nvSpPr>
          <p:cNvPr id="258" name="Google Shape;258;p28"/>
          <p:cNvSpPr txBox="1"/>
          <p:nvPr/>
        </p:nvSpPr>
        <p:spPr>
          <a:xfrm>
            <a:off x="4766400" y="4497025"/>
            <a:ext cx="3886200" cy="393600"/>
          </a:xfrm>
          <a:prstGeom prst="rect">
            <a:avLst/>
          </a:prstGeom>
          <a:solidFill>
            <a:srgbClr val="D0E0E3"/>
          </a:solidFill>
          <a:ln cap="flat" cmpd="sng" w="28575">
            <a:solidFill>
              <a:srgbClr val="9933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GB" u="sng">
                <a:solidFill>
                  <a:schemeClr val="dk1"/>
                </a:solidFill>
              </a:rPr>
              <a:t>Only a few sources are closer than 10 Mpc!</a:t>
            </a:r>
            <a:endParaRPr b="1" u="sng">
              <a:solidFill>
                <a:schemeClr val="dk1"/>
              </a:solidFill>
            </a:endParaRPr>
          </a:p>
        </p:txBody>
      </p:sp>
      <p:sp>
        <p:nvSpPr>
          <p:cNvPr id="259" name="Google Shape;259;p28"/>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60" name="Google Shape;260;p28"/>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261" name="Google Shape;261;p28"/>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solidFill>
                  <a:srgbClr val="9933FF"/>
                </a:solidFill>
              </a:rPr>
              <a:t>2.c) </a:t>
            </a:r>
            <a:r>
              <a:rPr b="1" lang="en-GB">
                <a:solidFill>
                  <a:srgbClr val="9933FF"/>
                </a:solidFill>
              </a:rPr>
              <a:t>Sources catalogue</a:t>
            </a:r>
            <a:endParaRPr b="1">
              <a:solidFill>
                <a:srgbClr val="9933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9"/>
          <p:cNvSpPr txBox="1"/>
          <p:nvPr>
            <p:ph idx="1" type="body"/>
          </p:nvPr>
        </p:nvSpPr>
        <p:spPr>
          <a:xfrm>
            <a:off x="311700" y="1152475"/>
            <a:ext cx="8832300" cy="4674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GB">
                <a:solidFill>
                  <a:schemeClr val="dk1"/>
                </a:solidFill>
              </a:rPr>
              <a:t>Considering the closest sources from the catalogue, we tried to compute the number of expected events.  </a:t>
            </a:r>
            <a:endParaRPr>
              <a:solidFill>
                <a:schemeClr val="dk1"/>
              </a:solidFill>
            </a:endParaRPr>
          </a:p>
        </p:txBody>
      </p:sp>
      <p:graphicFrame>
        <p:nvGraphicFramePr>
          <p:cNvPr id="267" name="Google Shape;267;p29"/>
          <p:cNvGraphicFramePr/>
          <p:nvPr/>
        </p:nvGraphicFramePr>
        <p:xfrm>
          <a:off x="952500" y="2789450"/>
          <a:ext cx="3000000" cy="3000000"/>
        </p:xfrm>
        <a:graphic>
          <a:graphicData uri="http://schemas.openxmlformats.org/drawingml/2006/table">
            <a:tbl>
              <a:tblPr>
                <a:noFill/>
                <a:tableStyleId>{19002806-FCED-4958-86B2-DEFD2619F7C2}</a:tableStyleId>
              </a:tblPr>
              <a:tblGrid>
                <a:gridCol w="1809750"/>
                <a:gridCol w="1809750"/>
                <a:gridCol w="1809750"/>
                <a:gridCol w="180975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GB"/>
                        <a:t>Declination (°)</a:t>
                      </a:r>
                      <a:endParaRPr/>
                    </a:p>
                  </a:txBody>
                  <a:tcPr marT="91425" marB="91425" marR="91425" marL="91425"/>
                </a:tc>
                <a:tc>
                  <a:txBody>
                    <a:bodyPr/>
                    <a:lstStyle/>
                    <a:p>
                      <a:pPr indent="0" lvl="0" marL="0" rtl="0" algn="l">
                        <a:spcBef>
                          <a:spcPts val="0"/>
                        </a:spcBef>
                        <a:spcAft>
                          <a:spcPts val="0"/>
                        </a:spcAft>
                        <a:buNone/>
                      </a:pPr>
                      <a:r>
                        <a:rPr lang="en-GB"/>
                        <a:t>Distance (Mpc)</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GB">
                          <a:solidFill>
                            <a:schemeClr val="dk1"/>
                          </a:solidFill>
                        </a:rPr>
                        <a:t>#expected_events</a:t>
                      </a:r>
                      <a:endParaRPr/>
                    </a:p>
                  </a:txBody>
                  <a:tcPr marT="91425" marB="91425" marR="91425" marL="91425"/>
                </a:tc>
              </a:tr>
              <a:tr h="381000">
                <a:tc>
                  <a:txBody>
                    <a:bodyPr/>
                    <a:lstStyle/>
                    <a:p>
                      <a:pPr indent="0" lvl="0" marL="0" rtl="0" algn="l">
                        <a:spcBef>
                          <a:spcPts val="0"/>
                        </a:spcBef>
                        <a:spcAft>
                          <a:spcPts val="0"/>
                        </a:spcAft>
                        <a:buNone/>
                      </a:pPr>
                      <a:r>
                        <a:rPr lang="en-GB"/>
                        <a:t>SN2023ixf</a:t>
                      </a:r>
                      <a:endParaRPr/>
                    </a:p>
                  </a:txBody>
                  <a:tcPr marT="91425" marB="91425" marR="91425" marL="91425"/>
                </a:tc>
                <a:tc>
                  <a:txBody>
                    <a:bodyPr/>
                    <a:lstStyle/>
                    <a:p>
                      <a:pPr indent="0" lvl="0" marL="0" rtl="0" algn="l">
                        <a:spcBef>
                          <a:spcPts val="0"/>
                        </a:spcBef>
                        <a:spcAft>
                          <a:spcPts val="0"/>
                        </a:spcAft>
                        <a:buNone/>
                      </a:pPr>
                      <a:r>
                        <a:rPr lang="en-GB"/>
                        <a:t>54°</a:t>
                      </a:r>
                      <a:endParaRPr/>
                    </a:p>
                  </a:txBody>
                  <a:tcPr marT="91425" marB="91425" marR="91425" marL="91425"/>
                </a:tc>
                <a:tc>
                  <a:txBody>
                    <a:bodyPr/>
                    <a:lstStyle/>
                    <a:p>
                      <a:pPr indent="0" lvl="0" marL="0" rtl="0" algn="l">
                        <a:spcBef>
                          <a:spcPts val="0"/>
                        </a:spcBef>
                        <a:spcAft>
                          <a:spcPts val="0"/>
                        </a:spcAft>
                        <a:buNone/>
                      </a:pPr>
                      <a:r>
                        <a:rPr lang="en-GB"/>
                        <a:t>6.4 Mpc</a:t>
                      </a:r>
                      <a:endParaRPr/>
                    </a:p>
                  </a:txBody>
                  <a:tcPr marT="91425" marB="91425" marR="91425" marL="91425"/>
                </a:tc>
                <a:tc>
                  <a:txBody>
                    <a:bodyPr/>
                    <a:lstStyle/>
                    <a:p>
                      <a:pPr indent="0" lvl="0" marL="0" rtl="0" algn="l">
                        <a:spcBef>
                          <a:spcPts val="0"/>
                        </a:spcBef>
                        <a:spcAft>
                          <a:spcPts val="0"/>
                        </a:spcAft>
                        <a:buNone/>
                      </a:pPr>
                      <a:r>
                        <a:rPr lang="en-GB"/>
                        <a:t>10</a:t>
                      </a:r>
                      <a:r>
                        <a:rPr baseline="30000" lang="en-GB"/>
                        <a:t>-7</a:t>
                      </a:r>
                      <a:endParaRPr baseline="30000"/>
                    </a:p>
                  </a:txBody>
                  <a:tcPr marT="91425" marB="91425" marR="91425" marL="91425"/>
                </a:tc>
              </a:tr>
            </a:tbl>
          </a:graphicData>
        </a:graphic>
      </p:graphicFrame>
      <p:sp>
        <p:nvSpPr>
          <p:cNvPr id="268" name="Google Shape;268;p29"/>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69" name="Google Shape;269;p29"/>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270" name="Google Shape;270;p29"/>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solidFill>
                  <a:srgbClr val="9933FF"/>
                </a:solidFill>
              </a:rPr>
              <a:t>2.d) E</a:t>
            </a:r>
            <a:r>
              <a:rPr b="1" lang="en-GB">
                <a:solidFill>
                  <a:srgbClr val="9933FF"/>
                </a:solidFill>
              </a:rPr>
              <a:t>xpected events from sources in the catalogue</a:t>
            </a:r>
            <a:endParaRPr b="1">
              <a:solidFill>
                <a:srgbClr val="9933FF"/>
              </a:solidFill>
            </a:endParaRPr>
          </a:p>
        </p:txBody>
      </p:sp>
      <p:sp>
        <p:nvSpPr>
          <p:cNvPr id="271" name="Google Shape;271;p29"/>
          <p:cNvSpPr txBox="1"/>
          <p:nvPr/>
        </p:nvSpPr>
        <p:spPr>
          <a:xfrm>
            <a:off x="946625" y="3838700"/>
            <a:ext cx="7239000" cy="10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We will compute the number of expected events also for the SNe </a:t>
            </a:r>
            <a:r>
              <a:rPr lang="en-GB">
                <a:solidFill>
                  <a:schemeClr val="dk1"/>
                </a:solidFill>
              </a:rPr>
              <a:t>occurred</a:t>
            </a:r>
            <a:r>
              <a:rPr lang="en-GB">
                <a:solidFill>
                  <a:schemeClr val="dk1"/>
                </a:solidFill>
              </a:rPr>
              <a:t> during the life time of the other ARCA configurations (ARCA6, ARCA9 and ARCA19) </a:t>
            </a:r>
            <a:endParaRPr>
              <a:solidFill>
                <a:schemeClr val="dk1"/>
              </a:solidFill>
            </a:endParaRPr>
          </a:p>
        </p:txBody>
      </p:sp>
      <p:sp>
        <p:nvSpPr>
          <p:cNvPr id="272" name="Google Shape;272;p29"/>
          <p:cNvSpPr/>
          <p:nvPr/>
        </p:nvSpPr>
        <p:spPr>
          <a:xfrm>
            <a:off x="305825" y="3993675"/>
            <a:ext cx="670200" cy="251400"/>
          </a:xfrm>
          <a:prstGeom prst="rightArrow">
            <a:avLst>
              <a:gd fmla="val 50000" name="adj1"/>
              <a:gd fmla="val 50000" name="adj2"/>
            </a:avLst>
          </a:prstGeom>
          <a:solidFill>
            <a:srgbClr val="9933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29"/>
          <p:cNvSpPr txBox="1"/>
          <p:nvPr/>
        </p:nvSpPr>
        <p:spPr>
          <a:xfrm>
            <a:off x="946625" y="1880650"/>
            <a:ext cx="7239000" cy="648000"/>
          </a:xfrm>
          <a:prstGeom prst="rect">
            <a:avLst/>
          </a:prstGeom>
          <a:solidFill>
            <a:srgbClr val="D0E0E3"/>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GB">
                <a:solidFill>
                  <a:schemeClr val="dk1"/>
                </a:solidFill>
              </a:rPr>
              <a:t>For </a:t>
            </a:r>
            <a:r>
              <a:rPr b="1" lang="en-GB">
                <a:solidFill>
                  <a:schemeClr val="dk1"/>
                </a:solidFill>
              </a:rPr>
              <a:t>the</a:t>
            </a:r>
            <a:r>
              <a:rPr b="1" lang="en-GB">
                <a:solidFill>
                  <a:schemeClr val="dk1"/>
                </a:solidFill>
              </a:rPr>
              <a:t> moment, w</a:t>
            </a:r>
            <a:r>
              <a:rPr b="1" lang="en-GB">
                <a:solidFill>
                  <a:schemeClr val="dk1"/>
                </a:solidFill>
              </a:rPr>
              <a:t>e have selected only the SN whose H-E neutrino emission occurs in a time window compatible with ARCA21 life time.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lang="en-GB" sz="1400">
                <a:solidFill>
                  <a:schemeClr val="dk1"/>
                </a:solidFill>
              </a:rPr>
              <a:t>Upgrade the catalogue;</a:t>
            </a:r>
            <a:br>
              <a:rPr lang="en-GB"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Study of the sensitivity using Aanet unbinned likelihood;</a:t>
            </a:r>
            <a:br>
              <a:rPr lang="en-GB" sz="1400">
                <a:solidFill>
                  <a:schemeClr val="dk1"/>
                </a:solidFill>
              </a:rPr>
            </a:b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Perform a Cut&amp;Count analysis.</a:t>
            </a:r>
            <a:endParaRPr sz="1400">
              <a:solidFill>
                <a:schemeClr val="dk1"/>
              </a:solidFill>
            </a:endParaRPr>
          </a:p>
          <a:p>
            <a:pPr indent="0" lvl="0" marL="0" rtl="0" algn="l">
              <a:spcBef>
                <a:spcPts val="1200"/>
              </a:spcBef>
              <a:spcAft>
                <a:spcPts val="0"/>
              </a:spcAft>
              <a:buNone/>
            </a:pPr>
            <a:r>
              <a:t/>
            </a:r>
            <a:endParaRPr/>
          </a:p>
          <a:p>
            <a:pPr indent="0" lvl="0" marL="0" rtl="0" algn="ctr">
              <a:spcBef>
                <a:spcPts val="1200"/>
              </a:spcBef>
              <a:spcAft>
                <a:spcPts val="0"/>
              </a:spcAft>
              <a:buNone/>
            </a:pPr>
            <a:r>
              <a:rPr b="1" lang="en-GB" sz="2900">
                <a:solidFill>
                  <a:srgbClr val="9933FF"/>
                </a:solidFill>
              </a:rPr>
              <a:t>Thanks for your attention! </a:t>
            </a:r>
            <a:endParaRPr b="1" sz="2900">
              <a:solidFill>
                <a:srgbClr val="9933FF"/>
              </a:solidFill>
            </a:endParaRPr>
          </a:p>
          <a:p>
            <a:pPr indent="0" lvl="0" marL="0" rtl="0" algn="ctr">
              <a:spcBef>
                <a:spcPts val="1200"/>
              </a:spcBef>
              <a:spcAft>
                <a:spcPts val="1200"/>
              </a:spcAft>
              <a:buNone/>
            </a:pPr>
            <a:r>
              <a:rPr lang="en-GB">
                <a:solidFill>
                  <a:schemeClr val="dk1"/>
                </a:solidFill>
              </a:rPr>
              <a:t>Any suggestions?</a:t>
            </a:r>
            <a:endParaRPr>
              <a:solidFill>
                <a:schemeClr val="dk1"/>
              </a:solidFill>
            </a:endParaRPr>
          </a:p>
        </p:txBody>
      </p:sp>
      <p:sp>
        <p:nvSpPr>
          <p:cNvPr id="279" name="Google Shape;279;p30"/>
          <p:cNvSpPr txBox="1"/>
          <p:nvPr>
            <p:ph idx="12" type="sldNum"/>
          </p:nvPr>
        </p:nvSpPr>
        <p:spPr>
          <a:xfrm>
            <a:off x="8595308" y="47851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sp>
        <p:nvSpPr>
          <p:cNvPr id="280" name="Google Shape;280;p30"/>
          <p:cNvSpPr txBox="1"/>
          <p:nvPr/>
        </p:nvSpPr>
        <p:spPr>
          <a:xfrm>
            <a:off x="0" y="4820400"/>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900">
                <a:solidFill>
                  <a:schemeClr val="dk2"/>
                </a:solidFill>
              </a:rPr>
              <a:t>Oliviero, Rea, Bendahman</a:t>
            </a:r>
            <a:endParaRPr sz="900">
              <a:solidFill>
                <a:schemeClr val="dk2"/>
              </a:solidFill>
            </a:endParaRPr>
          </a:p>
        </p:txBody>
      </p:sp>
      <p:sp>
        <p:nvSpPr>
          <p:cNvPr id="281" name="Google Shape;281;p30"/>
          <p:cNvSpPr txBox="1"/>
          <p:nvPr>
            <p:ph type="title"/>
          </p:nvPr>
        </p:nvSpPr>
        <p:spPr>
          <a:xfrm>
            <a:off x="305825" y="157750"/>
            <a:ext cx="8520600" cy="5727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GB">
                <a:solidFill>
                  <a:srgbClr val="9933FF"/>
                </a:solidFill>
              </a:rPr>
              <a:t>Next steps</a:t>
            </a:r>
            <a:endParaRPr b="1">
              <a:solidFill>
                <a:srgbClr val="9933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9933FF"/>
                </a:solidFill>
              </a:rPr>
              <a:t>Back up </a:t>
            </a:r>
            <a:endParaRPr>
              <a:solidFill>
                <a:srgbClr val="9933FF"/>
              </a:solidFill>
            </a:endParaRPr>
          </a:p>
        </p:txBody>
      </p:sp>
      <p:sp>
        <p:nvSpPr>
          <p:cNvPr id="287" name="Google Shape;287;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88" name="Google Shape;288;p31"/>
          <p:cNvPicPr preferRelativeResize="0"/>
          <p:nvPr/>
        </p:nvPicPr>
        <p:blipFill>
          <a:blip r:embed="rId3">
            <a:alphaModFix/>
          </a:blip>
          <a:stretch>
            <a:fillRect/>
          </a:stretch>
        </p:blipFill>
        <p:spPr>
          <a:xfrm>
            <a:off x="712951" y="1152350"/>
            <a:ext cx="7596450" cy="3594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9933FF"/>
                </a:solidFill>
              </a:rPr>
              <a:t>Back up </a:t>
            </a:r>
            <a:endParaRPr>
              <a:solidFill>
                <a:srgbClr val="9933FF"/>
              </a:solidFill>
            </a:endParaRPr>
          </a:p>
        </p:txBody>
      </p:sp>
      <p:sp>
        <p:nvSpPr>
          <p:cNvPr id="294" name="Google Shape;29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295" name="Google Shape;295;p32"/>
          <p:cNvPicPr preferRelativeResize="0"/>
          <p:nvPr/>
        </p:nvPicPr>
        <p:blipFill>
          <a:blip r:embed="rId3">
            <a:alphaModFix/>
          </a:blip>
          <a:stretch>
            <a:fillRect/>
          </a:stretch>
        </p:blipFill>
        <p:spPr>
          <a:xfrm>
            <a:off x="609375" y="1017713"/>
            <a:ext cx="8096250" cy="4200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9933FF"/>
                </a:solidFill>
              </a:rPr>
              <a:t>Back up </a:t>
            </a:r>
            <a:endParaRPr>
              <a:solidFill>
                <a:srgbClr val="9933FF"/>
              </a:solidFill>
            </a:endParaRPr>
          </a:p>
        </p:txBody>
      </p:sp>
      <p:sp>
        <p:nvSpPr>
          <p:cNvPr id="301" name="Google Shape;30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302" name="Google Shape;302;p33"/>
          <p:cNvPicPr preferRelativeResize="0"/>
          <p:nvPr/>
        </p:nvPicPr>
        <p:blipFill rotWithShape="1">
          <a:blip r:embed="rId3">
            <a:alphaModFix/>
          </a:blip>
          <a:srcRect b="70120" l="0" r="4607" t="18040"/>
          <a:stretch/>
        </p:blipFill>
        <p:spPr>
          <a:xfrm>
            <a:off x="712950" y="1152350"/>
            <a:ext cx="7246299" cy="665700"/>
          </a:xfrm>
          <a:prstGeom prst="rect">
            <a:avLst/>
          </a:prstGeom>
          <a:noFill/>
          <a:ln>
            <a:noFill/>
          </a:ln>
        </p:spPr>
      </p:pic>
      <p:sp>
        <p:nvSpPr>
          <p:cNvPr id="303" name="Google Shape;303;p33"/>
          <p:cNvSpPr txBox="1"/>
          <p:nvPr/>
        </p:nvSpPr>
        <p:spPr>
          <a:xfrm>
            <a:off x="3953550" y="717625"/>
            <a:ext cx="5623500" cy="66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t/>
            </a:r>
            <a:endParaRPr sz="15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
        <p:nvSpPr>
          <p:cNvPr id="304" name="Google Shape;304;p33"/>
          <p:cNvSpPr txBox="1"/>
          <p:nvPr/>
        </p:nvSpPr>
        <p:spPr>
          <a:xfrm>
            <a:off x="894150" y="2048025"/>
            <a:ext cx="3789000" cy="1670100"/>
          </a:xfrm>
          <a:prstGeom prst="rect">
            <a:avLst/>
          </a:prstGeom>
          <a:solidFill>
            <a:schemeClr val="lt2"/>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GB" sz="1500">
                <a:solidFill>
                  <a:schemeClr val="dk1"/>
                </a:solidFill>
              </a:rPr>
              <a:t>In this scenario the proposed progenitors are similar to gamma-ray bursts (GRBs), except the jets are slower and never break through the stellar envelope, leading to neutrinos without the counterpart gamma-ray emission.</a:t>
            </a:r>
            <a:endParaRPr sz="1800">
              <a:solidFill>
                <a:schemeClr val="dk2"/>
              </a:solidFill>
            </a:endParaRPr>
          </a:p>
        </p:txBody>
      </p:sp>
      <p:pic>
        <p:nvPicPr>
          <p:cNvPr id="305" name="Google Shape;305;p33"/>
          <p:cNvPicPr preferRelativeResize="0"/>
          <p:nvPr/>
        </p:nvPicPr>
        <p:blipFill>
          <a:blip r:embed="rId4">
            <a:alphaModFix/>
          </a:blip>
          <a:stretch>
            <a:fillRect/>
          </a:stretch>
        </p:blipFill>
        <p:spPr>
          <a:xfrm>
            <a:off x="4724400" y="1734900"/>
            <a:ext cx="3987233" cy="29283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