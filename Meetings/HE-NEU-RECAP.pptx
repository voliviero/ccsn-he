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35"/>
  </p:notesMasterIdLst>
  <p:handoutMasterIdLst>
    <p:handoutMasterId r:id="rId36"/>
  </p:handoutMasterIdLst>
  <p:sldIdLst>
    <p:sldId id="334" r:id="rId5"/>
    <p:sldId id="316" r:id="rId6"/>
    <p:sldId id="364" r:id="rId7"/>
    <p:sldId id="377" r:id="rId8"/>
    <p:sldId id="358" r:id="rId9"/>
    <p:sldId id="373" r:id="rId10"/>
    <p:sldId id="372" r:id="rId11"/>
    <p:sldId id="369" r:id="rId12"/>
    <p:sldId id="368" r:id="rId13"/>
    <p:sldId id="375" r:id="rId14"/>
    <p:sldId id="378" r:id="rId15"/>
    <p:sldId id="380" r:id="rId16"/>
    <p:sldId id="386" r:id="rId17"/>
    <p:sldId id="384" r:id="rId18"/>
    <p:sldId id="379" r:id="rId19"/>
    <p:sldId id="383" r:id="rId20"/>
    <p:sldId id="385" r:id="rId21"/>
    <p:sldId id="376" r:id="rId22"/>
    <p:sldId id="286" r:id="rId23"/>
    <p:sldId id="350" r:id="rId24"/>
    <p:sldId id="263" r:id="rId25"/>
    <p:sldId id="353" r:id="rId26"/>
    <p:sldId id="352" r:id="rId27"/>
    <p:sldId id="354" r:id="rId28"/>
    <p:sldId id="357" r:id="rId29"/>
    <p:sldId id="355" r:id="rId30"/>
    <p:sldId id="370" r:id="rId31"/>
    <p:sldId id="367" r:id="rId32"/>
    <p:sldId id="374" r:id="rId33"/>
    <p:sldId id="382" r:id="rId34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6CFF"/>
    <a:srgbClr val="FF8112"/>
    <a:srgbClr val="D0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93969" autoAdjust="0"/>
  </p:normalViewPr>
  <p:slideViewPr>
    <p:cSldViewPr snapToGrid="0">
      <p:cViewPr>
        <p:scale>
          <a:sx n="70" d="100"/>
          <a:sy n="70" d="100"/>
        </p:scale>
        <p:origin x="744" y="1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03F71C-01C9-41E8-9E77-A018B9E90A19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4F01314-7312-45B0-A8E4-4FA7BFF93FD7}">
      <dgm:prSet/>
      <dgm:spPr/>
      <dgm:t>
        <a:bodyPr/>
        <a:lstStyle/>
        <a:p>
          <a:r>
            <a:rPr lang="it-IT"/>
            <a:t>Investigated physical scenario;</a:t>
          </a:r>
          <a:endParaRPr lang="en-US"/>
        </a:p>
      </dgm:t>
    </dgm:pt>
    <dgm:pt modelId="{29FA5846-2B4A-4296-991F-954EDD2287DC}" type="parTrans" cxnId="{B42304EE-D0E2-490D-8FB0-B0E03E5AB0F2}">
      <dgm:prSet/>
      <dgm:spPr/>
      <dgm:t>
        <a:bodyPr/>
        <a:lstStyle/>
        <a:p>
          <a:endParaRPr lang="en-US"/>
        </a:p>
      </dgm:t>
    </dgm:pt>
    <dgm:pt modelId="{EB8CA0F5-A758-4DC3-86AE-E7FD6AE270BC}" type="sibTrans" cxnId="{B42304EE-D0E2-490D-8FB0-B0E03E5AB0F2}">
      <dgm:prSet/>
      <dgm:spPr/>
      <dgm:t>
        <a:bodyPr/>
        <a:lstStyle/>
        <a:p>
          <a:endParaRPr lang="en-US"/>
        </a:p>
      </dgm:t>
    </dgm:pt>
    <dgm:pt modelId="{ED059CEE-11A9-4367-9400-CEB635A9BBF5}">
      <dgm:prSet/>
      <dgm:spPr/>
      <dgm:t>
        <a:bodyPr/>
        <a:lstStyle/>
        <a:p>
          <a:r>
            <a:rPr lang="it-IT"/>
            <a:t>Studied the emission model;</a:t>
          </a:r>
          <a:endParaRPr lang="en-US"/>
        </a:p>
      </dgm:t>
    </dgm:pt>
    <dgm:pt modelId="{9797C9CA-96E4-46A3-A463-7278B96D9EDB}" type="parTrans" cxnId="{7424587B-FA04-4110-98E3-8861708F7A4C}">
      <dgm:prSet/>
      <dgm:spPr/>
      <dgm:t>
        <a:bodyPr/>
        <a:lstStyle/>
        <a:p>
          <a:endParaRPr lang="en-US"/>
        </a:p>
      </dgm:t>
    </dgm:pt>
    <dgm:pt modelId="{6516A0B3-BD68-4D69-8EB4-3F5774354AF2}" type="sibTrans" cxnId="{7424587B-FA04-4110-98E3-8861708F7A4C}">
      <dgm:prSet/>
      <dgm:spPr/>
      <dgm:t>
        <a:bodyPr/>
        <a:lstStyle/>
        <a:p>
          <a:endParaRPr lang="en-US"/>
        </a:p>
      </dgm:t>
    </dgm:pt>
    <dgm:pt modelId="{A93A75A5-9DF7-43B7-BA9B-02C7D91835EC}">
      <dgm:prSet/>
      <dgm:spPr/>
      <dgm:t>
        <a:bodyPr/>
        <a:lstStyle/>
        <a:p>
          <a:r>
            <a:rPr lang="en-US"/>
            <a:t>Produced the sources catalog;</a:t>
          </a:r>
        </a:p>
      </dgm:t>
    </dgm:pt>
    <dgm:pt modelId="{73C2FBDD-26E9-45AE-A1D9-9A293991E551}" type="parTrans" cxnId="{C852C905-5218-4574-A32A-48B0A0D5163F}">
      <dgm:prSet/>
      <dgm:spPr/>
      <dgm:t>
        <a:bodyPr/>
        <a:lstStyle/>
        <a:p>
          <a:endParaRPr lang="en-US"/>
        </a:p>
      </dgm:t>
    </dgm:pt>
    <dgm:pt modelId="{82F08D6D-5528-4DDF-85BD-80F035D26704}" type="sibTrans" cxnId="{C852C905-5218-4574-A32A-48B0A0D5163F}">
      <dgm:prSet/>
      <dgm:spPr/>
      <dgm:t>
        <a:bodyPr/>
        <a:lstStyle/>
        <a:p>
          <a:endParaRPr lang="en-US"/>
        </a:p>
      </dgm:t>
    </dgm:pt>
    <dgm:pt modelId="{5A9F3E7E-0F36-4D7F-ACBD-AFA01D13715E}">
      <dgm:prSet/>
      <dgm:spPr/>
      <dgm:t>
        <a:bodyPr/>
        <a:lstStyle/>
        <a:p>
          <a:r>
            <a:rPr lang="it-IT" dirty="0"/>
            <a:t>Plan for </a:t>
          </a:r>
          <a:r>
            <a:rPr lang="it-IT" dirty="0" err="1"/>
            <a:t>different</a:t>
          </a:r>
          <a:r>
            <a:rPr lang="it-IT" dirty="0"/>
            <a:t> </a:t>
          </a:r>
          <a:r>
            <a:rPr lang="it-IT" dirty="0" err="1"/>
            <a:t>analysis</a:t>
          </a:r>
          <a:r>
            <a:rPr lang="it-IT" dirty="0"/>
            <a:t> strategies.</a:t>
          </a:r>
          <a:endParaRPr lang="en-US" dirty="0"/>
        </a:p>
      </dgm:t>
    </dgm:pt>
    <dgm:pt modelId="{9447B7AB-EE8D-438E-9EBF-4651415EA44E}" type="parTrans" cxnId="{D09C88B2-005C-4158-8E76-952890E2C636}">
      <dgm:prSet/>
      <dgm:spPr/>
      <dgm:t>
        <a:bodyPr/>
        <a:lstStyle/>
        <a:p>
          <a:endParaRPr lang="en-US"/>
        </a:p>
      </dgm:t>
    </dgm:pt>
    <dgm:pt modelId="{5D93E4B1-FBF7-4B53-A8DD-51660E24C8EF}" type="sibTrans" cxnId="{D09C88B2-005C-4158-8E76-952890E2C636}">
      <dgm:prSet/>
      <dgm:spPr/>
      <dgm:t>
        <a:bodyPr/>
        <a:lstStyle/>
        <a:p>
          <a:endParaRPr lang="en-US"/>
        </a:p>
      </dgm:t>
    </dgm:pt>
    <dgm:pt modelId="{B1CBA203-9615-4649-AF43-B738D8B8102D}" type="pres">
      <dgm:prSet presAssocID="{5A03F71C-01C9-41E8-9E77-A018B9E90A19}" presName="vert0" presStyleCnt="0">
        <dgm:presLayoutVars>
          <dgm:dir/>
          <dgm:animOne val="branch"/>
          <dgm:animLvl val="lvl"/>
        </dgm:presLayoutVars>
      </dgm:prSet>
      <dgm:spPr/>
    </dgm:pt>
    <dgm:pt modelId="{9BB01082-DAC3-42D0-9143-051FB51742F0}" type="pres">
      <dgm:prSet presAssocID="{24F01314-7312-45B0-A8E4-4FA7BFF93FD7}" presName="thickLine" presStyleLbl="alignNode1" presStyleIdx="0" presStyleCnt="4"/>
      <dgm:spPr/>
    </dgm:pt>
    <dgm:pt modelId="{B5A93ECF-E743-44E4-9006-37185C5CD7BC}" type="pres">
      <dgm:prSet presAssocID="{24F01314-7312-45B0-A8E4-4FA7BFF93FD7}" presName="horz1" presStyleCnt="0"/>
      <dgm:spPr/>
    </dgm:pt>
    <dgm:pt modelId="{45DEDBF5-F66B-498D-973D-E0E480A58AA3}" type="pres">
      <dgm:prSet presAssocID="{24F01314-7312-45B0-A8E4-4FA7BFF93FD7}" presName="tx1" presStyleLbl="revTx" presStyleIdx="0" presStyleCnt="4"/>
      <dgm:spPr/>
    </dgm:pt>
    <dgm:pt modelId="{3ECD1298-4471-410F-8B5B-E4AE3B5BABE1}" type="pres">
      <dgm:prSet presAssocID="{24F01314-7312-45B0-A8E4-4FA7BFF93FD7}" presName="vert1" presStyleCnt="0"/>
      <dgm:spPr/>
    </dgm:pt>
    <dgm:pt modelId="{D109D284-B578-40CA-9D7E-4889166FFF0B}" type="pres">
      <dgm:prSet presAssocID="{ED059CEE-11A9-4367-9400-CEB635A9BBF5}" presName="thickLine" presStyleLbl="alignNode1" presStyleIdx="1" presStyleCnt="4"/>
      <dgm:spPr/>
    </dgm:pt>
    <dgm:pt modelId="{3623A932-7616-4867-A42C-6F62B2B36B1D}" type="pres">
      <dgm:prSet presAssocID="{ED059CEE-11A9-4367-9400-CEB635A9BBF5}" presName="horz1" presStyleCnt="0"/>
      <dgm:spPr/>
    </dgm:pt>
    <dgm:pt modelId="{C7AAB798-E9D0-4DA0-AA55-14014DEB9C1E}" type="pres">
      <dgm:prSet presAssocID="{ED059CEE-11A9-4367-9400-CEB635A9BBF5}" presName="tx1" presStyleLbl="revTx" presStyleIdx="1" presStyleCnt="4"/>
      <dgm:spPr/>
    </dgm:pt>
    <dgm:pt modelId="{FF23387F-9D5B-45AF-872B-8BB39E738C7E}" type="pres">
      <dgm:prSet presAssocID="{ED059CEE-11A9-4367-9400-CEB635A9BBF5}" presName="vert1" presStyleCnt="0"/>
      <dgm:spPr/>
    </dgm:pt>
    <dgm:pt modelId="{09F35E53-7F95-4C32-85AB-C7AC337A76F9}" type="pres">
      <dgm:prSet presAssocID="{A93A75A5-9DF7-43B7-BA9B-02C7D91835EC}" presName="thickLine" presStyleLbl="alignNode1" presStyleIdx="2" presStyleCnt="4"/>
      <dgm:spPr/>
    </dgm:pt>
    <dgm:pt modelId="{F38C1058-6D42-4FDB-8BEE-B6552D89C70D}" type="pres">
      <dgm:prSet presAssocID="{A93A75A5-9DF7-43B7-BA9B-02C7D91835EC}" presName="horz1" presStyleCnt="0"/>
      <dgm:spPr/>
    </dgm:pt>
    <dgm:pt modelId="{595B6BD3-0662-4488-B03C-CA164A93DD14}" type="pres">
      <dgm:prSet presAssocID="{A93A75A5-9DF7-43B7-BA9B-02C7D91835EC}" presName="tx1" presStyleLbl="revTx" presStyleIdx="2" presStyleCnt="4"/>
      <dgm:spPr/>
    </dgm:pt>
    <dgm:pt modelId="{22E151B1-4420-4B41-BE8B-A1804CEA7073}" type="pres">
      <dgm:prSet presAssocID="{A93A75A5-9DF7-43B7-BA9B-02C7D91835EC}" presName="vert1" presStyleCnt="0"/>
      <dgm:spPr/>
    </dgm:pt>
    <dgm:pt modelId="{1C995856-134A-4FFD-A8C3-58AD7FA523EF}" type="pres">
      <dgm:prSet presAssocID="{5A9F3E7E-0F36-4D7F-ACBD-AFA01D13715E}" presName="thickLine" presStyleLbl="alignNode1" presStyleIdx="3" presStyleCnt="4"/>
      <dgm:spPr/>
    </dgm:pt>
    <dgm:pt modelId="{067985AD-C33B-4707-B907-392A2B7DFE45}" type="pres">
      <dgm:prSet presAssocID="{5A9F3E7E-0F36-4D7F-ACBD-AFA01D13715E}" presName="horz1" presStyleCnt="0"/>
      <dgm:spPr/>
    </dgm:pt>
    <dgm:pt modelId="{59C37B45-B96B-4413-9EAC-91068EBC5E19}" type="pres">
      <dgm:prSet presAssocID="{5A9F3E7E-0F36-4D7F-ACBD-AFA01D13715E}" presName="tx1" presStyleLbl="revTx" presStyleIdx="3" presStyleCnt="4"/>
      <dgm:spPr/>
    </dgm:pt>
    <dgm:pt modelId="{EAF500C7-F7D0-4180-AD5B-76B7B43E6EDD}" type="pres">
      <dgm:prSet presAssocID="{5A9F3E7E-0F36-4D7F-ACBD-AFA01D13715E}" presName="vert1" presStyleCnt="0"/>
      <dgm:spPr/>
    </dgm:pt>
  </dgm:ptLst>
  <dgm:cxnLst>
    <dgm:cxn modelId="{C852C905-5218-4574-A32A-48B0A0D5163F}" srcId="{5A03F71C-01C9-41E8-9E77-A018B9E90A19}" destId="{A93A75A5-9DF7-43B7-BA9B-02C7D91835EC}" srcOrd="2" destOrd="0" parTransId="{73C2FBDD-26E9-45AE-A1D9-9A293991E551}" sibTransId="{82F08D6D-5528-4DDF-85BD-80F035D26704}"/>
    <dgm:cxn modelId="{C18BDE31-AD6C-4D1D-A6F6-0472F55CD634}" type="presOf" srcId="{5A03F71C-01C9-41E8-9E77-A018B9E90A19}" destId="{B1CBA203-9615-4649-AF43-B738D8B8102D}" srcOrd="0" destOrd="0" presId="urn:microsoft.com/office/officeart/2008/layout/LinedList"/>
    <dgm:cxn modelId="{BBB5BD3E-C630-4DA2-9023-24484536E955}" type="presOf" srcId="{24F01314-7312-45B0-A8E4-4FA7BFF93FD7}" destId="{45DEDBF5-F66B-498D-973D-E0E480A58AA3}" srcOrd="0" destOrd="0" presId="urn:microsoft.com/office/officeart/2008/layout/LinedList"/>
    <dgm:cxn modelId="{69C46762-6CC4-49F7-A226-43D9F23F2827}" type="presOf" srcId="{ED059CEE-11A9-4367-9400-CEB635A9BBF5}" destId="{C7AAB798-E9D0-4DA0-AA55-14014DEB9C1E}" srcOrd="0" destOrd="0" presId="urn:microsoft.com/office/officeart/2008/layout/LinedList"/>
    <dgm:cxn modelId="{7424587B-FA04-4110-98E3-8861708F7A4C}" srcId="{5A03F71C-01C9-41E8-9E77-A018B9E90A19}" destId="{ED059CEE-11A9-4367-9400-CEB635A9BBF5}" srcOrd="1" destOrd="0" parTransId="{9797C9CA-96E4-46A3-A463-7278B96D9EDB}" sibTransId="{6516A0B3-BD68-4D69-8EB4-3F5774354AF2}"/>
    <dgm:cxn modelId="{D09C88B2-005C-4158-8E76-952890E2C636}" srcId="{5A03F71C-01C9-41E8-9E77-A018B9E90A19}" destId="{5A9F3E7E-0F36-4D7F-ACBD-AFA01D13715E}" srcOrd="3" destOrd="0" parTransId="{9447B7AB-EE8D-438E-9EBF-4651415EA44E}" sibTransId="{5D93E4B1-FBF7-4B53-A8DD-51660E24C8EF}"/>
    <dgm:cxn modelId="{8C818BD8-9540-4D7C-83A2-6C446DE8D5CE}" type="presOf" srcId="{5A9F3E7E-0F36-4D7F-ACBD-AFA01D13715E}" destId="{59C37B45-B96B-4413-9EAC-91068EBC5E19}" srcOrd="0" destOrd="0" presId="urn:microsoft.com/office/officeart/2008/layout/LinedList"/>
    <dgm:cxn modelId="{C261D4EB-49CE-4E02-89A1-261DBF04A2C5}" type="presOf" srcId="{A93A75A5-9DF7-43B7-BA9B-02C7D91835EC}" destId="{595B6BD3-0662-4488-B03C-CA164A93DD14}" srcOrd="0" destOrd="0" presId="urn:microsoft.com/office/officeart/2008/layout/LinedList"/>
    <dgm:cxn modelId="{B42304EE-D0E2-490D-8FB0-B0E03E5AB0F2}" srcId="{5A03F71C-01C9-41E8-9E77-A018B9E90A19}" destId="{24F01314-7312-45B0-A8E4-4FA7BFF93FD7}" srcOrd="0" destOrd="0" parTransId="{29FA5846-2B4A-4296-991F-954EDD2287DC}" sibTransId="{EB8CA0F5-A758-4DC3-86AE-E7FD6AE270BC}"/>
    <dgm:cxn modelId="{DF49F4A0-7F75-4456-8429-4612DF5BC883}" type="presParOf" srcId="{B1CBA203-9615-4649-AF43-B738D8B8102D}" destId="{9BB01082-DAC3-42D0-9143-051FB51742F0}" srcOrd="0" destOrd="0" presId="urn:microsoft.com/office/officeart/2008/layout/LinedList"/>
    <dgm:cxn modelId="{29C9F068-6344-4AEC-891C-B752FF2688C5}" type="presParOf" srcId="{B1CBA203-9615-4649-AF43-B738D8B8102D}" destId="{B5A93ECF-E743-44E4-9006-37185C5CD7BC}" srcOrd="1" destOrd="0" presId="urn:microsoft.com/office/officeart/2008/layout/LinedList"/>
    <dgm:cxn modelId="{E65A99D1-7D86-453A-9F63-3562157DEBD9}" type="presParOf" srcId="{B5A93ECF-E743-44E4-9006-37185C5CD7BC}" destId="{45DEDBF5-F66B-498D-973D-E0E480A58AA3}" srcOrd="0" destOrd="0" presId="urn:microsoft.com/office/officeart/2008/layout/LinedList"/>
    <dgm:cxn modelId="{B9A73228-25A3-4704-9BF7-B1278D3673ED}" type="presParOf" srcId="{B5A93ECF-E743-44E4-9006-37185C5CD7BC}" destId="{3ECD1298-4471-410F-8B5B-E4AE3B5BABE1}" srcOrd="1" destOrd="0" presId="urn:microsoft.com/office/officeart/2008/layout/LinedList"/>
    <dgm:cxn modelId="{DC924E2C-8287-48C3-B6FF-D12FDC80025F}" type="presParOf" srcId="{B1CBA203-9615-4649-AF43-B738D8B8102D}" destId="{D109D284-B578-40CA-9D7E-4889166FFF0B}" srcOrd="2" destOrd="0" presId="urn:microsoft.com/office/officeart/2008/layout/LinedList"/>
    <dgm:cxn modelId="{A539CD99-7157-426D-A6A2-FDF7A25E893D}" type="presParOf" srcId="{B1CBA203-9615-4649-AF43-B738D8B8102D}" destId="{3623A932-7616-4867-A42C-6F62B2B36B1D}" srcOrd="3" destOrd="0" presId="urn:microsoft.com/office/officeart/2008/layout/LinedList"/>
    <dgm:cxn modelId="{85C82A36-39AA-4EF0-AF13-B92177116310}" type="presParOf" srcId="{3623A932-7616-4867-A42C-6F62B2B36B1D}" destId="{C7AAB798-E9D0-4DA0-AA55-14014DEB9C1E}" srcOrd="0" destOrd="0" presId="urn:microsoft.com/office/officeart/2008/layout/LinedList"/>
    <dgm:cxn modelId="{7F6A2933-D3BE-47CD-AC2E-1FABF95A0588}" type="presParOf" srcId="{3623A932-7616-4867-A42C-6F62B2B36B1D}" destId="{FF23387F-9D5B-45AF-872B-8BB39E738C7E}" srcOrd="1" destOrd="0" presId="urn:microsoft.com/office/officeart/2008/layout/LinedList"/>
    <dgm:cxn modelId="{17C4462B-ACCB-4885-A1B2-A5D48BF51C8B}" type="presParOf" srcId="{B1CBA203-9615-4649-AF43-B738D8B8102D}" destId="{09F35E53-7F95-4C32-85AB-C7AC337A76F9}" srcOrd="4" destOrd="0" presId="urn:microsoft.com/office/officeart/2008/layout/LinedList"/>
    <dgm:cxn modelId="{5B98A940-BEF0-4FBE-8695-E586FF78769B}" type="presParOf" srcId="{B1CBA203-9615-4649-AF43-B738D8B8102D}" destId="{F38C1058-6D42-4FDB-8BEE-B6552D89C70D}" srcOrd="5" destOrd="0" presId="urn:microsoft.com/office/officeart/2008/layout/LinedList"/>
    <dgm:cxn modelId="{F31AAEE7-C06D-43A2-ADAF-16F2DD65CCDC}" type="presParOf" srcId="{F38C1058-6D42-4FDB-8BEE-B6552D89C70D}" destId="{595B6BD3-0662-4488-B03C-CA164A93DD14}" srcOrd="0" destOrd="0" presId="urn:microsoft.com/office/officeart/2008/layout/LinedList"/>
    <dgm:cxn modelId="{B2704B22-FAC5-46A0-80D4-3A35E04C5297}" type="presParOf" srcId="{F38C1058-6D42-4FDB-8BEE-B6552D89C70D}" destId="{22E151B1-4420-4B41-BE8B-A1804CEA7073}" srcOrd="1" destOrd="0" presId="urn:microsoft.com/office/officeart/2008/layout/LinedList"/>
    <dgm:cxn modelId="{4E01925F-1973-4831-ADE3-B313BBFF5879}" type="presParOf" srcId="{B1CBA203-9615-4649-AF43-B738D8B8102D}" destId="{1C995856-134A-4FFD-A8C3-58AD7FA523EF}" srcOrd="6" destOrd="0" presId="urn:microsoft.com/office/officeart/2008/layout/LinedList"/>
    <dgm:cxn modelId="{F2051804-43E8-4808-9025-A63CAB5D2295}" type="presParOf" srcId="{B1CBA203-9615-4649-AF43-B738D8B8102D}" destId="{067985AD-C33B-4707-B907-392A2B7DFE45}" srcOrd="7" destOrd="0" presId="urn:microsoft.com/office/officeart/2008/layout/LinedList"/>
    <dgm:cxn modelId="{C8F863AA-285E-4304-B1F2-FFF478A95156}" type="presParOf" srcId="{067985AD-C33B-4707-B907-392A2B7DFE45}" destId="{59C37B45-B96B-4413-9EAC-91068EBC5E19}" srcOrd="0" destOrd="0" presId="urn:microsoft.com/office/officeart/2008/layout/LinedList"/>
    <dgm:cxn modelId="{8A8F80FD-C9F3-42EA-BFD2-5919CF2EC7CA}" type="presParOf" srcId="{067985AD-C33B-4707-B907-392A2B7DFE45}" destId="{EAF500C7-F7D0-4180-AD5B-76B7B43E6E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01082-DAC3-42D0-9143-051FB51742F0}">
      <dsp:nvSpPr>
        <dsp:cNvPr id="0" name=""/>
        <dsp:cNvSpPr/>
      </dsp:nvSpPr>
      <dsp:spPr>
        <a:xfrm>
          <a:off x="0" y="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EDBF5-F66B-498D-973D-E0E480A58AA3}">
      <dsp:nvSpPr>
        <dsp:cNvPr id="0" name=""/>
        <dsp:cNvSpPr/>
      </dsp:nvSpPr>
      <dsp:spPr>
        <a:xfrm>
          <a:off x="0" y="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/>
            <a:t>Investigated physical scenario;</a:t>
          </a:r>
          <a:endParaRPr lang="en-US" sz="3300" kern="1200"/>
        </a:p>
      </dsp:txBody>
      <dsp:txXfrm>
        <a:off x="0" y="0"/>
        <a:ext cx="7498080" cy="1005840"/>
      </dsp:txXfrm>
    </dsp:sp>
    <dsp:sp modelId="{D109D284-B578-40CA-9D7E-4889166FFF0B}">
      <dsp:nvSpPr>
        <dsp:cNvPr id="0" name=""/>
        <dsp:cNvSpPr/>
      </dsp:nvSpPr>
      <dsp:spPr>
        <a:xfrm>
          <a:off x="0" y="100584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AB798-E9D0-4DA0-AA55-14014DEB9C1E}">
      <dsp:nvSpPr>
        <dsp:cNvPr id="0" name=""/>
        <dsp:cNvSpPr/>
      </dsp:nvSpPr>
      <dsp:spPr>
        <a:xfrm>
          <a:off x="0" y="100584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/>
            <a:t>Studied the emission model;</a:t>
          </a:r>
          <a:endParaRPr lang="en-US" sz="3300" kern="1200"/>
        </a:p>
      </dsp:txBody>
      <dsp:txXfrm>
        <a:off x="0" y="1005840"/>
        <a:ext cx="7498080" cy="1005840"/>
      </dsp:txXfrm>
    </dsp:sp>
    <dsp:sp modelId="{09F35E53-7F95-4C32-85AB-C7AC337A76F9}">
      <dsp:nvSpPr>
        <dsp:cNvPr id="0" name=""/>
        <dsp:cNvSpPr/>
      </dsp:nvSpPr>
      <dsp:spPr>
        <a:xfrm>
          <a:off x="0" y="201168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B6BD3-0662-4488-B03C-CA164A93DD14}">
      <dsp:nvSpPr>
        <dsp:cNvPr id="0" name=""/>
        <dsp:cNvSpPr/>
      </dsp:nvSpPr>
      <dsp:spPr>
        <a:xfrm>
          <a:off x="0" y="201168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Produced the sources catalog;</a:t>
          </a:r>
        </a:p>
      </dsp:txBody>
      <dsp:txXfrm>
        <a:off x="0" y="2011680"/>
        <a:ext cx="7498080" cy="1005840"/>
      </dsp:txXfrm>
    </dsp:sp>
    <dsp:sp modelId="{1C995856-134A-4FFD-A8C3-58AD7FA523EF}">
      <dsp:nvSpPr>
        <dsp:cNvPr id="0" name=""/>
        <dsp:cNvSpPr/>
      </dsp:nvSpPr>
      <dsp:spPr>
        <a:xfrm>
          <a:off x="0" y="301752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37B45-B96B-4413-9EAC-91068EBC5E19}">
      <dsp:nvSpPr>
        <dsp:cNvPr id="0" name=""/>
        <dsp:cNvSpPr/>
      </dsp:nvSpPr>
      <dsp:spPr>
        <a:xfrm>
          <a:off x="0" y="301752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 dirty="0"/>
            <a:t>Plan for </a:t>
          </a:r>
          <a:r>
            <a:rPr lang="it-IT" sz="3300" kern="1200" dirty="0" err="1"/>
            <a:t>different</a:t>
          </a:r>
          <a:r>
            <a:rPr lang="it-IT" sz="3300" kern="1200" dirty="0"/>
            <a:t> </a:t>
          </a:r>
          <a:r>
            <a:rPr lang="it-IT" sz="3300" kern="1200" dirty="0" err="1"/>
            <a:t>analysis</a:t>
          </a:r>
          <a:r>
            <a:rPr lang="it-IT" sz="3300" kern="1200" dirty="0"/>
            <a:t> strategies.</a:t>
          </a:r>
          <a:endParaRPr lang="en-US" sz="3300" kern="1200" dirty="0"/>
        </a:p>
      </dsp:txBody>
      <dsp:txXfrm>
        <a:off x="0" y="3017520"/>
        <a:ext cx="7498080" cy="1005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03E67EA5-8EFE-4CDE-A774-E9526279E6E4}" type="datetime1">
              <a:rPr lang="it-IT" smtClean="0"/>
              <a:t>24/04/2025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397C78D2-97D1-4B37-BDD1-08A09BD4CA9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2:56.21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0,'3860'0,"-3778"0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3:07.4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1,'12023'0,"-11989"0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3:17.7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1,'10367'0,"-10328"0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78D779EF-F8B6-4ACA-8018-CCDCFAC7DE9C}" type="datetime1">
              <a:rPr lang="it-IT" smtClean="0"/>
              <a:t>24/04/2025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5939589-3E79-4C82-AA4A-FE78234FAA5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5214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D2DF-5337-0C06-7A35-1AC247F6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D103D7-4AA6-EBBC-76F3-C6E7D8984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DEDABA1-F834-9141-2774-8C205152B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C67AB13-5614-322D-0E48-ED4C50971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93258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6a4ce5ae2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6a4ce5ae2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About the CSM : Optical observations of various types of extragalactic </a:t>
            </a:r>
            <a:r>
              <a:rPr lang="en-GB" dirty="0" err="1"/>
              <a:t>SNe</a:t>
            </a:r>
            <a:r>
              <a:rPr lang="en-GB" dirty="0"/>
              <a:t> have provided cumulative evidence that a SN progenitor commonly experiences a significant mass loss, just before the explosion. As result shock interactions with CSM should occur.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kind of mechanism is well explained in Murase’s works.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Also, Es and Rcr10 is a spectrum dependent factor that converts the bolometric CR energy to the differential CR energy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At the same time we are producing the catalogue. To do so, the guidelines we followed are -&gt;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6589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0845-4E5B-4737-B7B2-80891B60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F800A3E-678E-ADD8-15D0-9F45BB7F3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7BC1226-290B-E555-897A-04DC028B6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34ACB1-FB4E-B648-E003-F060B3552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22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2309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57DA-3E58-C78C-7665-19E5D9DF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D63B534-1636-6E73-72AA-B880AD855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47AFC0-CA1E-81D7-8136-C47D6549C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A9994D-2C38-5B54-FA35-D7FA207B6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23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7945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5B05-0514-FCDB-BC0C-771CC3AF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474D4D2-A200-DAD7-B58E-6C947B90D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E82EBF-F09F-3D79-E6EF-630E1FB35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DF10AC-CA4E-FD41-826C-009554793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24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2316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8702-4A08-2FFF-EA41-FB60042F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83DF7F-47EF-8ADD-A1C6-C979CA69C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78227D-8431-FBE5-A212-943CC3CBA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39246E-4E24-A745-4F27-451AFCCDB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25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49205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470E-E075-9EEF-12EF-557F344B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EAD7B45-B2E3-237C-24CB-B817CBAE8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67FB26-BF93-96BE-7294-72F6C8413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214581-24B3-EB1A-CE4E-66C91DDB4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26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5818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olo 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it-IT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it-IT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emento gra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Elemento gra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7" name="Elemento gra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" name="Segnaposto immagine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5" name="Segnaposto immagine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immagin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it-IT" sz="1800"/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defRPr lang="it-IT" sz="1600"/>
            </a:lvl2pPr>
            <a:lvl3pPr marL="457200">
              <a:defRPr lang="it-IT" sz="1400"/>
            </a:lvl3pPr>
            <a:lvl4pPr marL="685800">
              <a:defRPr lang="it-IT" sz="1200"/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Elemento gra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9" name="Elemento gra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4" name="Segnaposto piè di pa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+ sotto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a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4" name="Elemento gra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6" name="Elemento gra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it-IT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it-IT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it-IT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it-IT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 indent="0">
              <a:spcBef>
                <a:spcPts val="1200"/>
              </a:spcBef>
              <a:buNone/>
              <a:defRPr lang="it-IT" sz="1600"/>
            </a:lvl2pPr>
            <a:lvl3pPr marL="914400" indent="0">
              <a:spcBef>
                <a:spcPts val="1200"/>
              </a:spcBef>
              <a:buNone/>
              <a:defRPr lang="it-IT" sz="1400"/>
            </a:lvl3pPr>
            <a:lvl4pPr marL="1371600" indent="0">
              <a:spcBef>
                <a:spcPts val="1200"/>
              </a:spcBef>
              <a:buNone/>
              <a:defRPr lang="it-IT" sz="1200"/>
            </a:lvl4pPr>
            <a:lvl5pPr marL="1828800" indent="0">
              <a:spcBef>
                <a:spcPts val="1200"/>
              </a:spcBef>
              <a:buNone/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600"/>
            </a:lvl2pPr>
            <a:lvl3pPr>
              <a:spcBef>
                <a:spcPts val="1200"/>
              </a:spcBef>
              <a:defRPr lang="it-IT" sz="1400"/>
            </a:lvl3pPr>
            <a:lvl4pPr>
              <a:spcBef>
                <a:spcPts val="1200"/>
              </a:spcBef>
              <a:defRPr lang="it-IT" sz="1200"/>
            </a:lvl4pPr>
            <a:lvl5pPr>
              <a:spcBef>
                <a:spcPts val="1200"/>
              </a:spcBef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it-IT" sz="4000" b="1" i="0" cap="all" spc="0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lnSpc>
                <a:spcPct val="110000"/>
              </a:lnSpc>
              <a:defRPr lang="it-IT" sz="1600"/>
            </a:lvl2pPr>
            <a:lvl3pPr marL="457200">
              <a:lnSpc>
                <a:spcPct val="110000"/>
              </a:lnSpc>
              <a:defRPr lang="it-IT" sz="1400"/>
            </a:lvl3pPr>
            <a:lvl4pPr marL="685800">
              <a:lnSpc>
                <a:spcPct val="110000"/>
              </a:lnSpc>
              <a:defRPr lang="it-IT" sz="1200"/>
            </a:lvl4pPr>
            <a:lvl5pPr marL="914400">
              <a:lnSpc>
                <a:spcPct val="110000"/>
              </a:lnSpc>
              <a:defRPr lang="it-IT" sz="12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0" name="Segnaposto piè di pa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it-IT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it-IT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it-IT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it-IT" sz="1200">
                <a:solidFill>
                  <a:schemeClr val="tx1"/>
                </a:solidFill>
              </a:defRPr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>
              <a:spcBef>
                <a:spcPts val="1200"/>
              </a:spcBef>
              <a:defRPr lang="it-IT" sz="1800"/>
            </a:lvl2pPr>
            <a:lvl3pPr marL="914400">
              <a:spcBef>
                <a:spcPts val="1200"/>
              </a:spcBef>
              <a:defRPr lang="it-IT" sz="1800"/>
            </a:lvl3pPr>
            <a:lvl4pPr marL="1371600">
              <a:spcBef>
                <a:spcPts val="1200"/>
              </a:spcBef>
              <a:defRPr lang="it-IT" sz="1800"/>
            </a:lvl4pPr>
            <a:lvl5pPr marL="18288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800"/>
            </a:lvl2pPr>
            <a:lvl3pPr>
              <a:spcBef>
                <a:spcPts val="1200"/>
              </a:spcBef>
              <a:defRPr lang="it-IT" sz="1800"/>
            </a:lvl3pPr>
            <a:lvl4pPr>
              <a:spcBef>
                <a:spcPts val="1200"/>
              </a:spcBef>
              <a:defRPr lang="it-IT" sz="1800"/>
            </a:lvl4pPr>
            <a:lvl5pPr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Elemento gra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7" name="Elemento gra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8" name="Elemento gra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Elemento gra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6" name="Elemento gra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7" name="Elemento gra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it-IT" sz="4000" b="1" cap="all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le immagine e tito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it-IT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7" name="Segnaposto immagine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Elemento gra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5" name="Elemento gra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6" name="Elemento gra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t>‹N›</a:t>
            </a:fld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it-IT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it-IT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customXml" Target="../ink/ink3.xml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6.0045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journals.aps.org/prd/abstract/10.1103/PhysRevD.79.053006" TargetMode="External"/><Relationship Id="rId4" Type="http://schemas.openxmlformats.org/officeDocument/2006/relationships/hyperlink" Target="https://journals.aps.org/prd/abstract/10.1103/PhysRevD.97.081301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5.0475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8.png"/><Relationship Id="rId4" Type="http://schemas.openxmlformats.org/officeDocument/2006/relationships/hyperlink" Target="https://arxiv.org/abs/2312.17239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8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378932" cy="308033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sz="4000" dirty="0"/>
              <a:t>He </a:t>
            </a:r>
            <a:r>
              <a:rPr lang="it-IT" sz="4000" dirty="0" err="1"/>
              <a:t>neutrinos</a:t>
            </a:r>
            <a:r>
              <a:rPr lang="it-IT" sz="4000" dirty="0"/>
              <a:t> </a:t>
            </a:r>
            <a:r>
              <a:rPr lang="it-IT" sz="4000" dirty="0" err="1"/>
              <a:t>emission</a:t>
            </a:r>
            <a:r>
              <a:rPr lang="it-IT" sz="4000" dirty="0"/>
              <a:t> from </a:t>
            </a:r>
            <a:r>
              <a:rPr lang="it-IT" sz="4000" dirty="0" err="1"/>
              <a:t>sn</a:t>
            </a:r>
            <a:r>
              <a:rPr lang="it-IT" sz="4000" dirty="0"/>
              <a:t> </a:t>
            </a:r>
            <a:r>
              <a:rPr lang="it-IT" sz="4000" dirty="0" err="1"/>
              <a:t>explosion</a:t>
            </a:r>
            <a:endParaRPr lang="it-IT" sz="4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18D81E-32D3-2AB6-E9C9-BEB6821FCD93}"/>
              </a:ext>
            </a:extLst>
          </p:cNvPr>
          <p:cNvSpPr txBox="1"/>
          <p:nvPr/>
        </p:nvSpPr>
        <p:spPr>
          <a:xfrm>
            <a:off x="1280159" y="5853860"/>
            <a:ext cx="443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V. Oliviero, I. Rea, M. </a:t>
            </a:r>
            <a:r>
              <a:rPr lang="it-IT" dirty="0" err="1">
                <a:solidFill>
                  <a:schemeClr val="bg1"/>
                </a:solidFill>
              </a:rPr>
              <a:t>Bendahman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18ED6D6-479D-63F1-4E58-670400E5F8F5}"/>
              </a:ext>
            </a:extLst>
          </p:cNvPr>
          <p:cNvSpPr txBox="1"/>
          <p:nvPr/>
        </p:nvSpPr>
        <p:spPr>
          <a:xfrm>
            <a:off x="1280158" y="5484528"/>
            <a:ext cx="443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Weekly Analysis Meeting – 20/03/25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640080"/>
            <a:ext cx="7498080" cy="1280160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?</a:t>
            </a:r>
          </a:p>
        </p:txBody>
      </p:sp>
      <p:graphicFrame>
        <p:nvGraphicFramePr>
          <p:cNvPr id="7" name="Segnaposto testo 3">
            <a:extLst>
              <a:ext uri="{FF2B5EF4-FFF2-40B4-BE49-F238E27FC236}">
                <a16:creationId xmlns:a16="http://schemas.microsoft.com/office/drawing/2014/main" id="{B3B361F1-ED86-3796-BB3F-13776A4BC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448291"/>
              </p:ext>
            </p:extLst>
          </p:nvPr>
        </p:nvGraphicFramePr>
        <p:xfrm>
          <a:off x="4114800" y="2194560"/>
          <a:ext cx="74980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Segnaposto immagine 8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77F56D1C-E323-8A1E-B112-F3A64E90CA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/>
          <a:srcRect l="192" r="192"/>
          <a:stretch>
            <a:fillRect/>
          </a:stretch>
        </p:blipFill>
        <p:spPr>
          <a:xfrm>
            <a:off x="1143444" y="640080"/>
            <a:ext cx="1498156" cy="1498158"/>
          </a:xfr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BDE6753-BE1D-488E-0426-F329FAB8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1264FE-2079-6A0D-F516-DE0CF5D6CA69}"/>
              </a:ext>
            </a:extLst>
          </p:cNvPr>
          <p:cNvSpPr txBox="1"/>
          <p:nvPr/>
        </p:nvSpPr>
        <p:spPr>
          <a:xfrm>
            <a:off x="955963" y="1660478"/>
            <a:ext cx="1065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Starting</a:t>
            </a:r>
            <a:r>
              <a:rPr lang="it-IT" dirty="0"/>
              <a:t> with MRF </a:t>
            </a:r>
            <a:r>
              <a:rPr lang="it-IT" dirty="0" err="1"/>
              <a:t>calculation</a:t>
            </a:r>
            <a:r>
              <a:rPr lang="it-IT" dirty="0"/>
              <a:t> -&gt; template from the </a:t>
            </a:r>
            <a:r>
              <a:rPr lang="it-IT" dirty="0" err="1"/>
              <a:t>collaboration</a:t>
            </a:r>
            <a:r>
              <a:rPr lang="it-IT" dirty="0"/>
              <a:t> -&gt; Calcrate2.py in </a:t>
            </a:r>
            <a:r>
              <a:rPr lang="it-IT" dirty="0" err="1"/>
              <a:t>Aanet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8AA65A4-2B7B-84DF-6904-CEC22E5C1242}"/>
              </a:ext>
            </a:extLst>
          </p:cNvPr>
          <p:cNvSpPr txBox="1"/>
          <p:nvPr/>
        </p:nvSpPr>
        <p:spPr>
          <a:xfrm>
            <a:off x="2803813" y="2381888"/>
            <a:ext cx="6584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BUT</a:t>
            </a:r>
            <a:r>
              <a:rPr lang="it-IT" dirty="0"/>
              <a:t> </a:t>
            </a:r>
            <a:r>
              <a:rPr lang="it-IT" dirty="0" err="1"/>
              <a:t>Calcrate</a:t>
            </a:r>
            <a:r>
              <a:rPr lang="it-IT" dirty="0"/>
              <a:t> code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for time </a:t>
            </a:r>
            <a:r>
              <a:rPr lang="it-IT" dirty="0" err="1"/>
              <a:t>dependent</a:t>
            </a:r>
            <a:r>
              <a:rPr lang="it-IT" dirty="0"/>
              <a:t>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D5D47C5-E77F-72B6-19ED-AB4B0D48979D}"/>
              </a:ext>
            </a:extLst>
          </p:cNvPr>
          <p:cNvSpPr txBox="1"/>
          <p:nvPr/>
        </p:nvSpPr>
        <p:spPr>
          <a:xfrm>
            <a:off x="955963" y="3143677"/>
            <a:ext cx="3297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1"/>
                </a:solidFill>
              </a:rPr>
              <a:t>What</a:t>
            </a:r>
            <a:r>
              <a:rPr lang="it-IT" sz="2000" b="1" dirty="0">
                <a:solidFill>
                  <a:schemeClr val="accent1"/>
                </a:solidFill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</a:rPr>
              <a:t>did</a:t>
            </a:r>
            <a:r>
              <a:rPr lang="it-IT" sz="2000" b="1" dirty="0">
                <a:solidFill>
                  <a:schemeClr val="accent1"/>
                </a:solidFill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</a:rPr>
              <a:t>we</a:t>
            </a:r>
            <a:r>
              <a:rPr lang="it-IT" sz="2000" b="1" dirty="0">
                <a:solidFill>
                  <a:schemeClr val="accent1"/>
                </a:solidFill>
              </a:rPr>
              <a:t> do?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8F6FB5E-5768-0557-D161-860EF7184929}"/>
              </a:ext>
            </a:extLst>
          </p:cNvPr>
          <p:cNvSpPr txBox="1"/>
          <p:nvPr/>
        </p:nvSpPr>
        <p:spPr>
          <a:xfrm>
            <a:off x="2618509" y="3820547"/>
            <a:ext cx="8146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/>
              <a:t>Using </a:t>
            </a:r>
            <a:r>
              <a:rPr lang="it-IT" dirty="0" err="1"/>
              <a:t>my</a:t>
            </a:r>
            <a:r>
              <a:rPr lang="it-IT" dirty="0"/>
              <a:t> code to compute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signal</a:t>
            </a:r>
            <a:r>
              <a:rPr lang="it-IT" dirty="0"/>
              <a:t> events from the </a:t>
            </a:r>
            <a:r>
              <a:rPr lang="it-IT" dirty="0" err="1"/>
              <a:t>Murase’s</a:t>
            </a:r>
            <a:r>
              <a:rPr lang="it-IT" dirty="0"/>
              <a:t> model;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Using Calcrate2.py to compute the </a:t>
            </a:r>
            <a:r>
              <a:rPr lang="it-IT" dirty="0" err="1"/>
              <a:t>number</a:t>
            </a:r>
            <a:r>
              <a:rPr lang="it-IT" dirty="0"/>
              <a:t> of background events;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Check </a:t>
            </a:r>
            <a:r>
              <a:rPr lang="it-IT" dirty="0" err="1"/>
              <a:t>if</a:t>
            </a:r>
            <a:r>
              <a:rPr lang="it-IT" dirty="0"/>
              <a:t> the </a:t>
            </a:r>
            <a:r>
              <a:rPr lang="it-IT" dirty="0" err="1"/>
              <a:t>results</a:t>
            </a:r>
            <a:r>
              <a:rPr lang="it-IT" dirty="0"/>
              <a:t> are in agreement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GraphFlux</a:t>
            </a:r>
            <a:r>
              <a:rPr lang="it-IT" dirty="0"/>
              <a:t>() </a:t>
            </a:r>
            <a:r>
              <a:rPr lang="it-IT" dirty="0" err="1"/>
              <a:t>function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9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72;p21">
            <a:extLst>
              <a:ext uri="{FF2B5EF4-FFF2-40B4-BE49-F238E27FC236}">
                <a16:creationId xmlns:a16="http://schemas.microsoft.com/office/drawing/2014/main" id="{B8EEB808-28EC-BDD0-B271-5F0525A909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200" y="1830011"/>
            <a:ext cx="5681000" cy="44569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444DD173-DFEB-5450-348B-2CEA6C74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7C25E19C-A0F0-7BD1-F6D8-7A48997C8E91}"/>
              </a:ext>
            </a:extLst>
          </p:cNvPr>
          <p:cNvCxnSpPr>
            <a:cxnSpLocks/>
          </p:cNvCxnSpPr>
          <p:nvPr/>
        </p:nvCxnSpPr>
        <p:spPr>
          <a:xfrm flipV="1">
            <a:off x="5721927" y="1646238"/>
            <a:ext cx="2286000" cy="1013835"/>
          </a:xfrm>
          <a:prstGeom prst="curvedConnector3">
            <a:avLst>
              <a:gd name="adj1" fmla="val -303"/>
            </a:avLst>
          </a:prstGeom>
          <a:ln w="381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2F1BDDB-C391-4BC3-6399-8E4B3D9880FF}"/>
                  </a:ext>
                </a:extLst>
              </p:cNvPr>
              <p:cNvSpPr txBox="1"/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analyzed</a:t>
                </a:r>
                <a:r>
                  <a:rPr lang="it-IT" dirty="0"/>
                  <a:t> the time window between</a:t>
                </a:r>
                <a14:m>
                  <m:oMath xmlns:m="http://schemas.openxmlformats.org/officeDocument/2006/math">
                    <m:r>
                      <a:rPr lang="it-IT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onset</m:t>
                        </m:r>
                      </m:sub>
                    </m:sSub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5.8</m:t>
                        </m:r>
                      </m:sup>
                    </m:sSup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7.5</m:t>
                            </m:r>
                          </m:sup>
                        </m:sSup>
                      </m:e>
                    </m:func>
                  </m:oMath>
                </a14:m>
                <a:r>
                  <a:rPr lang="it-IT" dirty="0"/>
                  <a:t> 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2F1BDDB-C391-4BC3-6399-8E4B3D988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blipFill>
                <a:blip r:embed="rId3"/>
                <a:stretch>
                  <a:fillRect l="-1058" t="-4717" b="-160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C9E4104D-B5F8-333F-FFA2-08AFC5D7E5EF}"/>
              </a:ext>
            </a:extLst>
          </p:cNvPr>
          <p:cNvSpPr/>
          <p:nvPr/>
        </p:nvSpPr>
        <p:spPr>
          <a:xfrm>
            <a:off x="4623019" y="2430356"/>
            <a:ext cx="1773382" cy="32562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FD30EF07-F8E0-42B4-B7DA-9082BB01DC77}"/>
              </a:ext>
            </a:extLst>
          </p:cNvPr>
          <p:cNvCxnSpPr>
            <a:cxnSpLocks/>
          </p:cNvCxnSpPr>
          <p:nvPr/>
        </p:nvCxnSpPr>
        <p:spPr>
          <a:xfrm flipV="1">
            <a:off x="5603545" y="3620333"/>
            <a:ext cx="1961037" cy="592207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4E45379-8290-9562-3087-2A7B826F9C88}"/>
              </a:ext>
            </a:extLst>
          </p:cNvPr>
          <p:cNvSpPr txBox="1"/>
          <p:nvPr/>
        </p:nvSpPr>
        <p:spPr>
          <a:xfrm>
            <a:off x="8057054" y="1361336"/>
            <a:ext cx="3345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studied</a:t>
            </a:r>
            <a:r>
              <a:rPr lang="it-IT" dirty="0"/>
              <a:t> first SN </a:t>
            </a:r>
            <a:r>
              <a:rPr lang="it-IT" dirty="0" err="1"/>
              <a:t>IIn</a:t>
            </a:r>
            <a:r>
              <a:rPr lang="it-IT" dirty="0"/>
              <a:t> </a:t>
            </a:r>
            <a:r>
              <a:rPr lang="it-IT" dirty="0" err="1"/>
              <a:t>emission</a:t>
            </a:r>
            <a:r>
              <a:rPr lang="it-IT" dirty="0"/>
              <a:t> model, with s=2.0.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1AB6047-109F-B848-4735-EF4C4A687139}"/>
                  </a:ext>
                </a:extLst>
              </p:cNvPr>
              <p:cNvSpPr txBox="1"/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noFill/>
              <a:ln w="38100">
                <a:solidFill>
                  <a:srgbClr val="976C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𝑜𝑛𝑠𝑒𝑡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=358,7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𝑑𝑎𝑦𝑠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∼1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𝑦𝑒𝑎𝑟𝑠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1AB6047-109F-B848-4735-EF4C4A687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  <a:ln w="38100">
                <a:solidFill>
                  <a:srgbClr val="976CFF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56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4B75F73-3918-3F0E-C39F-2CC7DCC77A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my</a:t>
                </a:r>
                <a:r>
                  <a:rPr lang="it-IT" cap="none" dirty="0"/>
                  <a:t> code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cap="none" smtClean="0">
                            <a:latin typeface="Cambria Math" panose="02040503050406030204" pitchFamily="18" charset="0"/>
                          </a:rPr>
                          <m:t>μ</m:t>
                        </m:r>
                      </m:sub>
                    </m:sSub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4B75F73-3918-3F0E-C39F-2CC7DCC77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195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DE80A10-E62D-5782-66E3-345908078C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49734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1295D97E-D813-AEE5-9DD4-10F16DA2A99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69982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060107E-81B4-F57F-755E-094929B1D2C2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E1F316-92A8-FCFD-76AD-BFC392D8086C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B303-BBE8-02BE-D29D-3459708221F1}"/>
              </a:ext>
            </a:extLst>
          </p:cNvPr>
          <p:cNvSpPr txBox="1"/>
          <p:nvPr/>
        </p:nvSpPr>
        <p:spPr>
          <a:xfrm>
            <a:off x="1212272" y="1887723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346561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F84C-A477-8AAF-79C2-92BD32F9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BDA853E-D842-DE2B-DE14-2FB98AB06F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my</a:t>
                </a:r>
                <a:r>
                  <a:rPr lang="it-IT" cap="none" dirty="0"/>
                  <a:t> code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BDA853E-D842-DE2B-DE14-2FB98AB06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6C8A9656-8C07-1052-60E2-E6A82ECC79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35879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76F3CB20-525F-A20A-0DA9-71BE48C7210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69982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A85FF56-C76F-5967-D8A8-8D407B3D612D}"/>
              </a:ext>
            </a:extLst>
          </p:cNvPr>
          <p:cNvSpPr txBox="1"/>
          <p:nvPr/>
        </p:nvSpPr>
        <p:spPr>
          <a:xfrm>
            <a:off x="1419906" y="396612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29806B-8C0A-A49E-7583-AA45958CBF39}"/>
              </a:ext>
            </a:extLst>
          </p:cNvPr>
          <p:cNvSpPr txBox="1"/>
          <p:nvPr/>
        </p:nvSpPr>
        <p:spPr>
          <a:xfrm>
            <a:off x="7189957" y="399185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DD2F38-8FDF-490E-6F76-44B15D0E8F93}"/>
              </a:ext>
            </a:extLst>
          </p:cNvPr>
          <p:cNvSpPr txBox="1"/>
          <p:nvPr/>
        </p:nvSpPr>
        <p:spPr>
          <a:xfrm>
            <a:off x="751608" y="190612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229115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24375-F4FA-E8F0-27B2-CE572335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58D5B41-22D4-57C9-E4CC-E9DB30A8BE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Calcrate</a:t>
                </a:r>
                <a:r>
                  <a:rPr lang="it-IT" cap="none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cap="none" smtClean="0">
                            <a:latin typeface="Cambria Math" panose="02040503050406030204" pitchFamily="18" charset="0"/>
                          </a:rPr>
                          <m:t>μ</m:t>
                        </m:r>
                      </m:sub>
                    </m:sSub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58D5B41-22D4-57C9-E4CC-E9DB30A8B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195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B2DA094-0129-4407-0E3B-CB29E94D5C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35879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7F34A02B-B6BC-E36A-09A9-129D7A0597F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72753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0F4233-4D99-2447-7FEE-B62CC5D60850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F59CC8-F8AF-5430-E6A3-423851A8CA1C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D54A84A-CEA0-BCD2-E9D1-B99CDABC6119}"/>
              </a:ext>
            </a:extLst>
          </p:cNvPr>
          <p:cNvSpPr txBox="1"/>
          <p:nvPr/>
        </p:nvSpPr>
        <p:spPr>
          <a:xfrm>
            <a:off x="859245" y="188951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161082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9451-552B-3B42-EA37-6F2FA652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B03C93E-9EC0-44EB-0E74-1D2EC68927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Calcrate</a:t>
                </a:r>
                <a:r>
                  <a:rPr lang="it-IT" cap="none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B03C93E-9EC0-44EB-0E74-1D2EC6892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0B97EB36-3FA5-106B-ADCA-CFDD2EFE2C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77442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108C39E5-7615-7448-07C2-CCC831AF003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755237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1EDD728-19C2-81DF-6B3D-6E0073B899B9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21A5B4-1541-7604-0DE0-528E285EB1A0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0D9AE1A-7BE0-9818-45C7-603CBCA530BF}"/>
              </a:ext>
            </a:extLst>
          </p:cNvPr>
          <p:cNvSpPr txBox="1"/>
          <p:nvPr/>
        </p:nvSpPr>
        <p:spPr>
          <a:xfrm>
            <a:off x="859245" y="188951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363380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2D540-EC7F-FB16-D6A6-9B585748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BE528CF-C7F1-9E38-3BDD-EC05EAC6CA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Comparison </a:t>
                </a:r>
                <a:r>
                  <a:rPr lang="it-IT" dirty="0" err="1"/>
                  <a:t>sensitivity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BE528CF-C7F1-9E38-3BDD-EC05EAC6C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95DC808A-6AAF-3EB4-D77F-49B3D25498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1432" y="2313066"/>
            <a:ext cx="4846638" cy="3730277"/>
          </a:xfr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5F20E52C-0EFD-E10A-FE14-FDF0C887868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33932" y="2313067"/>
            <a:ext cx="4846637" cy="3730276"/>
          </a:xfr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24F0CE2-1BE4-BE75-297A-48B2868C94CF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3D0798F-7502-9860-252F-1C80F0259896}"/>
              </a:ext>
            </a:extLst>
          </p:cNvPr>
          <p:cNvSpPr txBox="1"/>
          <p:nvPr/>
        </p:nvSpPr>
        <p:spPr>
          <a:xfrm>
            <a:off x="7204363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138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0D17-4A6D-5E9F-EFFC-0C47F8CA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EF7255B-0D1E-067B-CDB0-48C14C2406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Comparison </a:t>
                </a:r>
                <a:r>
                  <a:rPr lang="it-IT" dirty="0" err="1"/>
                  <a:t>sensitivity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EF7255B-0D1E-067B-CDB0-48C14C240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92B646CB-1428-E325-BFFB-6E208131F2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911432" y="2313066"/>
            <a:ext cx="4846638" cy="3730277"/>
          </a:xfr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A9F672A9-D3A8-12B3-F98E-412716A40D4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433932" y="2313067"/>
            <a:ext cx="4846637" cy="3730276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3F9EF9C-D0F3-29C8-F937-1F4B34EF25FD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F96225-9C5E-A5E3-E0A5-83FD8128B347}"/>
              </a:ext>
            </a:extLst>
          </p:cNvPr>
          <p:cNvSpPr txBox="1"/>
          <p:nvPr/>
        </p:nvSpPr>
        <p:spPr>
          <a:xfrm>
            <a:off x="7204363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018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A763CD-AA36-6E55-B269-6ABE9625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it-IT" dirty="0"/>
              <a:t>Next step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B99D84-FAD4-1FF7-4214-0742F8C39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103119"/>
            <a:ext cx="10087699" cy="4114800"/>
          </a:xfrm>
        </p:spPr>
        <p:txBody>
          <a:bodyPr/>
          <a:lstStyle/>
          <a:p>
            <a:r>
              <a:rPr lang="en-US" dirty="0"/>
              <a:t>How to deal with </a:t>
            </a:r>
            <a:r>
              <a:rPr lang="en-US" dirty="0" err="1"/>
              <a:t>Calcrate</a:t>
            </a:r>
            <a:r>
              <a:rPr lang="en-US" dirty="0"/>
              <a:t> with our time dependent flux?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Study expectations for sources in the catalog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Immagine 6" descr="Immagine che contiene testo, Carattere, bianco, calligrafia&#10;&#10;Il contenuto generato dall'IA potrebbe non essere corretto.">
            <a:extLst>
              <a:ext uri="{FF2B5EF4-FFF2-40B4-BE49-F238E27FC236}">
                <a16:creationId xmlns:a16="http://schemas.microsoft.com/office/drawing/2014/main" id="{B1613C2A-01B3-2C00-52DB-835985781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03" y="2927324"/>
            <a:ext cx="4115011" cy="100335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943C667-0F84-16D4-7B7B-E116A0B2C62B}"/>
              </a:ext>
            </a:extLst>
          </p:cNvPr>
          <p:cNvSpPr txBox="1"/>
          <p:nvPr/>
        </p:nvSpPr>
        <p:spPr>
          <a:xfrm>
            <a:off x="1567986" y="3198167"/>
            <a:ext cx="3823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976CFF"/>
                </a:solidFill>
              </a:rPr>
              <a:t>Average</a:t>
            </a:r>
            <a:r>
              <a:rPr lang="it-IT" sz="2400" b="1" dirty="0">
                <a:solidFill>
                  <a:srgbClr val="976CFF"/>
                </a:solidFill>
              </a:rPr>
              <a:t> </a:t>
            </a:r>
            <a:r>
              <a:rPr lang="it-IT" sz="2400" b="1" dirty="0" err="1">
                <a:solidFill>
                  <a:srgbClr val="976CFF"/>
                </a:solidFill>
              </a:rPr>
              <a:t>fluence</a:t>
            </a:r>
            <a:r>
              <a:rPr lang="it-IT" sz="2400" b="1" dirty="0">
                <a:solidFill>
                  <a:srgbClr val="976CFF"/>
                </a:solidFill>
              </a:rPr>
              <a:t> -&gt;</a:t>
            </a:r>
          </a:p>
        </p:txBody>
      </p:sp>
    </p:spTree>
    <p:extLst>
      <p:ext uri="{BB962C8B-B14F-4D97-AF65-F5344CB8AC3E}">
        <p14:creationId xmlns:p14="http://schemas.microsoft.com/office/powerpoint/2010/main" val="2975509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E2DD013-3865-AD2B-1A14-8DC45C6EEA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</a:t>
            </a:r>
          </a:p>
        </p:txBody>
      </p:sp>
    </p:spTree>
    <p:extLst>
      <p:ext uri="{BB962C8B-B14F-4D97-AF65-F5344CB8AC3E}">
        <p14:creationId xmlns:p14="http://schemas.microsoft.com/office/powerpoint/2010/main" val="3636787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1349-BAE1-424B-DC22-1AD743DE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AB42437-F165-C0F7-03DF-9A2C5F4EA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</a:t>
            </a:r>
          </a:p>
        </p:txBody>
      </p:sp>
    </p:spTree>
    <p:extLst>
      <p:ext uri="{BB962C8B-B14F-4D97-AF65-F5344CB8AC3E}">
        <p14:creationId xmlns:p14="http://schemas.microsoft.com/office/powerpoint/2010/main" val="1937966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35CC70-BD4D-7088-A020-AD0C8FBF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628" y="679635"/>
            <a:ext cx="9137012" cy="1280160"/>
          </a:xfrm>
        </p:spPr>
        <p:txBody>
          <a:bodyPr/>
          <a:lstStyle/>
          <a:p>
            <a:r>
              <a:rPr lang="it-IT" dirty="0" err="1"/>
              <a:t>Modeling</a:t>
            </a:r>
            <a:r>
              <a:rPr lang="it-IT" dirty="0"/>
              <a:t> the </a:t>
            </a:r>
            <a:r>
              <a:rPr lang="it-IT" dirty="0" err="1"/>
              <a:t>flux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2A1076DB-C61F-A13A-883D-4E5257F500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9793" y="2405700"/>
            <a:ext cx="5455239" cy="4040574"/>
          </a:xfrm>
        </p:spPr>
      </p:pic>
      <p:pic>
        <p:nvPicPr>
          <p:cNvPr id="7" name="Google Shape;172;p21">
            <a:extLst>
              <a:ext uri="{FF2B5EF4-FFF2-40B4-BE49-F238E27FC236}">
                <a16:creationId xmlns:a16="http://schemas.microsoft.com/office/drawing/2014/main" id="{156CD657-6D97-7D7D-22B7-10C68461E7DD}"/>
              </a:ext>
            </a:extLst>
          </p:cNvPr>
          <p:cNvPicPr preferRelativeResize="0">
            <a:picLocks noGrp="1"/>
          </p:cNvPicPr>
          <p:nvPr>
            <p:ph sz="quarter" idx="4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1106" y="2203512"/>
            <a:ext cx="5284450" cy="44449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0F131DC1-F8FC-8B54-2B6D-AE5285E4D7F9}"/>
              </a:ext>
            </a:extLst>
          </p:cNvPr>
          <p:cNvSpPr/>
          <p:nvPr/>
        </p:nvSpPr>
        <p:spPr>
          <a:xfrm>
            <a:off x="8713382" y="3163186"/>
            <a:ext cx="1501004" cy="53162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E6311220-DAC7-49A1-B00A-3D01E74924B5}"/>
              </a:ext>
            </a:extLst>
          </p:cNvPr>
          <p:cNvSpPr/>
          <p:nvPr/>
        </p:nvSpPr>
        <p:spPr>
          <a:xfrm>
            <a:off x="8713382" y="3211033"/>
            <a:ext cx="1501004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D0BA0FF-FBBC-3255-0D7A-2046BE0ABE56}"/>
              </a:ext>
            </a:extLst>
          </p:cNvPr>
          <p:cNvSpPr/>
          <p:nvPr/>
        </p:nvSpPr>
        <p:spPr>
          <a:xfrm rot="994157">
            <a:off x="9687342" y="4961153"/>
            <a:ext cx="2342500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2" name="Connettore curvo 11">
            <a:extLst>
              <a:ext uri="{FF2B5EF4-FFF2-40B4-BE49-F238E27FC236}">
                <a16:creationId xmlns:a16="http://schemas.microsoft.com/office/drawing/2014/main" id="{30A90785-C9D2-AB8C-F0EB-52EC0663530E}"/>
              </a:ext>
            </a:extLst>
          </p:cNvPr>
          <p:cNvCxnSpPr>
            <a:cxnSpLocks/>
          </p:cNvCxnSpPr>
          <p:nvPr/>
        </p:nvCxnSpPr>
        <p:spPr>
          <a:xfrm>
            <a:off x="3798615" y="2625484"/>
            <a:ext cx="5317444" cy="558968"/>
          </a:xfrm>
          <a:prstGeom prst="curvedConnector3">
            <a:avLst>
              <a:gd name="adj1" fmla="val 100989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id="{D6F7995A-9D6F-8975-D0AD-7181F9C40E22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765912" y="3051544"/>
            <a:ext cx="3947470" cy="382773"/>
          </a:xfrm>
          <a:prstGeom prst="curvedConnector3">
            <a:avLst>
              <a:gd name="adj1" fmla="val 50000"/>
            </a:avLst>
          </a:prstGeom>
          <a:ln w="28575">
            <a:solidFill>
              <a:srgbClr val="FF81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curvo 17">
            <a:extLst>
              <a:ext uri="{FF2B5EF4-FFF2-40B4-BE49-F238E27FC236}">
                <a16:creationId xmlns:a16="http://schemas.microsoft.com/office/drawing/2014/main" id="{6912A4AA-D416-FD5F-06FD-ACDE78F89852}"/>
              </a:ext>
            </a:extLst>
          </p:cNvPr>
          <p:cNvCxnSpPr>
            <a:endCxn id="10" idx="2"/>
          </p:cNvCxnSpPr>
          <p:nvPr/>
        </p:nvCxnSpPr>
        <p:spPr>
          <a:xfrm>
            <a:off x="4759147" y="3033470"/>
            <a:ext cx="4976830" cy="1816956"/>
          </a:xfrm>
          <a:prstGeom prst="curvedConnector3">
            <a:avLst>
              <a:gd name="adj1" fmla="val 41882"/>
            </a:avLst>
          </a:prstGeom>
          <a:ln w="28575">
            <a:solidFill>
              <a:srgbClr val="FF81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25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0E0CD-883A-DA42-02E3-43E8236B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2CC1EBC-091C-C55C-46A0-8664F35055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2CC1EBC-091C-C55C-46A0-8664F35055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E081B5-2982-0634-F191-3AC2F2BAB9DD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F9CCA6E7-AD68-6390-1D8A-F01AD1F0E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E9A3A22-929A-8AFE-73BF-E9AFBAEE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25" y="2897834"/>
            <a:ext cx="5952732" cy="312426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AEC942AE-C410-3AC5-F0F0-EA96CE75AA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2557" y="2045516"/>
            <a:ext cx="5454392" cy="4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66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80E98-6951-87FA-6DC4-75E78867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670722B-3C39-174F-7DE6-B75BF040C4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670722B-3C39-174F-7DE6-B75BF040C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76CEF080-0E01-CF67-FF11-511A930A1238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169B0D88-0580-B4B0-D836-1072D2171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8098DC6-AB1A-D5CA-CECE-665F9BE5C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497" y="3651646"/>
            <a:ext cx="6276111" cy="249845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EB5A541C-0745-7AA1-482C-CB076B1783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8883" y="2120848"/>
            <a:ext cx="5454391" cy="418450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DFEA7E8-ECAD-B91F-2D49-8168124503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8047"/>
          <a:stretch/>
        </p:blipFill>
        <p:spPr>
          <a:xfrm>
            <a:off x="461497" y="2965782"/>
            <a:ext cx="6197386" cy="68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3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72;p21">
            <a:extLst>
              <a:ext uri="{FF2B5EF4-FFF2-40B4-BE49-F238E27FC236}">
                <a16:creationId xmlns:a16="http://schemas.microsoft.com/office/drawing/2014/main" id="{7AEDACFC-BEBF-3A0D-D880-EDA34213182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13398" y="19157"/>
            <a:ext cx="4628800" cy="342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40A9EE2D-1AB5-2BEF-6982-D761192D878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152420" y="494866"/>
            <a:ext cx="4622047" cy="2058076"/>
          </a:xfrm>
          <a:ln w="38100">
            <a:solidFill>
              <a:schemeClr val="accent1"/>
            </a:solidFill>
          </a:ln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08FE059E-B13F-EEC7-A153-4E56E50B5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65" y="3609254"/>
            <a:ext cx="6096851" cy="301032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EC01FD35-3456-2014-C858-D2F29D8B1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616" y="3609254"/>
            <a:ext cx="5953956" cy="2991267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79CC821-0849-7589-6BF7-C615D97B99B7}"/>
              </a:ext>
            </a:extLst>
          </p:cNvPr>
          <p:cNvSpPr txBox="1"/>
          <p:nvPr/>
        </p:nvSpPr>
        <p:spPr>
          <a:xfrm>
            <a:off x="1152420" y="3040599"/>
            <a:ext cx="4622047" cy="369332"/>
          </a:xfrm>
          <a:prstGeom prst="rect">
            <a:avLst/>
          </a:prstGeom>
          <a:noFill/>
          <a:ln w="38100">
            <a:solidFill>
              <a:srgbClr val="976CFF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First </a:t>
            </a:r>
            <a:r>
              <a:rPr lang="it-IT" dirty="0" err="1"/>
              <a:t>period</a:t>
            </a:r>
            <a:r>
              <a:rPr lang="it-IT" dirty="0"/>
              <a:t> IIP – time window </a:t>
            </a:r>
            <a:r>
              <a:rPr lang="it-IT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 6 days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2186857-05FC-036A-266D-972D25E394EA}"/>
              </a:ext>
            </a:extLst>
          </p:cNvPr>
          <p:cNvSpPr txBox="1"/>
          <p:nvPr/>
        </p:nvSpPr>
        <p:spPr>
          <a:xfrm>
            <a:off x="7464609" y="3263403"/>
            <a:ext cx="4815191" cy="369332"/>
          </a:xfrm>
          <a:prstGeom prst="rect">
            <a:avLst/>
          </a:prstGeom>
          <a:noFill/>
          <a:ln w="38100">
            <a:solidFill>
              <a:srgbClr val="976CFF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Second </a:t>
            </a:r>
            <a:r>
              <a:rPr lang="it-IT" dirty="0" err="1"/>
              <a:t>period</a:t>
            </a:r>
            <a:r>
              <a:rPr lang="it-IT" dirty="0"/>
              <a:t> IIP – time window </a:t>
            </a:r>
            <a:r>
              <a:rPr lang="it-IT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 3 </a:t>
            </a:r>
            <a:r>
              <a:rPr lang="it-IT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years</a:t>
            </a:r>
            <a:endParaRPr lang="it-IT" dirty="0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CEBB2D94-8AED-13C4-71B0-69D88684227C}"/>
              </a:ext>
            </a:extLst>
          </p:cNvPr>
          <p:cNvSpPr/>
          <p:nvPr/>
        </p:nvSpPr>
        <p:spPr>
          <a:xfrm rot="994157">
            <a:off x="9317861" y="2070595"/>
            <a:ext cx="2342500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5833B95C-0865-FD93-57F4-9D8AAB7ADA00}"/>
              </a:ext>
            </a:extLst>
          </p:cNvPr>
          <p:cNvSpPr/>
          <p:nvPr/>
        </p:nvSpPr>
        <p:spPr>
          <a:xfrm rot="238847">
            <a:off x="8588870" y="790934"/>
            <a:ext cx="1427903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45" name="Connettore curvo 44">
            <a:extLst>
              <a:ext uri="{FF2B5EF4-FFF2-40B4-BE49-F238E27FC236}">
                <a16:creationId xmlns:a16="http://schemas.microsoft.com/office/drawing/2014/main" id="{FF713CBC-C2A7-EC67-F277-76E6858A8E78}"/>
              </a:ext>
            </a:extLst>
          </p:cNvPr>
          <p:cNvCxnSpPr>
            <a:cxnSpLocks/>
            <a:stCxn id="43" idx="2"/>
          </p:cNvCxnSpPr>
          <p:nvPr/>
        </p:nvCxnSpPr>
        <p:spPr>
          <a:xfrm rot="10800000" flipV="1">
            <a:off x="5509462" y="964653"/>
            <a:ext cx="3081131" cy="2260607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curvo 47">
            <a:extLst>
              <a:ext uri="{FF2B5EF4-FFF2-40B4-BE49-F238E27FC236}">
                <a16:creationId xmlns:a16="http://schemas.microsoft.com/office/drawing/2014/main" id="{0A27917D-3EE7-4DE1-F1E3-330DF8986916}"/>
              </a:ext>
            </a:extLst>
          </p:cNvPr>
          <p:cNvCxnSpPr>
            <a:cxnSpLocks/>
            <a:stCxn id="42" idx="2"/>
            <a:endCxn id="29" idx="0"/>
          </p:cNvCxnSpPr>
          <p:nvPr/>
        </p:nvCxnSpPr>
        <p:spPr>
          <a:xfrm rot="10800000" flipH="1" flipV="1">
            <a:off x="9366495" y="1959867"/>
            <a:ext cx="505709" cy="1303535"/>
          </a:xfrm>
          <a:prstGeom prst="curvedConnector4">
            <a:avLst>
              <a:gd name="adj1" fmla="val -45204"/>
              <a:gd name="adj2" fmla="val 7137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6" name="Input penna 55">
                <a:extLst>
                  <a:ext uri="{FF2B5EF4-FFF2-40B4-BE49-F238E27FC236}">
                    <a16:creationId xmlns:a16="http://schemas.microsoft.com/office/drawing/2014/main" id="{141356A3-3475-BC59-61D7-DDD367586374}"/>
                  </a:ext>
                </a:extLst>
              </p14:cNvPr>
              <p14:cNvContentPartPr/>
              <p14:nvPr/>
            </p14:nvContentPartPr>
            <p14:xfrm>
              <a:off x="4148678" y="2185200"/>
              <a:ext cx="1419480" cy="360"/>
            </p14:xfrm>
          </p:contentPart>
        </mc:Choice>
        <mc:Fallback>
          <p:pic>
            <p:nvPicPr>
              <p:cNvPr id="56" name="Input penna 55">
                <a:extLst>
                  <a:ext uri="{FF2B5EF4-FFF2-40B4-BE49-F238E27FC236}">
                    <a16:creationId xmlns:a16="http://schemas.microsoft.com/office/drawing/2014/main" id="{141356A3-3475-BC59-61D7-DDD3675863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42558" y="2179080"/>
                <a:ext cx="1431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7" name="Input penna 56">
                <a:extLst>
                  <a:ext uri="{FF2B5EF4-FFF2-40B4-BE49-F238E27FC236}">
                    <a16:creationId xmlns:a16="http://schemas.microsoft.com/office/drawing/2014/main" id="{6335E59E-E7F7-6DA5-8FB9-DC54DAD8A193}"/>
                  </a:ext>
                </a:extLst>
              </p14:cNvPr>
              <p14:cNvContentPartPr/>
              <p14:nvPr/>
            </p14:nvContentPartPr>
            <p14:xfrm>
              <a:off x="1269038" y="2362320"/>
              <a:ext cx="4340880" cy="360"/>
            </p14:xfrm>
          </p:contentPart>
        </mc:Choice>
        <mc:Fallback>
          <p:pic>
            <p:nvPicPr>
              <p:cNvPr id="57" name="Input penna 56">
                <a:extLst>
                  <a:ext uri="{FF2B5EF4-FFF2-40B4-BE49-F238E27FC236}">
                    <a16:creationId xmlns:a16="http://schemas.microsoft.com/office/drawing/2014/main" id="{6335E59E-E7F7-6DA5-8FB9-DC54DAD8A1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2918" y="2356200"/>
                <a:ext cx="4353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8" name="Input penna 57">
                <a:extLst>
                  <a:ext uri="{FF2B5EF4-FFF2-40B4-BE49-F238E27FC236}">
                    <a16:creationId xmlns:a16="http://schemas.microsoft.com/office/drawing/2014/main" id="{B906299E-89D1-8376-9501-79B06586CBB9}"/>
                  </a:ext>
                </a:extLst>
              </p14:cNvPr>
              <p14:cNvContentPartPr/>
              <p14:nvPr/>
            </p14:nvContentPartPr>
            <p14:xfrm>
              <a:off x="1255358" y="2567160"/>
              <a:ext cx="3746520" cy="360"/>
            </p14:xfrm>
          </p:contentPart>
        </mc:Choice>
        <mc:Fallback>
          <p:pic>
            <p:nvPicPr>
              <p:cNvPr id="58" name="Input penna 57">
                <a:extLst>
                  <a:ext uri="{FF2B5EF4-FFF2-40B4-BE49-F238E27FC236}">
                    <a16:creationId xmlns:a16="http://schemas.microsoft.com/office/drawing/2014/main" id="{B906299E-89D1-8376-9501-79B06586CB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9238" y="2561040"/>
                <a:ext cx="375876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26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0C836709-0EC4-BDD7-A403-A0BF93A40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Back-up</a:t>
            </a:r>
          </a:p>
        </p:txBody>
      </p:sp>
    </p:spTree>
    <p:extLst>
      <p:ext uri="{BB962C8B-B14F-4D97-AF65-F5344CB8AC3E}">
        <p14:creationId xmlns:p14="http://schemas.microsoft.com/office/powerpoint/2010/main" val="169296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D0D99AB5-F244-184D-5FA6-7E6118D1C211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Physical</a:t>
            </a:r>
            <a:r>
              <a:rPr lang="it-IT" dirty="0"/>
              <a:t> scenario</a:t>
            </a:r>
          </a:p>
        </p:txBody>
      </p:sp>
      <p:pic>
        <p:nvPicPr>
          <p:cNvPr id="19" name="Google Shape;74;p15">
            <a:extLst>
              <a:ext uri="{FF2B5EF4-FFF2-40B4-BE49-F238E27FC236}">
                <a16:creationId xmlns:a16="http://schemas.microsoft.com/office/drawing/2014/main" id="{DDF21670-0BEC-D309-F856-061A7A40B0C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73" y="1379285"/>
            <a:ext cx="2954270" cy="320967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75;p15">
            <a:extLst>
              <a:ext uri="{FF2B5EF4-FFF2-40B4-BE49-F238E27FC236}">
                <a16:creationId xmlns:a16="http://schemas.microsoft.com/office/drawing/2014/main" id="{FF3BCAB5-2B9F-0818-1BDE-4A5998B0E55A}"/>
              </a:ext>
            </a:extLst>
          </p:cNvPr>
          <p:cNvSpPr txBox="1"/>
          <p:nvPr/>
        </p:nvSpPr>
        <p:spPr>
          <a:xfrm>
            <a:off x="4031938" y="1546468"/>
            <a:ext cx="7270649" cy="44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The core-collapse supernovae (</a:t>
            </a:r>
            <a:r>
              <a:rPr lang="en-GB" sz="2400" dirty="0" err="1">
                <a:solidFill>
                  <a:schemeClr val="dk1"/>
                </a:solidFill>
              </a:rPr>
              <a:t>CCSNe</a:t>
            </a:r>
            <a:r>
              <a:rPr lang="en-GB" sz="2400" dirty="0">
                <a:solidFill>
                  <a:schemeClr val="dk1"/>
                </a:solidFill>
              </a:rPr>
              <a:t>) explosion mechanism is driven by low energy (MeV) neutrinos, which release most of the system's gravitational binding energy.</a:t>
            </a:r>
            <a:endParaRPr sz="2400" dirty="0">
              <a:solidFill>
                <a:schemeClr val="dk1"/>
              </a:solidFill>
            </a:endParaRPr>
          </a:p>
          <a:p>
            <a:pPr marL="16933">
              <a:lnSpc>
                <a:spcPct val="115000"/>
              </a:lnSpc>
            </a:pPr>
            <a:endParaRPr sz="2400" u="sng" dirty="0">
              <a:solidFill>
                <a:schemeClr val="dk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r>
              <a:rPr lang="en-GB" sz="2400" b="1" dirty="0">
                <a:solidFill>
                  <a:schemeClr val="dk1"/>
                </a:solidFill>
              </a:rPr>
              <a:t>In addition to MeV neutrinos, some </a:t>
            </a:r>
            <a:r>
              <a:rPr lang="en-GB" sz="2400" b="1" dirty="0" err="1">
                <a:solidFill>
                  <a:schemeClr val="dk1"/>
                </a:solidFill>
              </a:rPr>
              <a:t>CCSNe</a:t>
            </a:r>
            <a:r>
              <a:rPr lang="en-GB" sz="2400" b="1" dirty="0">
                <a:solidFill>
                  <a:schemeClr val="dk1"/>
                </a:solidFill>
              </a:rPr>
              <a:t> are good candidates for the production of high-energy (H-E) neutrinos (from GeV to </a:t>
            </a:r>
            <a:r>
              <a:rPr lang="en-GB" sz="2400" b="1" dirty="0" err="1">
                <a:solidFill>
                  <a:schemeClr val="dk1"/>
                </a:solidFill>
              </a:rPr>
              <a:t>PeV</a:t>
            </a:r>
            <a:r>
              <a:rPr lang="en-GB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60411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47B2-A69A-BC50-0F31-DB601332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70DE8F3-61EA-EFE0-BFA3-DE67301548F3}"/>
              </a:ext>
            </a:extLst>
          </p:cNvPr>
          <p:cNvSpPr txBox="1"/>
          <p:nvPr/>
        </p:nvSpPr>
        <p:spPr>
          <a:xfrm>
            <a:off x="734517" y="6581002"/>
            <a:ext cx="1013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Prospects for extending the core-collapse supernova detection horizon using high-energy neutrinos </a:t>
            </a:r>
            <a:r>
              <a:rPr lang="en-US" sz="1200" dirty="0">
                <a:solidFill>
                  <a:schemeClr val="accent1"/>
                </a:solidFill>
                <a:hlinkClick r:id="rId3"/>
              </a:rPr>
              <a:t>(</a:t>
            </a:r>
            <a:r>
              <a:rPr lang="it-IT" sz="1200" dirty="0">
                <a:solidFill>
                  <a:schemeClr val="accent1"/>
                </a:solidFill>
                <a:latin typeface="Arial Nova Light" panose="020B0304020202020204" pitchFamily="34" charset="0"/>
                <a:hlinkClick r:id="rId3"/>
              </a:rPr>
              <a:t>https://arxiv.org/pdf/2206.00450)</a:t>
            </a:r>
            <a:r>
              <a:rPr lang="en-US" sz="1200" dirty="0">
                <a:solidFill>
                  <a:schemeClr val="accent1"/>
                </a:solidFill>
                <a:hlinkClick r:id="rId3"/>
              </a:rPr>
              <a:t> </a:t>
            </a:r>
            <a:endParaRPr lang="it-IT" sz="1200" dirty="0">
              <a:solidFill>
                <a:schemeClr val="accent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19DDA0-12F8-B7EA-BACF-3F7471569752}"/>
              </a:ext>
            </a:extLst>
          </p:cNvPr>
          <p:cNvSpPr txBox="1"/>
          <p:nvPr/>
        </p:nvSpPr>
        <p:spPr>
          <a:xfrm>
            <a:off x="734517" y="1393406"/>
            <a:ext cx="1117173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The potential to extend the detection horizon past the </a:t>
            </a:r>
            <a:r>
              <a:rPr lang="en-US" sz="2000" dirty="0" err="1">
                <a:solidFill>
                  <a:srgbClr val="976CFF"/>
                </a:solidFill>
                <a:latin typeface="Neue Haas Grotesk Text Pro" panose="020B0504020202020204" pitchFamily="34" charset="0"/>
              </a:rPr>
              <a:t>Magellanic</a:t>
            </a:r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 Clouds through detecting HE neutrinos has to be explored. </a:t>
            </a:r>
          </a:p>
          <a:p>
            <a:endParaRPr lang="en-US" sz="2000" dirty="0">
              <a:latin typeface="Neue Haas Grotesk Text Pro" panose="020B0504020202020204" pitchFamily="34" charset="0"/>
            </a:endParaRP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sz="2000" dirty="0">
                <a:latin typeface="Neue Haas Grotesk Text Pro" panose="020B0504020202020204" pitchFamily="34" charset="0"/>
              </a:rPr>
              <a:t>These neutrinos could give us also </a:t>
            </a:r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an insight into the cosmic ray acceleration processes</a:t>
            </a:r>
            <a:r>
              <a:rPr lang="en-US" sz="2000" dirty="0">
                <a:latin typeface="Neue Haas Grotesk Text Pro" panose="020B0504020202020204" pitchFamily="34" charset="0"/>
              </a:rPr>
              <a:t>, which are inaccessible with the low-energy neutrinos produced through nuclear processes in supernovae. </a:t>
            </a:r>
          </a:p>
          <a:p>
            <a:endParaRPr lang="en-US" sz="1600" dirty="0">
              <a:latin typeface="Neue Haas Grotesk Text Pro" panose="020B0504020202020204" pitchFamily="34" charset="0"/>
            </a:endParaRPr>
          </a:p>
        </p:txBody>
      </p:sp>
      <p:sp>
        <p:nvSpPr>
          <p:cNvPr id="6" name="Google Shape;76;p15">
            <a:extLst>
              <a:ext uri="{FF2B5EF4-FFF2-40B4-BE49-F238E27FC236}">
                <a16:creationId xmlns:a16="http://schemas.microsoft.com/office/drawing/2014/main" id="{9B83101E-DEFC-D24A-2EE5-503170A9162E}"/>
              </a:ext>
            </a:extLst>
          </p:cNvPr>
          <p:cNvSpPr txBox="1"/>
          <p:nvPr/>
        </p:nvSpPr>
        <p:spPr>
          <a:xfrm>
            <a:off x="3929529" y="3334270"/>
            <a:ext cx="4193400" cy="1246465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We consider two production mechanisms </a:t>
            </a:r>
            <a:endParaRPr sz="2000" b="1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for H-E neutrinos in </a:t>
            </a:r>
            <a:r>
              <a:rPr lang="en-GB" sz="2000" b="1" dirty="0" err="1">
                <a:solidFill>
                  <a:srgbClr val="976CFF"/>
                </a:solidFill>
              </a:rPr>
              <a:t>CCSNe</a:t>
            </a:r>
            <a:r>
              <a:rPr lang="en-GB" sz="2000" b="1" dirty="0">
                <a:solidFill>
                  <a:srgbClr val="976CFF"/>
                </a:solidFill>
              </a:rPr>
              <a:t>:</a:t>
            </a:r>
            <a:endParaRPr sz="2000" dirty="0">
              <a:solidFill>
                <a:srgbClr val="976CFF"/>
              </a:solidFill>
            </a:endParaRPr>
          </a:p>
        </p:txBody>
      </p:sp>
      <p:cxnSp>
        <p:nvCxnSpPr>
          <p:cNvPr id="8" name="Google Shape;77;p15">
            <a:extLst>
              <a:ext uri="{FF2B5EF4-FFF2-40B4-BE49-F238E27FC236}">
                <a16:creationId xmlns:a16="http://schemas.microsoft.com/office/drawing/2014/main" id="{1CB9BD3E-D16F-839D-29D8-8481F359435A}"/>
              </a:ext>
            </a:extLst>
          </p:cNvPr>
          <p:cNvCxnSpPr>
            <a:cxnSpLocks/>
          </p:cNvCxnSpPr>
          <p:nvPr/>
        </p:nvCxnSpPr>
        <p:spPr>
          <a:xfrm flipH="1">
            <a:off x="4450854" y="4613009"/>
            <a:ext cx="831900" cy="455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78;p15">
            <a:extLst>
              <a:ext uri="{FF2B5EF4-FFF2-40B4-BE49-F238E27FC236}">
                <a16:creationId xmlns:a16="http://schemas.microsoft.com/office/drawing/2014/main" id="{6D593BB6-9D79-A14A-FF23-55DFE88C633F}"/>
              </a:ext>
            </a:extLst>
          </p:cNvPr>
          <p:cNvCxnSpPr>
            <a:cxnSpLocks/>
          </p:cNvCxnSpPr>
          <p:nvPr/>
        </p:nvCxnSpPr>
        <p:spPr>
          <a:xfrm>
            <a:off x="6815334" y="4603119"/>
            <a:ext cx="824700" cy="445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79;p15">
            <a:extLst>
              <a:ext uri="{FF2B5EF4-FFF2-40B4-BE49-F238E27FC236}">
                <a16:creationId xmlns:a16="http://schemas.microsoft.com/office/drawing/2014/main" id="{B53FCDF3-F41B-C1FA-7366-5473B111325C}"/>
              </a:ext>
            </a:extLst>
          </p:cNvPr>
          <p:cNvSpPr txBox="1"/>
          <p:nvPr/>
        </p:nvSpPr>
        <p:spPr>
          <a:xfrm>
            <a:off x="2672429" y="5009610"/>
            <a:ext cx="38730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interaction between SN ejecta and CSM </a:t>
            </a:r>
            <a:endParaRPr sz="2000" b="1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(</a:t>
            </a:r>
            <a:r>
              <a:rPr lang="en-GB" sz="20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Murase 2018</a:t>
            </a:r>
            <a:r>
              <a:rPr lang="en-GB" sz="2000" dirty="0">
                <a:solidFill>
                  <a:schemeClr val="dk1"/>
                </a:solidFill>
              </a:rPr>
              <a:t>) </a:t>
            </a:r>
            <a:endParaRPr sz="2000" dirty="0"/>
          </a:p>
        </p:txBody>
      </p:sp>
      <p:sp>
        <p:nvSpPr>
          <p:cNvPr id="11" name="Google Shape;80;p15">
            <a:extLst>
              <a:ext uri="{FF2B5EF4-FFF2-40B4-BE49-F238E27FC236}">
                <a16:creationId xmlns:a16="http://schemas.microsoft.com/office/drawing/2014/main" id="{AD022117-C3E5-095E-4444-7BBE201F2E3A}"/>
              </a:ext>
            </a:extLst>
          </p:cNvPr>
          <p:cNvSpPr txBox="1"/>
          <p:nvPr/>
        </p:nvSpPr>
        <p:spPr>
          <a:xfrm>
            <a:off x="6759039" y="5039590"/>
            <a:ext cx="28935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relativistic choked jets</a:t>
            </a:r>
            <a:r>
              <a:rPr lang="en-GB" sz="2000" dirty="0">
                <a:solidFill>
                  <a:srgbClr val="976CFF"/>
                </a:solidFill>
              </a:rPr>
              <a:t> </a:t>
            </a:r>
            <a:endParaRPr sz="2000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(</a:t>
            </a:r>
            <a:r>
              <a:rPr lang="en-GB" sz="20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Enberg et al. 2009</a:t>
            </a:r>
            <a:r>
              <a:rPr lang="en-GB" sz="2000" dirty="0">
                <a:solidFill>
                  <a:schemeClr val="dk1"/>
                </a:solidFill>
              </a:rPr>
              <a:t>)</a:t>
            </a:r>
            <a:endParaRPr sz="2000" dirty="0"/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40E79C7F-C309-CA50-C7EE-20BE5F6BA40D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Physical</a:t>
            </a:r>
            <a:r>
              <a:rPr lang="it-IT" dirty="0"/>
              <a:t> scenario</a:t>
            </a:r>
          </a:p>
        </p:txBody>
      </p:sp>
    </p:spTree>
    <p:extLst>
      <p:ext uri="{BB962C8B-B14F-4D97-AF65-F5344CB8AC3E}">
        <p14:creationId xmlns:p14="http://schemas.microsoft.com/office/powerpoint/2010/main" val="2688913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body" idx="4294967295"/>
          </p:nvPr>
        </p:nvSpPr>
        <p:spPr>
          <a:xfrm>
            <a:off x="914403" y="1504950"/>
            <a:ext cx="5093386" cy="2101850"/>
          </a:xfrm>
          <a:prstGeom prst="rect">
            <a:avLst/>
          </a:prstGeom>
          <a:solidFill>
            <a:srgbClr val="D0E0E3"/>
          </a:solidFill>
          <a:ln>
            <a:solidFill>
              <a:srgbClr val="D0E0E3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9933FF"/>
                </a:solidFill>
              </a:rPr>
              <a:t>Model</a:t>
            </a:r>
            <a:endParaRPr sz="1800" b="1" dirty="0">
              <a:solidFill>
                <a:srgbClr val="9933FF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GB" sz="1800" dirty="0">
                <a:solidFill>
                  <a:schemeClr val="dk1"/>
                </a:solidFill>
              </a:rPr>
              <a:t>The model used for our studies is the one described in the Murase’s works ([</a:t>
            </a:r>
            <a:r>
              <a:rPr lang="en-GB" sz="18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en-GB" sz="1800" dirty="0">
                <a:solidFill>
                  <a:schemeClr val="dk1"/>
                </a:solidFill>
              </a:rPr>
              <a:t>], [</a:t>
            </a:r>
            <a:r>
              <a:rPr lang="en-GB" sz="18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en-GB" sz="1800" dirty="0">
                <a:solidFill>
                  <a:schemeClr val="dk1"/>
                </a:solidFill>
              </a:rPr>
              <a:t>])</a:t>
            </a:r>
            <a:endParaRPr sz="1800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GB" sz="1800" dirty="0">
                <a:solidFill>
                  <a:schemeClr val="dk1"/>
                </a:solidFill>
              </a:rPr>
              <a:t>The neutrino energy fluence is described as follows:</a:t>
            </a:r>
            <a:endParaRPr sz="1800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9" name="Google Shape;148;p20">
            <a:extLst>
              <a:ext uri="{FF2B5EF4-FFF2-40B4-BE49-F238E27FC236}">
                <a16:creationId xmlns:a16="http://schemas.microsoft.com/office/drawing/2014/main" id="{3C7C129E-3BC0-69E0-E115-3C31A68302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17433" y="1517650"/>
            <a:ext cx="5750421" cy="2101850"/>
          </a:xfrm>
          <a:prstGeom prst="rect">
            <a:avLst/>
          </a:prstGeom>
          <a:solidFill>
            <a:srgbClr val="D0E0E3"/>
          </a:soli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1600"/>
              </a:spcBef>
              <a:buNone/>
            </a:pPr>
            <a:r>
              <a:rPr lang="en-GB" sz="1800" b="1" dirty="0" err="1">
                <a:solidFill>
                  <a:srgbClr val="9933FF"/>
                </a:solidFill>
              </a:rPr>
              <a:t>SNe</a:t>
            </a:r>
            <a:r>
              <a:rPr lang="en-GB" sz="1800" b="1" dirty="0">
                <a:solidFill>
                  <a:srgbClr val="9933FF"/>
                </a:solidFill>
              </a:rPr>
              <a:t> Candidates</a:t>
            </a:r>
            <a:endParaRPr sz="1800" b="1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1819" y="4472812"/>
            <a:ext cx="5679332" cy="89103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51" name="Google Shape;151;p20"/>
          <p:cNvCxnSpPr/>
          <p:nvPr/>
        </p:nvCxnSpPr>
        <p:spPr>
          <a:xfrm>
            <a:off x="3379618" y="5567811"/>
            <a:ext cx="0" cy="5260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4" name="Google Shape;154;p20"/>
          <p:cNvSpPr txBox="1"/>
          <p:nvPr/>
        </p:nvSpPr>
        <p:spPr>
          <a:xfrm rot="5400000">
            <a:off x="3301651" y="4631661"/>
            <a:ext cx="267200" cy="108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5467">
                <a:solidFill>
                  <a:srgbClr val="9933FF"/>
                </a:solidFill>
              </a:rPr>
              <a:t>}</a:t>
            </a:r>
            <a:endParaRPr sz="5467">
              <a:solidFill>
                <a:srgbClr val="9933FF"/>
              </a:solidFill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 rot="-1770690" flipH="1">
            <a:off x="4580614" y="5267574"/>
            <a:ext cx="24360" cy="706461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0"/>
          <p:cNvCxnSpPr/>
          <p:nvPr/>
        </p:nvCxnSpPr>
        <p:spPr>
          <a:xfrm rot="10800000" flipH="1">
            <a:off x="4545302" y="4076343"/>
            <a:ext cx="570000" cy="5672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7" name="Google Shape;157;p20"/>
          <p:cNvCxnSpPr/>
          <p:nvPr/>
        </p:nvCxnSpPr>
        <p:spPr>
          <a:xfrm rot="10800000">
            <a:off x="3593351" y="4177811"/>
            <a:ext cx="482400" cy="4880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8" name="Google Shape;158;p20"/>
          <p:cNvSpPr txBox="1"/>
          <p:nvPr/>
        </p:nvSpPr>
        <p:spPr>
          <a:xfrm>
            <a:off x="2376030" y="6118100"/>
            <a:ext cx="19916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>
                <a:solidFill>
                  <a:schemeClr val="dk2"/>
                </a:solidFill>
              </a:rPr>
              <a:t>pp optical depth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822800" y="6462533"/>
            <a:ext cx="1205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solidFill>
                <a:schemeClr val="dk2"/>
              </a:solidFill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746218" y="3612045"/>
            <a:ext cx="1720000" cy="65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>
                <a:solidFill>
                  <a:schemeClr val="dk2"/>
                </a:solidFill>
              </a:rPr>
              <a:t>Fraction of energy carried by CR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75862" y="3714645"/>
            <a:ext cx="24852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333">
                <a:solidFill>
                  <a:schemeClr val="dk2"/>
                </a:solidFill>
              </a:rPr>
              <a:t>Spectrum dependent factor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086085" y="5932611"/>
            <a:ext cx="24852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333">
                <a:solidFill>
                  <a:schemeClr val="dk2"/>
                </a:solidFill>
              </a:rPr>
              <a:t>Spectrum dependent factor</a:t>
            </a:r>
            <a:endParaRPr sz="1333">
              <a:solidFill>
                <a:schemeClr val="dk2"/>
              </a:solidFill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6345718" y="4811678"/>
            <a:ext cx="290400" cy="5612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6" name="Google Shape;166;p20"/>
          <p:cNvSpPr txBox="1"/>
          <p:nvPr/>
        </p:nvSpPr>
        <p:spPr>
          <a:xfrm>
            <a:off x="6228998" y="5277203"/>
            <a:ext cx="1442800" cy="861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 dirty="0">
                <a:solidFill>
                  <a:schemeClr val="dk2"/>
                </a:solidFill>
              </a:rPr>
              <a:t>Proton momentum index</a:t>
            </a:r>
            <a:endParaRPr sz="1333" dirty="0">
              <a:solidFill>
                <a:schemeClr val="dk2"/>
              </a:solidFill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26A87577-5CE2-61B0-1067-6E9CE1E4B34D}"/>
              </a:ext>
            </a:extLst>
          </p:cNvPr>
          <p:cNvSpPr txBox="1">
            <a:spLocks/>
          </p:cNvSpPr>
          <p:nvPr/>
        </p:nvSpPr>
        <p:spPr>
          <a:xfrm>
            <a:off x="642091" y="-325364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Emission</a:t>
            </a:r>
            <a:r>
              <a:rPr lang="it-IT" dirty="0"/>
              <a:t> model</a:t>
            </a:r>
          </a:p>
        </p:txBody>
      </p:sp>
      <p:sp>
        <p:nvSpPr>
          <p:cNvPr id="10" name="Google Shape;88;p16">
            <a:extLst>
              <a:ext uri="{FF2B5EF4-FFF2-40B4-BE49-F238E27FC236}">
                <a16:creationId xmlns:a16="http://schemas.microsoft.com/office/drawing/2014/main" id="{7E672794-51E2-7E06-636A-BC7AA0A7C48F}"/>
              </a:ext>
            </a:extLst>
          </p:cNvPr>
          <p:cNvSpPr txBox="1">
            <a:spLocks/>
          </p:cNvSpPr>
          <p:nvPr/>
        </p:nvSpPr>
        <p:spPr>
          <a:xfrm>
            <a:off x="6217433" y="2147479"/>
            <a:ext cx="5750422" cy="119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>
              <a:defRPr lang="it-IT"/>
            </a:defPPr>
            <a:lvl1pPr marL="609585" lvl="0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lang="it-IT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●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●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sz="1800" dirty="0">
                <a:solidFill>
                  <a:schemeClr val="dk1"/>
                </a:solidFill>
              </a:rPr>
              <a:t>CSM interaction candidates: </a:t>
            </a:r>
            <a:r>
              <a:rPr lang="en-US" sz="1800" b="1" i="1" dirty="0">
                <a:solidFill>
                  <a:schemeClr val="dk1"/>
                </a:solidFill>
              </a:rPr>
              <a:t>SN type </a:t>
            </a:r>
            <a:r>
              <a:rPr lang="en-US" sz="1800" b="1" i="1" dirty="0" err="1">
                <a:solidFill>
                  <a:schemeClr val="dk1"/>
                </a:solidFill>
              </a:rPr>
              <a:t>IIn</a:t>
            </a:r>
            <a:r>
              <a:rPr lang="en-US" sz="1800" b="1" i="1" dirty="0">
                <a:solidFill>
                  <a:schemeClr val="dk1"/>
                </a:solidFill>
              </a:rPr>
              <a:t> and II-P</a:t>
            </a:r>
            <a:br>
              <a:rPr lang="en-US" sz="1800" dirty="0">
                <a:solidFill>
                  <a:schemeClr val="dk1"/>
                </a:solidFill>
              </a:rPr>
            </a:br>
            <a:endParaRPr lang="en-US" sz="1800" dirty="0">
              <a:solidFill>
                <a:schemeClr val="dk1"/>
              </a:solidFill>
            </a:endParaRPr>
          </a:p>
          <a:p>
            <a:pPr algn="ctr"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sz="1800" dirty="0">
                <a:solidFill>
                  <a:schemeClr val="dk1"/>
                </a:solidFill>
              </a:rPr>
              <a:t>Relativistic CJs candidates: </a:t>
            </a:r>
            <a:r>
              <a:rPr lang="en-US" sz="1800" b="1" i="1" dirty="0">
                <a:solidFill>
                  <a:schemeClr val="dk1"/>
                </a:solidFill>
              </a:rPr>
              <a:t>SN type </a:t>
            </a:r>
            <a:r>
              <a:rPr lang="en-US" sz="1800" b="1" i="1" dirty="0" err="1">
                <a:solidFill>
                  <a:schemeClr val="dk1"/>
                </a:solidFill>
              </a:rPr>
              <a:t>Ib</a:t>
            </a:r>
            <a:r>
              <a:rPr lang="en-US" sz="1800" b="1" i="1" dirty="0">
                <a:solidFill>
                  <a:schemeClr val="dk1"/>
                </a:solidFill>
              </a:rPr>
              <a:t>/c and IIb</a:t>
            </a:r>
          </a:p>
        </p:txBody>
      </p:sp>
      <p:sp>
        <p:nvSpPr>
          <p:cNvPr id="14" name="Google Shape;147;p20">
            <a:extLst>
              <a:ext uri="{FF2B5EF4-FFF2-40B4-BE49-F238E27FC236}">
                <a16:creationId xmlns:a16="http://schemas.microsoft.com/office/drawing/2014/main" id="{4E4C17AA-7FDA-CB0E-DCB8-41D1E65260F0}"/>
              </a:ext>
            </a:extLst>
          </p:cNvPr>
          <p:cNvSpPr txBox="1"/>
          <p:nvPr/>
        </p:nvSpPr>
        <p:spPr>
          <a:xfrm>
            <a:off x="7671798" y="4275180"/>
            <a:ext cx="3544573" cy="1292631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We started focusing on H-E neutrinos from CSM interaction production mechanism.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365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8AF7-DEC3-31E7-0DFE-103D1988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BA31B943-8F1F-1D47-D045-602949D136FC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Emission</a:t>
            </a:r>
            <a:r>
              <a:rPr lang="it-IT" dirty="0"/>
              <a:t> model</a:t>
            </a:r>
          </a:p>
        </p:txBody>
      </p:sp>
      <p:pic>
        <p:nvPicPr>
          <p:cNvPr id="2" name="Google Shape;172;p21">
            <a:extLst>
              <a:ext uri="{FF2B5EF4-FFF2-40B4-BE49-F238E27FC236}">
                <a16:creationId xmlns:a16="http://schemas.microsoft.com/office/drawing/2014/main" id="{BA1B6E87-D72C-1926-681D-54A66A8329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201" y="1705320"/>
            <a:ext cx="5681000" cy="445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84;p22">
            <a:extLst>
              <a:ext uri="{FF2B5EF4-FFF2-40B4-BE49-F238E27FC236}">
                <a16:creationId xmlns:a16="http://schemas.microsoft.com/office/drawing/2014/main" id="{84917374-15B3-A417-4650-9860B612CD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690" b="680"/>
          <a:stretch/>
        </p:blipFill>
        <p:spPr>
          <a:xfrm>
            <a:off x="6903025" y="3741540"/>
            <a:ext cx="4416774" cy="288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5;p22">
            <a:extLst>
              <a:ext uri="{FF2B5EF4-FFF2-40B4-BE49-F238E27FC236}">
                <a16:creationId xmlns:a16="http://schemas.microsoft.com/office/drawing/2014/main" id="{D77DA0C7-B6F1-73CD-E84F-93689A191B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845" b="845"/>
          <a:stretch/>
        </p:blipFill>
        <p:spPr>
          <a:xfrm>
            <a:off x="6903025" y="552850"/>
            <a:ext cx="4416774" cy="2876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2765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210D-14D6-7F45-1712-C53E4EEC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5C3F7ABE-10FB-13F1-9ABA-F7BB58B694BA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Sources </a:t>
            </a:r>
            <a:r>
              <a:rPr lang="it-IT" dirty="0" err="1"/>
              <a:t>catalog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42957D-5391-8C39-28FA-2549F98E47EF}"/>
              </a:ext>
            </a:extLst>
          </p:cNvPr>
          <p:cNvSpPr txBox="1"/>
          <p:nvPr/>
        </p:nvSpPr>
        <p:spPr>
          <a:xfrm>
            <a:off x="879613" y="1494480"/>
            <a:ext cx="11047344" cy="2236510"/>
          </a:xfrm>
          <a:prstGeom prst="rect">
            <a:avLst/>
          </a:prstGeom>
          <a:solidFill>
            <a:srgbClr val="D0E0E3"/>
          </a:solidFill>
          <a:ln>
            <a:solidFill>
              <a:srgbClr val="D0E0E3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dk1"/>
                </a:solidFill>
              </a:rPr>
              <a:t>Producing the catalogue consists of</a:t>
            </a:r>
          </a:p>
          <a:p>
            <a:pPr>
              <a:spcBef>
                <a:spcPts val="1600"/>
              </a:spcBef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selecting </a:t>
            </a:r>
            <a:r>
              <a:rPr lang="en-US" dirty="0" err="1">
                <a:solidFill>
                  <a:schemeClr val="dk1"/>
                </a:solidFill>
              </a:rPr>
              <a:t>SNe</a:t>
            </a:r>
            <a:r>
              <a:rPr lang="en-US" dirty="0">
                <a:solidFill>
                  <a:schemeClr val="dk1"/>
                </a:solidFill>
              </a:rPr>
              <a:t> Type II (</a:t>
            </a:r>
            <a:r>
              <a:rPr lang="en-US" dirty="0" err="1">
                <a:solidFill>
                  <a:schemeClr val="dk1"/>
                </a:solidFill>
              </a:rPr>
              <a:t>IIn</a:t>
            </a:r>
            <a:r>
              <a:rPr lang="en-US" dirty="0">
                <a:solidFill>
                  <a:schemeClr val="dk1"/>
                </a:solidFill>
              </a:rPr>
              <a:t> or IIP);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choosing the sources according to the life time of ARCA (from ARCA6 to ARCA21);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selecting the declinations in the range from -90° to 40° (according to KM3NeT field of view)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4" name="Google Shape;257;p28">
            <a:extLst>
              <a:ext uri="{FF2B5EF4-FFF2-40B4-BE49-F238E27FC236}">
                <a16:creationId xmlns:a16="http://schemas.microsoft.com/office/drawing/2014/main" id="{5A172F96-AD69-70E0-053A-8E00F6F939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320" y="3637549"/>
            <a:ext cx="7860183" cy="320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9002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D781-4CBC-726F-F18B-4F3761BF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F579AAF3-C05C-A272-A846-D2937DDA6741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2" name="Google Shape;101;p17">
            <a:extLst>
              <a:ext uri="{FF2B5EF4-FFF2-40B4-BE49-F238E27FC236}">
                <a16:creationId xmlns:a16="http://schemas.microsoft.com/office/drawing/2014/main" id="{CC4A2A0C-3BD7-920E-1B9F-92117957A16C}"/>
              </a:ext>
            </a:extLst>
          </p:cNvPr>
          <p:cNvSpPr txBox="1"/>
          <p:nvPr/>
        </p:nvSpPr>
        <p:spPr>
          <a:xfrm>
            <a:off x="934278" y="1418135"/>
            <a:ext cx="10834289" cy="984845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>
                <a:solidFill>
                  <a:schemeClr val="dk1"/>
                </a:solidFill>
              </a:rPr>
              <a:t>Estimation of the </a:t>
            </a:r>
            <a:r>
              <a:rPr lang="en-GB" sz="2400" b="1" dirty="0">
                <a:solidFill>
                  <a:schemeClr val="dk1"/>
                </a:solidFill>
              </a:rPr>
              <a:t>sensitivity</a:t>
            </a:r>
            <a:r>
              <a:rPr lang="en-GB" sz="2400" dirty="0">
                <a:solidFill>
                  <a:schemeClr val="dk1"/>
                </a:solidFill>
              </a:rPr>
              <a:t> for different configurations of ARCA detector to H-E 𝝂 coming from SN explosion.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3" name="Google Shape;105;p17">
            <a:extLst>
              <a:ext uri="{FF2B5EF4-FFF2-40B4-BE49-F238E27FC236}">
                <a16:creationId xmlns:a16="http://schemas.microsoft.com/office/drawing/2014/main" id="{22FF5D10-FC3B-22F4-90B5-5EBB1EE2E021}"/>
              </a:ext>
            </a:extLst>
          </p:cNvPr>
          <p:cNvSpPr txBox="1"/>
          <p:nvPr/>
        </p:nvSpPr>
        <p:spPr>
          <a:xfrm>
            <a:off x="4642078" y="2956884"/>
            <a:ext cx="79796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r>
              <a:rPr lang="en-GB" sz="2400" b="1" dirty="0">
                <a:solidFill>
                  <a:srgbClr val="976CFF"/>
                </a:solidFill>
              </a:rPr>
              <a:t>Time dependent </a:t>
            </a:r>
            <a:r>
              <a:rPr lang="en-GB" sz="2400" b="1" dirty="0" err="1">
                <a:solidFill>
                  <a:srgbClr val="976CFF"/>
                </a:solidFill>
              </a:rPr>
              <a:t>unbinned</a:t>
            </a:r>
            <a:r>
              <a:rPr lang="en-GB" sz="2400" b="1" dirty="0">
                <a:solidFill>
                  <a:srgbClr val="976CFF"/>
                </a:solidFill>
              </a:rPr>
              <a:t> Likelihood using </a:t>
            </a:r>
            <a:r>
              <a:rPr lang="en-GB" sz="2400" b="1" i="1" dirty="0" err="1">
                <a:solidFill>
                  <a:srgbClr val="976CFF"/>
                </a:solidFill>
              </a:rPr>
              <a:t>Aanet</a:t>
            </a:r>
            <a:endParaRPr lang="en-GB" sz="2400" b="1" i="1" dirty="0">
              <a:solidFill>
                <a:srgbClr val="976CFF"/>
              </a:solidFill>
            </a:endParaRPr>
          </a:p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endParaRPr lang="en-GB" sz="2400" b="1" i="1" dirty="0">
              <a:solidFill>
                <a:srgbClr val="976CFF"/>
              </a:solidFill>
            </a:endParaRPr>
          </a:p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r>
              <a:rPr lang="en-GB" sz="2400" b="1" dirty="0" err="1">
                <a:solidFill>
                  <a:srgbClr val="976CFF"/>
                </a:solidFill>
              </a:rPr>
              <a:t>Cut&amp;Count</a:t>
            </a:r>
            <a:r>
              <a:rPr lang="en-GB" sz="2400" b="1" dirty="0">
                <a:solidFill>
                  <a:srgbClr val="976CFF"/>
                </a:solidFill>
              </a:rPr>
              <a:t> analysis</a:t>
            </a:r>
            <a:endParaRPr sz="2400" b="1" dirty="0">
              <a:solidFill>
                <a:srgbClr val="976CFF"/>
              </a:solidFill>
            </a:endParaRPr>
          </a:p>
        </p:txBody>
      </p:sp>
      <p:sp>
        <p:nvSpPr>
          <p:cNvPr id="4" name="Google Shape;106;p17">
            <a:extLst>
              <a:ext uri="{FF2B5EF4-FFF2-40B4-BE49-F238E27FC236}">
                <a16:creationId xmlns:a16="http://schemas.microsoft.com/office/drawing/2014/main" id="{8D310D4D-F846-0191-874C-E74F19A851B3}"/>
              </a:ext>
            </a:extLst>
          </p:cNvPr>
          <p:cNvSpPr txBox="1"/>
          <p:nvPr/>
        </p:nvSpPr>
        <p:spPr>
          <a:xfrm>
            <a:off x="934278" y="3244284"/>
            <a:ext cx="400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>
                <a:solidFill>
                  <a:schemeClr val="dk1"/>
                </a:solidFill>
              </a:rPr>
              <a:t>Two approaches to be compared:</a:t>
            </a:r>
            <a:endParaRPr sz="2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16C041-51F8-A5DD-7F3E-2B506E09727A}"/>
              </a:ext>
            </a:extLst>
          </p:cNvPr>
          <p:cNvSpPr txBox="1"/>
          <p:nvPr/>
        </p:nvSpPr>
        <p:spPr>
          <a:xfrm>
            <a:off x="1806849" y="5161096"/>
            <a:ext cx="8947289" cy="1200329"/>
          </a:xfrm>
          <a:prstGeom prst="rect">
            <a:avLst/>
          </a:prstGeom>
          <a:noFill/>
          <a:ln w="57150">
            <a:solidFill>
              <a:srgbClr val="976CFF"/>
            </a:solidFill>
            <a:prstDash val="dashDot"/>
          </a:ln>
        </p:spPr>
        <p:txBody>
          <a:bodyPr wrap="square">
            <a:spAutoFit/>
          </a:bodyPr>
          <a:lstStyle/>
          <a:p>
            <a:pPr marL="186262" algn="ctr">
              <a:buClr>
                <a:schemeClr val="dk1"/>
              </a:buClr>
              <a:buSzPts val="1400"/>
            </a:pPr>
            <a:r>
              <a:rPr lang="en-US" sz="2400" dirty="0">
                <a:solidFill>
                  <a:schemeClr val="dk1"/>
                </a:solidFill>
              </a:rPr>
              <a:t>Preliminary study:  Evaluation of the expected number of neutrino events using the model and different configurations of ARCA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4779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88BB-59F3-3436-14F2-A5EC7401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0F8B18EA-11C9-DBE2-B93A-96F577B4C20E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C392516C-93D7-D5B6-CC08-5AA36D455C5F}"/>
              </a:ext>
            </a:extLst>
          </p:cNvPr>
          <p:cNvGrpSpPr/>
          <p:nvPr/>
        </p:nvGrpSpPr>
        <p:grpSpPr>
          <a:xfrm>
            <a:off x="925495" y="2522581"/>
            <a:ext cx="11022402" cy="3264408"/>
            <a:chOff x="-98468" y="1472663"/>
            <a:chExt cx="9213926" cy="2143273"/>
          </a:xfrm>
        </p:grpSpPr>
        <p:pic>
          <p:nvPicPr>
            <p:cNvPr id="2" name="Google Shape;229;p26">
              <a:extLst>
                <a:ext uri="{FF2B5EF4-FFF2-40B4-BE49-F238E27FC236}">
                  <a16:creationId xmlns:a16="http://schemas.microsoft.com/office/drawing/2014/main" id="{0E217A60-A6E7-F880-CCD6-CAFAB4ECE82F}"/>
                </a:ext>
              </a:extLst>
            </p:cNvPr>
            <p:cNvPicPr preferRelativeResize="0"/>
            <p:nvPr/>
          </p:nvPicPr>
          <p:blipFill rotWithShape="1">
            <a:blip r:embed="rId3"/>
            <a:srcRect/>
            <a:stretch/>
          </p:blipFill>
          <p:spPr>
            <a:xfrm>
              <a:off x="-98468" y="1472663"/>
              <a:ext cx="4570944" cy="2143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230;p26">
              <a:extLst>
                <a:ext uri="{FF2B5EF4-FFF2-40B4-BE49-F238E27FC236}">
                  <a16:creationId xmlns:a16="http://schemas.microsoft.com/office/drawing/2014/main" id="{A557008D-E4CD-9B1D-1F08-1C69E4810B87}"/>
                </a:ext>
              </a:extLst>
            </p:cNvPr>
            <p:cNvPicPr preferRelativeResize="0"/>
            <p:nvPr/>
          </p:nvPicPr>
          <p:blipFill rotWithShape="1">
            <a:blip r:embed="rId4"/>
            <a:srcRect/>
            <a:stretch/>
          </p:blipFill>
          <p:spPr>
            <a:xfrm>
              <a:off x="4575089" y="1481669"/>
              <a:ext cx="4540369" cy="21252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236;p26">
              <a:extLst>
                <a:ext uri="{FF2B5EF4-FFF2-40B4-BE49-F238E27FC236}">
                  <a16:creationId xmlns:a16="http://schemas.microsoft.com/office/drawing/2014/main" id="{8AED8FDF-3DD4-A999-3478-44A25271D87F}"/>
                </a:ext>
              </a:extLst>
            </p:cNvPr>
            <p:cNvSpPr txBox="1"/>
            <p:nvPr/>
          </p:nvSpPr>
          <p:spPr>
            <a:xfrm>
              <a:off x="2711268" y="2242975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  <p:sp>
          <p:nvSpPr>
            <p:cNvPr id="5" name="Google Shape;237;p26">
              <a:extLst>
                <a:ext uri="{FF2B5EF4-FFF2-40B4-BE49-F238E27FC236}">
                  <a16:creationId xmlns:a16="http://schemas.microsoft.com/office/drawing/2014/main" id="{628A19A6-7161-4CE3-1437-D997A9F2D79A}"/>
                </a:ext>
              </a:extLst>
            </p:cNvPr>
            <p:cNvSpPr txBox="1"/>
            <p:nvPr/>
          </p:nvSpPr>
          <p:spPr>
            <a:xfrm>
              <a:off x="7127150" y="2242975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C86749F-F68E-1566-6AB2-4BE3E850E0A1}"/>
              </a:ext>
            </a:extLst>
          </p:cNvPr>
          <p:cNvSpPr txBox="1"/>
          <p:nvPr/>
        </p:nvSpPr>
        <p:spPr>
          <a:xfrm>
            <a:off x="765841" y="1339426"/>
            <a:ext cx="10721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We chose to plot the number of events vs. the source distance in a range from 10 Kpc to 10 Mpc, for each declination </a:t>
            </a:r>
            <a:r>
              <a:rPr lang="en-US" dirty="0">
                <a:solidFill>
                  <a:srgbClr val="9933FF"/>
                </a:solidFill>
              </a:rPr>
              <a:t>—&gt;</a:t>
            </a:r>
            <a:r>
              <a:rPr lang="en-US" b="1" i="1" dirty="0">
                <a:solidFill>
                  <a:schemeClr val="dk1"/>
                </a:solidFill>
              </a:rPr>
              <a:t> SN type </a:t>
            </a:r>
            <a:r>
              <a:rPr lang="en-US" b="1" i="1" dirty="0" err="1">
                <a:solidFill>
                  <a:schemeClr val="dk1"/>
                </a:solidFill>
              </a:rPr>
              <a:t>IIn</a:t>
            </a:r>
            <a:r>
              <a:rPr lang="en-US" b="1" i="1" dirty="0">
                <a:solidFill>
                  <a:schemeClr val="dk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2095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208F-C722-5509-2F07-D113655F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FA4E1CC0-4AA3-A38A-F675-ADEF9D77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9" y="2488855"/>
            <a:ext cx="5466501" cy="3261108"/>
          </a:xfrm>
          <a:prstGeom prst="rect">
            <a:avLst/>
          </a:prstGeom>
        </p:spPr>
      </p:pic>
      <p:sp>
        <p:nvSpPr>
          <p:cNvPr id="18" name="Titolo 1">
            <a:extLst>
              <a:ext uri="{FF2B5EF4-FFF2-40B4-BE49-F238E27FC236}">
                <a16:creationId xmlns:a16="http://schemas.microsoft.com/office/drawing/2014/main" id="{27D3B81D-80D6-D87F-E977-6DCA94F47FDF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D660F98D-C5F1-48D3-1929-0DC2D8DF931E}"/>
              </a:ext>
            </a:extLst>
          </p:cNvPr>
          <p:cNvGrpSpPr/>
          <p:nvPr/>
        </p:nvGrpSpPr>
        <p:grpSpPr>
          <a:xfrm>
            <a:off x="3967156" y="2501385"/>
            <a:ext cx="7689572" cy="3264408"/>
            <a:chOff x="2696517" y="1511072"/>
            <a:chExt cx="6351608" cy="2571750"/>
          </a:xfrm>
        </p:grpSpPr>
        <p:pic>
          <p:nvPicPr>
            <p:cNvPr id="9" name="Google Shape;243;p27">
              <a:extLst>
                <a:ext uri="{FF2B5EF4-FFF2-40B4-BE49-F238E27FC236}">
                  <a16:creationId xmlns:a16="http://schemas.microsoft.com/office/drawing/2014/main" id="{FB7EB1A9-119B-5AF7-0BA0-C53708CC1220}"/>
                </a:ext>
              </a:extLst>
            </p:cNvPr>
            <p:cNvPicPr preferRelativeResize="0"/>
            <p:nvPr/>
          </p:nvPicPr>
          <p:blipFill rotWithShape="1">
            <a:blip r:embed="rId4"/>
            <a:srcRect/>
            <a:stretch/>
          </p:blipFill>
          <p:spPr>
            <a:xfrm>
              <a:off x="4732816" y="1511072"/>
              <a:ext cx="4315309" cy="257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50;p27">
              <a:extLst>
                <a:ext uri="{FF2B5EF4-FFF2-40B4-BE49-F238E27FC236}">
                  <a16:creationId xmlns:a16="http://schemas.microsoft.com/office/drawing/2014/main" id="{A879EA4A-9BFC-5C06-F8DB-6AE4A227E63E}"/>
                </a:ext>
              </a:extLst>
            </p:cNvPr>
            <p:cNvSpPr txBox="1"/>
            <p:nvPr/>
          </p:nvSpPr>
          <p:spPr>
            <a:xfrm>
              <a:off x="7142525" y="1926550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2"/>
                  </a:solidFill>
                </a:rPr>
                <a:t>ARCA21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0" name="Google Shape;249;p27">
              <a:extLst>
                <a:ext uri="{FF2B5EF4-FFF2-40B4-BE49-F238E27FC236}">
                  <a16:creationId xmlns:a16="http://schemas.microsoft.com/office/drawing/2014/main" id="{271A6AD2-F921-63BE-90A0-87A15E867E70}"/>
                </a:ext>
              </a:extLst>
            </p:cNvPr>
            <p:cNvSpPr txBox="1"/>
            <p:nvPr/>
          </p:nvSpPr>
          <p:spPr>
            <a:xfrm>
              <a:off x="2696517" y="2169107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E92C95E-74F0-339D-233A-B44EE151C9A6}"/>
              </a:ext>
            </a:extLst>
          </p:cNvPr>
          <p:cNvSpPr txBox="1"/>
          <p:nvPr/>
        </p:nvSpPr>
        <p:spPr>
          <a:xfrm>
            <a:off x="743452" y="1316871"/>
            <a:ext cx="10944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We chose to plot the number of events vs. the source distance in a range from 10 Kpc to 10 Mpc, for each declination</a:t>
            </a:r>
            <a:r>
              <a:rPr lang="en-US" b="1" dirty="0">
                <a:solidFill>
                  <a:srgbClr val="9933FF"/>
                </a:solidFill>
              </a:rPr>
              <a:t> —&gt;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b="1" i="1" dirty="0">
                <a:solidFill>
                  <a:schemeClr val="dk1"/>
                </a:solidFill>
              </a:rPr>
              <a:t>SN type IIP</a:t>
            </a:r>
            <a:r>
              <a:rPr lang="en-US" dirty="0">
                <a:solidFill>
                  <a:schemeClr val="dk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72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34F7404-CE47-7661-1D68-9114D3FA8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151" y="2547970"/>
            <a:ext cx="5451849" cy="3419952"/>
          </a:xfrm>
          <a:prstGeom prst="rect">
            <a:avLst/>
          </a:prstGeom>
        </p:spPr>
      </p:pic>
      <p:sp>
        <p:nvSpPr>
          <p:cNvPr id="5" name="Titolo 3">
            <a:extLst>
              <a:ext uri="{FF2B5EF4-FFF2-40B4-BE49-F238E27FC236}">
                <a16:creationId xmlns:a16="http://schemas.microsoft.com/office/drawing/2014/main" id="{39FC12C9-DA79-2CCD-5F24-20F0E055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DDDFA35-C152-6CD0-4282-4ECD7018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660223"/>
            <a:ext cx="5451849" cy="2197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44E1BB3-2A0A-F86B-64CF-10DB2F254579}"/>
                  </a:ext>
                </a:extLst>
              </p:cNvPr>
              <p:cNvSpPr txBox="1"/>
              <p:nvPr/>
            </p:nvSpPr>
            <p:spPr>
              <a:xfrm>
                <a:off x="838199" y="1581783"/>
                <a:ext cx="4578927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Using </a:t>
                </a:r>
                <a:r>
                  <a:rPr lang="it-IT" dirty="0" err="1"/>
                  <a:t>calcrate</a:t>
                </a:r>
                <a:r>
                  <a:rPr lang="it-IT" dirty="0"/>
                  <a:t> </a:t>
                </a:r>
                <a:r>
                  <a:rPr lang="it-IT" dirty="0" err="1"/>
                  <a:t>only</a:t>
                </a:r>
                <a:r>
                  <a:rPr lang="it-IT" dirty="0"/>
                  <a:t> for </a:t>
                </a:r>
                <a:r>
                  <a:rPr lang="it-IT" dirty="0" err="1"/>
                  <a:t>bkg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44E1BB3-2A0A-F86B-64CF-10DB2F254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581783"/>
                <a:ext cx="4578927" cy="391646"/>
              </a:xfrm>
              <a:prstGeom prst="rect">
                <a:avLst/>
              </a:prstGeom>
              <a:blipFill>
                <a:blip r:embed="rId4"/>
                <a:stretch>
                  <a:fillRect l="-1064" t="-6154"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3A41CE-D9EC-B747-D1F1-CD6E9C1D13B6}"/>
                  </a:ext>
                </a:extLst>
              </p:cNvPr>
              <p:cNvSpPr txBox="1"/>
              <p:nvPr/>
            </p:nvSpPr>
            <p:spPr>
              <a:xfrm>
                <a:off x="955964" y="4257946"/>
                <a:ext cx="6096000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dirty="0"/>
                  <a:t>Using </a:t>
                </a:r>
                <a:r>
                  <a:rPr lang="it-IT" dirty="0" err="1"/>
                  <a:t>calcrate</a:t>
                </a:r>
                <a:r>
                  <a:rPr lang="it-IT" dirty="0"/>
                  <a:t> </a:t>
                </a:r>
                <a:r>
                  <a:rPr lang="it-IT" dirty="0" err="1"/>
                  <a:t>only</a:t>
                </a:r>
                <a:r>
                  <a:rPr lang="it-IT" dirty="0"/>
                  <a:t> for </a:t>
                </a:r>
                <a:r>
                  <a:rPr lang="it-IT" dirty="0" err="1"/>
                  <a:t>bkg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3A41CE-D9EC-B747-D1F1-CD6E9C1D1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64" y="4257946"/>
                <a:ext cx="6096000" cy="391646"/>
              </a:xfrm>
              <a:prstGeom prst="rect">
                <a:avLst/>
              </a:prstGeom>
              <a:blipFill>
                <a:blip r:embed="rId5"/>
                <a:stretch>
                  <a:fillRect l="-900" t="-6154"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90A08E90-CEBB-9564-6AA0-E7CEC5C87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06" y="1925527"/>
            <a:ext cx="5858764" cy="238374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8FD2975-E1A7-D363-2199-1D8D36816044}"/>
              </a:ext>
            </a:extLst>
          </p:cNvPr>
          <p:cNvSpPr txBox="1"/>
          <p:nvPr/>
        </p:nvSpPr>
        <p:spPr>
          <a:xfrm>
            <a:off x="7453745" y="2093640"/>
            <a:ext cx="422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My code output for </a:t>
            </a:r>
            <a:r>
              <a:rPr lang="it-IT" dirty="0" err="1"/>
              <a:t>n_sig</a:t>
            </a:r>
            <a:r>
              <a:rPr lang="it-IT" dirty="0"/>
              <a:t> e MRF</a:t>
            </a:r>
          </a:p>
        </p:txBody>
      </p:sp>
    </p:spTree>
    <p:extLst>
      <p:ext uri="{BB962C8B-B14F-4D97-AF65-F5344CB8AC3E}">
        <p14:creationId xmlns:p14="http://schemas.microsoft.com/office/powerpoint/2010/main" val="1075692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929F2-322A-1369-2AAB-42B8D30F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314DFE3-DC63-ACED-38E6-92A1C282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F42B1A3-AACA-5FE0-1D74-3A6904B5A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7521"/>
            <a:ext cx="5934903" cy="234347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25DB7E0-423C-A9E8-3108-19ABBD60DFEA}"/>
              </a:ext>
            </a:extLst>
          </p:cNvPr>
          <p:cNvSpPr txBox="1"/>
          <p:nvPr/>
        </p:nvSpPr>
        <p:spPr>
          <a:xfrm>
            <a:off x="1050448" y="1467717"/>
            <a:ext cx="5701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Passing</a:t>
            </a:r>
            <a:r>
              <a:rPr lang="it-IT" dirty="0"/>
              <a:t>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flux</a:t>
            </a:r>
            <a:r>
              <a:rPr lang="it-IT" dirty="0"/>
              <a:t> to Calcrate2.py with </a:t>
            </a:r>
            <a:r>
              <a:rPr lang="it-IT" dirty="0" err="1"/>
              <a:t>GraphFlux</a:t>
            </a:r>
            <a:r>
              <a:rPr lang="it-IT" dirty="0"/>
              <a:t>()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A30AEE-9ED9-EACB-8A0F-A823983B9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623" y="4352387"/>
            <a:ext cx="6106377" cy="2514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3F10868-D24D-4A5E-D934-812420D5B752}"/>
                  </a:ext>
                </a:extLst>
              </p:cNvPr>
              <p:cNvSpPr txBox="1"/>
              <p:nvPr/>
            </p:nvSpPr>
            <p:spPr>
              <a:xfrm>
                <a:off x="6751820" y="1948914"/>
                <a:ext cx="888461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3F10868-D24D-4A5E-D934-812420D5B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820" y="1948914"/>
                <a:ext cx="888461" cy="5579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0C35393-E468-54C7-0595-02B353C64A39}"/>
                  </a:ext>
                </a:extLst>
              </p:cNvPr>
              <p:cNvSpPr txBox="1"/>
              <p:nvPr/>
            </p:nvSpPr>
            <p:spPr>
              <a:xfrm>
                <a:off x="2590800" y="4481470"/>
                <a:ext cx="6096000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0C35393-E468-54C7-0595-02B353C64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481470"/>
                <a:ext cx="6096000" cy="5579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847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4458-593F-26E1-E7C7-8B58AA6C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775171-75AF-855F-BD06-25B0FED8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245" y="707903"/>
            <a:ext cx="9137012" cy="1280160"/>
          </a:xfrm>
        </p:spPr>
        <p:txBody>
          <a:bodyPr/>
          <a:lstStyle/>
          <a:p>
            <a:r>
              <a:rPr lang="it-IT" dirty="0"/>
              <a:t>MRF – 10Kpc </a:t>
            </a:r>
            <a:r>
              <a:rPr lang="it-IT" dirty="0" err="1"/>
              <a:t>sn</a:t>
            </a:r>
            <a:r>
              <a:rPr lang="it-IT" dirty="0"/>
              <a:t> </a:t>
            </a:r>
            <a:r>
              <a:rPr lang="it-IT" dirty="0" err="1"/>
              <a:t>iin</a:t>
            </a:r>
            <a:endParaRPr lang="it-IT" dirty="0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85258FE0-57B0-B4FF-64A8-684275ADDE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9245" y="2266575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E5A89F73-BE8E-FE50-E15D-447FA9CA86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60204" y="2154318"/>
            <a:ext cx="5379396" cy="3561114"/>
          </a:xfrm>
        </p:spPr>
      </p:pic>
    </p:spTree>
    <p:extLst>
      <p:ext uri="{BB962C8B-B14F-4D97-AF65-F5344CB8AC3E}">
        <p14:creationId xmlns:p14="http://schemas.microsoft.com/office/powerpoint/2010/main" val="2542434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D721-8F13-32C2-EF9C-E973EFB6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2F8D3A9-A3A9-64D5-0D33-5706FDC6037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2F8D3A9-A3A9-64D5-0D33-5706FDC6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554FB-E4ED-2521-89D5-6E3482C611AE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727F2FD4-C6BE-B430-F3B4-01C78CB6F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6297" y="2327440"/>
            <a:ext cx="5741581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8D234D5-0244-4187-14C6-80A54B0D42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5089" y="2980378"/>
            <a:ext cx="5852408" cy="312426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9989144C-C237-871F-604F-6AA74D5780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7497" y="2142114"/>
            <a:ext cx="5454392" cy="4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083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3_TF89338750_Win32" id="{67303D53-E497-4E8A-A1B0-F8D4DA913DFF}" vid="{0B2B8082-CFD4-436D-9CB1-F42DAFFE77E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75525D67BA834FA1DAF790569B7267" ma:contentTypeVersion="13" ma:contentTypeDescription="Create a new document." ma:contentTypeScope="" ma:versionID="f9a19540f5d3371a5174c363c0e6b963">
  <xsd:schema xmlns:xsd="http://www.w3.org/2001/XMLSchema" xmlns:xs="http://www.w3.org/2001/XMLSchema" xmlns:p="http://schemas.microsoft.com/office/2006/metadata/properties" xmlns:ns3="5207ff34-3743-463f-9dbd-a51e05628c3b" xmlns:ns4="2050b3c5-dea8-480d-a7f2-677a4223c29a" targetNamespace="http://schemas.microsoft.com/office/2006/metadata/properties" ma:root="true" ma:fieldsID="5a19218456eb811505c9ad5fcba538ea" ns3:_="" ns4:_="">
    <xsd:import namespace="5207ff34-3743-463f-9dbd-a51e05628c3b"/>
    <xsd:import namespace="2050b3c5-dea8-480d-a7f2-677a4223c2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07ff34-3743-463f-9dbd-a51e05628c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50b3c5-dea8-480d-a7f2-677a4223c29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07ff34-3743-463f-9dbd-a51e05628c3b" xsi:nil="true"/>
  </documentManagement>
</p:properties>
</file>

<file path=customXml/itemProps1.xml><?xml version="1.0" encoding="utf-8"?>
<ds:datastoreItem xmlns:ds="http://schemas.openxmlformats.org/officeDocument/2006/customXml" ds:itemID="{0F861050-1819-4C8E-889D-5A0EC17E66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07ff34-3743-463f-9dbd-a51e05628c3b"/>
    <ds:schemaRef ds:uri="2050b3c5-dea8-480d-a7f2-677a4223c2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2050b3c5-dea8-480d-a7f2-677a4223c29a"/>
    <ds:schemaRef ds:uri="http://schemas.microsoft.com/office/infopath/2007/PartnerControls"/>
    <ds:schemaRef ds:uri="http://schemas.openxmlformats.org/package/2006/metadata/core-properties"/>
    <ds:schemaRef ds:uri="5207ff34-3743-463f-9dbd-a51e05628c3b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{F92A3AE1-8D2D-4666-B6EB-79DF721CA366}tf89338750_win32</Template>
  <TotalTime>23925</TotalTime>
  <Words>1753</Words>
  <Application>Microsoft Office PowerPoint</Application>
  <PresentationFormat>Widescreen</PresentationFormat>
  <Paragraphs>173</Paragraphs>
  <Slides>30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8" baseType="lpstr">
      <vt:lpstr>Arial</vt:lpstr>
      <vt:lpstr>Arial Nova Light</vt:lpstr>
      <vt:lpstr>Calibri</vt:lpstr>
      <vt:lpstr>Cambria Math</vt:lpstr>
      <vt:lpstr>Neue Haas Grotesk Text Pro</vt:lpstr>
      <vt:lpstr>Roboto</vt:lpstr>
      <vt:lpstr>Univers</vt:lpstr>
      <vt:lpstr>GradientVTI</vt:lpstr>
      <vt:lpstr>He neutrinos emission from sn explosion</vt:lpstr>
      <vt:lpstr>What has been done?</vt:lpstr>
      <vt:lpstr>CUT&amp;COUNT ANALYSIS</vt:lpstr>
      <vt:lpstr>CUT&amp;COUNT ANALYSIS</vt:lpstr>
      <vt:lpstr>MRF – my code (ν_μ)</vt:lpstr>
      <vt:lpstr>MRF – my code ((ν_μ ) ̅)</vt:lpstr>
      <vt:lpstr>MRF – Calcrate (ν_μ)</vt:lpstr>
      <vt:lpstr>MRF – Calcrate ((ν_μ ) ̅)</vt:lpstr>
      <vt:lpstr>Comparison sensitivity (ν_μ)</vt:lpstr>
      <vt:lpstr>Comparison sensitivity ((ν_μ ) ̅)</vt:lpstr>
      <vt:lpstr>Next step</vt:lpstr>
      <vt:lpstr>SN IIP</vt:lpstr>
      <vt:lpstr>SN IIP</vt:lpstr>
      <vt:lpstr>Modeling the flux</vt:lpstr>
      <vt:lpstr>sensitivity ((ν_μ ) ̅+ν_μ) (1 yr)</vt:lpstr>
      <vt:lpstr>sensitivity ((ν_μ ) ̅+ν_μ) (3 yr)</vt:lpstr>
      <vt:lpstr>Presentazione standard di PowerPoint</vt:lpstr>
      <vt:lpstr>Back-up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CUT&amp;COUNT ANALYSIS</vt:lpstr>
      <vt:lpstr>CUT&amp;COUNT ANALYSIS</vt:lpstr>
      <vt:lpstr>MRF – 10Kpc sn iin</vt:lpstr>
      <vt:lpstr>sensitivity ((ν_μ ) ̅+ν_μ) (1 yr)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OLIVIERO</dc:creator>
  <cp:lastModifiedBy>VERONICA OLIVIERO</cp:lastModifiedBy>
  <cp:revision>11</cp:revision>
  <dcterms:created xsi:type="dcterms:W3CDTF">2025-02-24T11:08:52Z</dcterms:created>
  <dcterms:modified xsi:type="dcterms:W3CDTF">2025-05-06T09:06:04Z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0x0101006775525D67BA834FA1DAF790569B7267</vt:lpwstr>
  </property>
</Properties>
</file>