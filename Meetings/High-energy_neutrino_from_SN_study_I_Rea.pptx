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8" r:id="rId2"/>
    <p:sldId id="267" r:id="rId3"/>
    <p:sldId id="270" r:id="rId4"/>
    <p:sldId id="272" r:id="rId5"/>
    <p:sldId id="275" r:id="rId6"/>
    <p:sldId id="269" r:id="rId7"/>
    <p:sldId id="273" r:id="rId8"/>
    <p:sldId id="274" r:id="rId9"/>
    <p:sldId id="276" r:id="rId10"/>
    <p:sldId id="277" r:id="rId11"/>
    <p:sldId id="279" r:id="rId12"/>
    <p:sldId id="280" r:id="rId13"/>
    <p:sldId id="281" r:id="rId14"/>
    <p:sldId id="278" r:id="rId15"/>
    <p:sldId id="284" r:id="rId16"/>
    <p:sldId id="285" r:id="rId17"/>
    <p:sldId id="286" r:id="rId18"/>
    <p:sldId id="287" r:id="rId19"/>
    <p:sldId id="292" r:id="rId20"/>
    <p:sldId id="282" r:id="rId21"/>
    <p:sldId id="293" r:id="rId22"/>
    <p:sldId id="294" r:id="rId23"/>
    <p:sldId id="295" r:id="rId24"/>
    <p:sldId id="296" r:id="rId25"/>
    <p:sldId id="289" r:id="rId26"/>
    <p:sldId id="298" r:id="rId27"/>
    <p:sldId id="299" r:id="rId28"/>
    <p:sldId id="297" r:id="rId29"/>
    <p:sldId id="29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04" autoAdjust="0"/>
  </p:normalViewPr>
  <p:slideViewPr>
    <p:cSldViewPr snapToGrid="0">
      <p:cViewPr varScale="1">
        <p:scale>
          <a:sx n="67" d="100"/>
          <a:sy n="67" d="100"/>
        </p:scale>
        <p:origin x="572" y="52"/>
      </p:cViewPr>
      <p:guideLst/>
    </p:cSldViewPr>
  </p:slideViewPr>
  <p:outlineViewPr>
    <p:cViewPr>
      <p:scale>
        <a:sx n="33" d="100"/>
        <a:sy n="33" d="100"/>
      </p:scale>
      <p:origin x="0" y="-128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A1FECC-958A-48D6-8DFF-7BF3579F4271}" type="datetimeFigureOut">
              <a:rPr lang="it-IT" smtClean="0"/>
              <a:t>09/10/2024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DB0FF9-D38C-4E7F-AF5D-DA6E553221D5}" type="slidenum">
              <a:rPr lang="it-IT" smtClean="0"/>
              <a:t>‹N›</a:t>
            </a:fld>
            <a:endParaRPr lang="it-IT"/>
          </a:p>
        </p:txBody>
      </p:sp>
    </p:spTree>
    <p:extLst>
      <p:ext uri="{BB962C8B-B14F-4D97-AF65-F5344CB8AC3E}">
        <p14:creationId xmlns:p14="http://schemas.microsoft.com/office/powerpoint/2010/main" val="964507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2DB0FF9-D38C-4E7F-AF5D-DA6E553221D5}" type="slidenum">
              <a:rPr lang="it-IT" smtClean="0"/>
              <a:t>2</a:t>
            </a:fld>
            <a:endParaRPr lang="it-IT"/>
          </a:p>
        </p:txBody>
      </p:sp>
    </p:spTree>
    <p:extLst>
      <p:ext uri="{BB962C8B-B14F-4D97-AF65-F5344CB8AC3E}">
        <p14:creationId xmlns:p14="http://schemas.microsoft.com/office/powerpoint/2010/main" val="2712470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2DB0FF9-D38C-4E7F-AF5D-DA6E553221D5}" type="slidenum">
              <a:rPr lang="it-IT" smtClean="0"/>
              <a:t>24</a:t>
            </a:fld>
            <a:endParaRPr lang="it-IT"/>
          </a:p>
        </p:txBody>
      </p:sp>
    </p:spTree>
    <p:extLst>
      <p:ext uri="{BB962C8B-B14F-4D97-AF65-F5344CB8AC3E}">
        <p14:creationId xmlns:p14="http://schemas.microsoft.com/office/powerpoint/2010/main" val="3729448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ED7F9E96-601F-4FFD-BBD0-F6D1013E6E24}" type="datetimeFigureOut">
              <a:rPr lang="it-IT" smtClean="0"/>
              <a:t>09/10/2024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039901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ED7F9E96-601F-4FFD-BBD0-F6D1013E6E24}" type="datetimeFigureOut">
              <a:rPr lang="it-IT" smtClean="0"/>
              <a:t>09/10/2024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2475685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ED7F9E96-601F-4FFD-BBD0-F6D1013E6E24}" type="datetimeFigureOut">
              <a:rPr lang="it-IT" smtClean="0"/>
              <a:t>09/10/2024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588252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ED7F9E96-601F-4FFD-BBD0-F6D1013E6E24}" type="datetimeFigureOut">
              <a:rPr lang="it-IT" smtClean="0"/>
              <a:t>09/10/2024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409098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ED7F9E96-601F-4FFD-BBD0-F6D1013E6E24}" type="datetimeFigureOut">
              <a:rPr lang="it-IT" smtClean="0"/>
              <a:t>09/10/2024</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309867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ED7F9E96-601F-4FFD-BBD0-F6D1013E6E24}" type="datetimeFigureOut">
              <a:rPr lang="it-IT" smtClean="0"/>
              <a:t>09/10/2024</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4073155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F9E96-601F-4FFD-BBD0-F6D1013E6E24}" type="datetimeFigureOut">
              <a:rPr lang="it-IT" smtClean="0"/>
              <a:t>09/10/2024</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549561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ED7F9E96-601F-4FFD-BBD0-F6D1013E6E24}" type="datetimeFigureOut">
              <a:rPr lang="it-IT" smtClean="0"/>
              <a:t>09/10/2024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417403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ED7F9E96-601F-4FFD-BBD0-F6D1013E6E24}" type="datetimeFigureOut">
              <a:rPr lang="it-IT" smtClean="0"/>
              <a:t>09/10/2024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836368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ED7F9E96-601F-4FFD-BBD0-F6D1013E6E24}" type="datetimeFigureOut">
              <a:rPr lang="it-IT" smtClean="0"/>
              <a:t>09/10/2024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1545788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ED7F9E96-601F-4FFD-BBD0-F6D1013E6E24}" type="datetimeFigureOut">
              <a:rPr lang="it-IT" smtClean="0"/>
              <a:t>09/10/2024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8FDBBBEB-698B-47FF-BB0F-716DD0334193}" type="slidenum">
              <a:rPr lang="it-IT" smtClean="0"/>
              <a:t>‹N›</a:t>
            </a:fld>
            <a:endParaRPr lang="it-IT"/>
          </a:p>
        </p:txBody>
      </p:sp>
    </p:spTree>
    <p:extLst>
      <p:ext uri="{BB962C8B-B14F-4D97-AF65-F5344CB8AC3E}">
        <p14:creationId xmlns:p14="http://schemas.microsoft.com/office/powerpoint/2010/main" val="3324513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7F9E96-601F-4FFD-BBD0-F6D1013E6E24}" type="datetimeFigureOut">
              <a:rPr lang="it-IT" smtClean="0"/>
              <a:t>09/10/2024</a:t>
            </a:fld>
            <a:endParaRPr lang="it-IT"/>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DBBBEB-698B-47FF-BB0F-716DD0334193}" type="slidenum">
              <a:rPr lang="it-IT" smtClean="0"/>
              <a:t>‹N›</a:t>
            </a:fld>
            <a:endParaRPr lang="it-IT"/>
          </a:p>
        </p:txBody>
      </p:sp>
    </p:spTree>
    <p:extLst>
      <p:ext uri="{BB962C8B-B14F-4D97-AF65-F5344CB8AC3E}">
        <p14:creationId xmlns:p14="http://schemas.microsoft.com/office/powerpoint/2010/main" val="23255899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opscience.iop.org/article/10.3847/1538-4357/ac4269" TargetMode="External"/><Relationship Id="rId2" Type="http://schemas.openxmlformats.org/officeDocument/2006/relationships/hyperlink" Target="https://arxiv.org/pdf/2206.00450"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hyperlink" Target="https://journals.aps.org/prd/abstract/10.1103/PhysRevD.97.081301" TargetMode="External"/><Relationship Id="rId2" Type="http://schemas.openxmlformats.org/officeDocument/2006/relationships/hyperlink" Target="https://arxiv.org/pdf/2206.00450" TargetMode="External"/><Relationship Id="rId1" Type="http://schemas.openxmlformats.org/officeDocument/2006/relationships/slideLayout" Target="../slideLayouts/slideLayout2.xml"/><Relationship Id="rId5" Type="http://schemas.openxmlformats.org/officeDocument/2006/relationships/hyperlink" Target="https://arxiv.org/abs/2303.03316" TargetMode="External"/><Relationship Id="rId4" Type="http://schemas.openxmlformats.org/officeDocument/2006/relationships/hyperlink" Target="https://journals.aps.org/prd/abstract/10.1103/PhysRevD.79.053006"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arxiv.org/pdf/2206.00450"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rxiv.org/pdf/2206.00450"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rxiv.org/pdf/2206.00450" TargetMode="External"/><Relationship Id="rId2" Type="http://schemas.openxmlformats.org/officeDocument/2006/relationships/hyperlink" Target="https://journals.aps.org/prd/abstract/10.1103/PhysRevD.97.081301" TargetMode="External"/><Relationship Id="rId1" Type="http://schemas.openxmlformats.org/officeDocument/2006/relationships/slideLayout" Target="../slideLayouts/slideLayout2.xml"/><Relationship Id="rId4" Type="http://schemas.openxmlformats.org/officeDocument/2006/relationships/hyperlink" Target="https://journals.aps.org/prd/abstract/10.1103/PhysRevD.109.103020"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arxiv.org/pdf/2206.00450" TargetMode="External"/><Relationship Id="rId2" Type="http://schemas.openxmlformats.org/officeDocument/2006/relationships/hyperlink" Target="https://journals.aps.org/prd/abstract/10.1103/PhysRevD.97.081301" TargetMode="Externa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pdf/2206.00450" TargetMode="External"/><Relationship Id="rId2" Type="http://schemas.openxmlformats.org/officeDocument/2006/relationships/hyperlink" Target="https://journals.aps.org/prd/abstract/10.1103/PhysRevD.97.081301" TargetMode="Externa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hyperlink" Target="https://arxiv.org/pdf/2206.00450" TargetMode="External"/><Relationship Id="rId2" Type="http://schemas.openxmlformats.org/officeDocument/2006/relationships/hyperlink" Target="https://journals.aps.org/prd/abstract/10.1103/PhysRevD.97.081301" TargetMode="Externa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hyperlink" Target="https://journals.aps.org/prd/abstract/10.1103/PhysRevD.97.08130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hyperlink" Target="https://arxiv.org/pdf/2206.00450"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6E535F-C446-2292-6194-6CEA5488A68D}"/>
              </a:ext>
            </a:extLst>
          </p:cNvPr>
          <p:cNvSpPr>
            <a:spLocks noGrp="1"/>
          </p:cNvSpPr>
          <p:nvPr>
            <p:ph type="title"/>
          </p:nvPr>
        </p:nvSpPr>
        <p:spPr>
          <a:xfrm>
            <a:off x="944078" y="2766218"/>
            <a:ext cx="10515600" cy="1325563"/>
          </a:xfrm>
        </p:spPr>
        <p:txBody>
          <a:bodyPr>
            <a:normAutofit fontScale="90000"/>
          </a:bodyPr>
          <a:lstStyle/>
          <a:p>
            <a:pPr algn="ctr"/>
            <a:r>
              <a:rPr lang="it-IT" b="1" dirty="0">
                <a:solidFill>
                  <a:schemeClr val="accent1"/>
                </a:solidFill>
              </a:rPr>
              <a:t>CC-</a:t>
            </a:r>
            <a:r>
              <a:rPr lang="it-IT" b="1" dirty="0" err="1">
                <a:solidFill>
                  <a:schemeClr val="accent1"/>
                </a:solidFill>
              </a:rPr>
              <a:t>SNe</a:t>
            </a:r>
            <a:r>
              <a:rPr lang="it-IT" b="1" dirty="0">
                <a:solidFill>
                  <a:schemeClr val="accent1"/>
                </a:solidFill>
              </a:rPr>
              <a:t> high-energy neutrino </a:t>
            </a:r>
            <a:r>
              <a:rPr lang="it-IT" b="1" dirty="0" err="1">
                <a:solidFill>
                  <a:schemeClr val="accent1"/>
                </a:solidFill>
              </a:rPr>
              <a:t>emission</a:t>
            </a:r>
            <a:br>
              <a:rPr lang="it-IT" dirty="0"/>
            </a:br>
            <a:br>
              <a:rPr lang="it-IT" dirty="0"/>
            </a:br>
            <a:r>
              <a:rPr lang="it-IT" dirty="0" err="1"/>
              <a:t>overview</a:t>
            </a:r>
            <a:r>
              <a:rPr lang="it-IT" dirty="0"/>
              <a:t> &amp; goals</a:t>
            </a:r>
          </a:p>
        </p:txBody>
      </p:sp>
    </p:spTree>
    <p:extLst>
      <p:ext uri="{BB962C8B-B14F-4D97-AF65-F5344CB8AC3E}">
        <p14:creationId xmlns:p14="http://schemas.microsoft.com/office/powerpoint/2010/main" val="735078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Stellar </a:t>
            </a:r>
            <a:r>
              <a:rPr lang="it-IT" sz="2800" b="1" dirty="0" err="1">
                <a:solidFill>
                  <a:schemeClr val="accent1"/>
                </a:solidFill>
              </a:rPr>
              <a:t>evolution</a:t>
            </a:r>
            <a:r>
              <a:rPr lang="it-IT" sz="2800" b="1" dirty="0">
                <a:solidFill>
                  <a:schemeClr val="accent1"/>
                </a:solidFill>
              </a:rPr>
              <a:t> and </a:t>
            </a:r>
            <a:r>
              <a:rPr lang="it-IT" sz="2800" b="1" dirty="0" err="1">
                <a:solidFill>
                  <a:schemeClr val="accent1"/>
                </a:solidFill>
              </a:rPr>
              <a:t>neutrinos</a:t>
            </a:r>
            <a:endParaRPr lang="it-IT" sz="2800" b="1" dirty="0">
              <a:solidFill>
                <a:schemeClr val="accent1"/>
              </a:solidFill>
            </a:endParaRPr>
          </a:p>
        </p:txBody>
      </p:sp>
      <p:sp>
        <p:nvSpPr>
          <p:cNvPr id="25" name="CasellaDiTesto 24">
            <a:extLst>
              <a:ext uri="{FF2B5EF4-FFF2-40B4-BE49-F238E27FC236}">
                <a16:creationId xmlns:a16="http://schemas.microsoft.com/office/drawing/2014/main" id="{2492944A-B68A-B9F3-8214-9224D2D0282B}"/>
              </a:ext>
            </a:extLst>
          </p:cNvPr>
          <p:cNvSpPr txBox="1"/>
          <p:nvPr/>
        </p:nvSpPr>
        <p:spPr>
          <a:xfrm>
            <a:off x="4883718" y="2037758"/>
            <a:ext cx="6911921" cy="3046988"/>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energy of stars is provided by nuclear fusion reactions in their core, and their evolution strongly depends on their mass.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chemeClr val="accent1"/>
                </a:solidFill>
              </a:rPr>
              <a:t>The stars shine through nuclear fusion reactions</a:t>
            </a:r>
            <a:r>
              <a:rPr lang="en-US" sz="1600" dirty="0"/>
              <a:t>. As light elements (starting from hydrogen) are burned, stars slowly evolve.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Their central temperature is adjusted so that the average thermal energy of a nucleus is small compared to the Coulomb repulsion from potential fusion partners. The large Coulomb repulsion, which corresponds to few MeV, slows the nuclear reaction rates to long time scales. Nuclear fusion reactions are possible because of </a:t>
            </a:r>
            <a:r>
              <a:rPr lang="en-US" sz="1600" dirty="0">
                <a:solidFill>
                  <a:schemeClr val="accent1"/>
                </a:solidFill>
              </a:rPr>
              <a:t>the tunneling effect </a:t>
            </a:r>
            <a:r>
              <a:rPr lang="en-US" sz="1600" dirty="0"/>
              <a:t>through a potential barrier.</a:t>
            </a:r>
          </a:p>
          <a:p>
            <a:pPr marL="285750" indent="-285750">
              <a:buFont typeface="Arial" panose="020B0604020202020204" pitchFamily="34" charset="0"/>
              <a:buChar char="•"/>
            </a:pPr>
            <a:endParaRPr lang="en-US" sz="1600" dirty="0"/>
          </a:p>
        </p:txBody>
      </p:sp>
      <p:sp>
        <p:nvSpPr>
          <p:cNvPr id="29" name="CasellaDiTesto 28">
            <a:extLst>
              <a:ext uri="{FF2B5EF4-FFF2-40B4-BE49-F238E27FC236}">
                <a16:creationId xmlns:a16="http://schemas.microsoft.com/office/drawing/2014/main" id="{159A4B51-B34D-4D28-0635-ABE7DC391D96}"/>
              </a:ext>
            </a:extLst>
          </p:cNvPr>
          <p:cNvSpPr txBox="1"/>
          <p:nvPr/>
        </p:nvSpPr>
        <p:spPr>
          <a:xfrm>
            <a:off x="98479" y="539015"/>
            <a:ext cx="11995042" cy="1077218"/>
          </a:xfrm>
          <a:prstGeom prst="rect">
            <a:avLst/>
          </a:prstGeom>
          <a:noFill/>
        </p:spPr>
        <p:txBody>
          <a:bodyPr wrap="square" rtlCol="0">
            <a:spAutoFit/>
          </a:bodyPr>
          <a:lstStyle/>
          <a:p>
            <a:r>
              <a:rPr lang="en-US" sz="1600" dirty="0"/>
              <a:t>The interplay between the gravitational, the electromagnetic and the nuclear forces determines the life evolution of stars. The force field that holds the nuclei in the star core is due to the gravitational pressure of matter present in the outer layers. </a:t>
            </a:r>
          </a:p>
          <a:p>
            <a:endParaRPr lang="en-US" sz="1600" dirty="0">
              <a:solidFill>
                <a:schemeClr val="accent1"/>
              </a:solidFill>
            </a:endParaRPr>
          </a:p>
          <a:p>
            <a:r>
              <a:rPr lang="en-US" sz="1600" dirty="0">
                <a:solidFill>
                  <a:schemeClr val="accent1"/>
                </a:solidFill>
              </a:rPr>
              <a:t>A star is a system in equilibrium between pressure due to gravity and pressure due to radiation produced by fusion reactions in the core.</a:t>
            </a:r>
            <a:endParaRPr lang="it-IT" sz="1600" dirty="0">
              <a:solidFill>
                <a:schemeClr val="accent1"/>
              </a:solidFill>
            </a:endParaRPr>
          </a:p>
        </p:txBody>
      </p:sp>
      <p:sp>
        <p:nvSpPr>
          <p:cNvPr id="30" name="CasellaDiTesto 29">
            <a:extLst>
              <a:ext uri="{FF2B5EF4-FFF2-40B4-BE49-F238E27FC236}">
                <a16:creationId xmlns:a16="http://schemas.microsoft.com/office/drawing/2014/main" id="{00AE3962-89F7-07B7-D571-EE4807CC42BA}"/>
              </a:ext>
            </a:extLst>
          </p:cNvPr>
          <p:cNvSpPr txBox="1"/>
          <p:nvPr/>
        </p:nvSpPr>
        <p:spPr>
          <a:xfrm>
            <a:off x="219386" y="5258392"/>
            <a:ext cx="11753228" cy="1569660"/>
          </a:xfrm>
          <a:prstGeom prst="rect">
            <a:avLst/>
          </a:prstGeom>
          <a:solidFill>
            <a:schemeClr val="accent4">
              <a:lumMod val="20000"/>
              <a:lumOff val="80000"/>
            </a:schemeClr>
          </a:solidFill>
        </p:spPr>
        <p:txBody>
          <a:bodyPr wrap="square" rtlCol="0">
            <a:spAutoFit/>
          </a:bodyPr>
          <a:lstStyle/>
          <a:p>
            <a:r>
              <a:rPr lang="en-US" sz="1600" b="1" dirty="0"/>
              <a:t>The Sun, through the Standard Solar Model (SSM), is the only star for which the stellar evolution theory can be deeply tested.</a:t>
            </a:r>
          </a:p>
          <a:p>
            <a:endParaRPr lang="en-US" sz="1600" dirty="0"/>
          </a:p>
          <a:p>
            <a:r>
              <a:rPr lang="en-US" sz="1600" dirty="0"/>
              <a:t> The neutrinos are probes useful to verify the theoretical predictions of the various thermonuclear processes occurring inside the Sun.</a:t>
            </a:r>
          </a:p>
          <a:p>
            <a:endParaRPr lang="en-US" sz="1600" dirty="0"/>
          </a:p>
          <a:p>
            <a:r>
              <a:rPr lang="en-US" sz="1600" dirty="0"/>
              <a:t>The experimental study of solar neutrinos has given a fundamental contribution to </a:t>
            </a:r>
            <a:r>
              <a:rPr lang="en-US" sz="1600" dirty="0" err="1"/>
              <a:t>astroparticle</a:t>
            </a:r>
            <a:r>
              <a:rPr lang="en-US" sz="1600" dirty="0"/>
              <a:t> and elementary particle physics, offering an ideal test of solar models and providing at the same time fundamental indications of the physics of the neutrino sector.</a:t>
            </a:r>
          </a:p>
        </p:txBody>
      </p:sp>
      <p:pic>
        <p:nvPicPr>
          <p:cNvPr id="31" name="Immagine 30" descr="Immagine che contiene schermata, testo, Universo, astronomia&#10;&#10;Descrizione generata automaticamente">
            <a:extLst>
              <a:ext uri="{FF2B5EF4-FFF2-40B4-BE49-F238E27FC236}">
                <a16:creationId xmlns:a16="http://schemas.microsoft.com/office/drawing/2014/main" id="{A4F47F9F-309B-3457-03C0-262F4BA3A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086" y="1705031"/>
            <a:ext cx="4242314" cy="3447937"/>
          </a:xfrm>
          <a:prstGeom prst="rect">
            <a:avLst/>
          </a:prstGeom>
        </p:spPr>
      </p:pic>
    </p:spTree>
    <p:extLst>
      <p:ext uri="{BB962C8B-B14F-4D97-AF65-F5344CB8AC3E}">
        <p14:creationId xmlns:p14="http://schemas.microsoft.com/office/powerpoint/2010/main" val="1600775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Stellar </a:t>
            </a:r>
            <a:r>
              <a:rPr lang="it-IT" sz="2800" b="1" dirty="0" err="1">
                <a:solidFill>
                  <a:schemeClr val="accent1"/>
                </a:solidFill>
              </a:rPr>
              <a:t>evolution</a:t>
            </a:r>
            <a:r>
              <a:rPr lang="it-IT" sz="2800" b="1" dirty="0">
                <a:solidFill>
                  <a:schemeClr val="accent1"/>
                </a:solidFill>
              </a:rPr>
              <a:t> and </a:t>
            </a:r>
            <a:r>
              <a:rPr lang="it-IT" sz="2800" b="1" dirty="0" err="1">
                <a:solidFill>
                  <a:schemeClr val="accent1"/>
                </a:solidFill>
              </a:rPr>
              <a:t>neutrinos</a:t>
            </a:r>
            <a:endParaRPr lang="it-IT" sz="2800" b="1" dirty="0">
              <a:solidFill>
                <a:schemeClr val="accent1"/>
              </a:solidFill>
            </a:endParaRPr>
          </a:p>
        </p:txBody>
      </p:sp>
      <p:sp>
        <p:nvSpPr>
          <p:cNvPr id="3" name="CasellaDiTesto 2">
            <a:extLst>
              <a:ext uri="{FF2B5EF4-FFF2-40B4-BE49-F238E27FC236}">
                <a16:creationId xmlns:a16="http://schemas.microsoft.com/office/drawing/2014/main" id="{891950E7-A208-F30B-A223-C7AC085FC559}"/>
              </a:ext>
            </a:extLst>
          </p:cNvPr>
          <p:cNvSpPr txBox="1"/>
          <p:nvPr/>
        </p:nvSpPr>
        <p:spPr>
          <a:xfrm>
            <a:off x="6096000" y="2109921"/>
            <a:ext cx="5753100" cy="2800767"/>
          </a:xfrm>
          <a:prstGeom prst="rect">
            <a:avLst/>
          </a:prstGeom>
          <a:noFill/>
        </p:spPr>
        <p:txBody>
          <a:bodyPr wrap="square" rtlCol="0">
            <a:spAutoFit/>
          </a:bodyPr>
          <a:lstStyle/>
          <a:p>
            <a:pPr marL="285750" indent="-285750">
              <a:buFont typeface="Arial" panose="020B0604020202020204" pitchFamily="34" charset="0"/>
              <a:buChar char="•"/>
            </a:pPr>
            <a:r>
              <a:rPr lang="en-US" sz="1600" dirty="0"/>
              <a:t>Approximately 80% of observed stars (called main sequence stars) lie along a path in the Hertzsprung-Russell diagram characterized by energy generation through proton burning. </a:t>
            </a:r>
          </a:p>
          <a:p>
            <a:endParaRPr lang="en-US" sz="1600" dirty="0"/>
          </a:p>
          <a:p>
            <a:endParaRPr lang="en-US" sz="1600" dirty="0"/>
          </a:p>
          <a:p>
            <a:endParaRPr lang="en-US" sz="1600" dirty="0"/>
          </a:p>
          <a:p>
            <a:pPr marL="285750" indent="-285750">
              <a:buFont typeface="Arial" panose="020B0604020202020204" pitchFamily="34" charset="0"/>
              <a:buChar char="•"/>
            </a:pPr>
            <a:r>
              <a:rPr lang="en-US" sz="1600" dirty="0"/>
              <a:t>Main sequence stars fuse protons to produce energy contrasting the gravitational collapse via the </a:t>
            </a:r>
            <a:r>
              <a:rPr lang="en-US" sz="1600" dirty="0">
                <a:solidFill>
                  <a:schemeClr val="accent1"/>
                </a:solidFill>
              </a:rPr>
              <a:t>proton–proton </a:t>
            </a:r>
            <a:r>
              <a:rPr lang="en-US" sz="1600" dirty="0"/>
              <a:t>(pp) or the </a:t>
            </a:r>
            <a:r>
              <a:rPr lang="en-US" sz="1600" dirty="0">
                <a:solidFill>
                  <a:schemeClr val="accent1"/>
                </a:solidFill>
              </a:rPr>
              <a:t>carbon-nitrogen-oxygen</a:t>
            </a:r>
            <a:r>
              <a:rPr lang="en-US" sz="1600" dirty="0"/>
              <a:t> (CNO) cycles, two distinct reaction chains.</a:t>
            </a:r>
          </a:p>
          <a:p>
            <a:endParaRPr lang="en-US" sz="1600" dirty="0"/>
          </a:p>
        </p:txBody>
      </p:sp>
      <p:pic>
        <p:nvPicPr>
          <p:cNvPr id="18" name="Immagine 17" descr="Immagine che contiene schermata, Universo, spazio, Policromia&#10;&#10;Descrizione generata automaticamente">
            <a:extLst>
              <a:ext uri="{FF2B5EF4-FFF2-40B4-BE49-F238E27FC236}">
                <a16:creationId xmlns:a16="http://schemas.microsoft.com/office/drawing/2014/main" id="{8728BFF7-1DA6-94A3-41BC-260F425503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708" y="643790"/>
            <a:ext cx="5387292" cy="6135525"/>
          </a:xfrm>
          <a:prstGeom prst="rect">
            <a:avLst/>
          </a:prstGeom>
        </p:spPr>
      </p:pic>
    </p:spTree>
    <p:extLst>
      <p:ext uri="{BB962C8B-B14F-4D97-AF65-F5344CB8AC3E}">
        <p14:creationId xmlns:p14="http://schemas.microsoft.com/office/powerpoint/2010/main" val="224013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E7422712-B712-831A-6B51-2DB162970886}"/>
              </a:ext>
            </a:extLst>
          </p:cNvPr>
          <p:cNvPicPr>
            <a:picLocks noChangeAspect="1"/>
          </p:cNvPicPr>
          <p:nvPr/>
        </p:nvPicPr>
        <p:blipFill>
          <a:blip r:embed="rId2"/>
          <a:stretch>
            <a:fillRect/>
          </a:stretch>
        </p:blipFill>
        <p:spPr>
          <a:xfrm>
            <a:off x="1" y="3612472"/>
            <a:ext cx="3590924" cy="3169643"/>
          </a:xfrm>
          <a:prstGeom prst="rect">
            <a:avLst/>
          </a:prstGeom>
        </p:spPr>
      </p:pic>
      <p:sp>
        <p:nvSpPr>
          <p:cNvPr id="3" name="Segnaposto contenuto 2">
            <a:extLst>
              <a:ext uri="{FF2B5EF4-FFF2-40B4-BE49-F238E27FC236}">
                <a16:creationId xmlns:a16="http://schemas.microsoft.com/office/drawing/2014/main" id="{6F2AE055-DA71-11CF-61A3-6DF7E4A838F4}"/>
              </a:ext>
            </a:extLst>
          </p:cNvPr>
          <p:cNvSpPr>
            <a:spLocks noGrp="1"/>
          </p:cNvSpPr>
          <p:nvPr>
            <p:ph idx="1"/>
          </p:nvPr>
        </p:nvSpPr>
        <p:spPr>
          <a:xfrm>
            <a:off x="218098" y="657225"/>
            <a:ext cx="6277952" cy="3276600"/>
          </a:xfrm>
        </p:spPr>
        <p:txBody>
          <a:bodyPr>
            <a:noAutofit/>
          </a:bodyPr>
          <a:lstStyle/>
          <a:p>
            <a:r>
              <a:rPr lang="en-US" sz="1600" dirty="0"/>
              <a:t>Stellar nucleosynthesis is responsible for the abundance of elements up to iron nuclei.  </a:t>
            </a:r>
          </a:p>
          <a:p>
            <a:r>
              <a:rPr lang="en-US" sz="1600" dirty="0"/>
              <a:t>The first reaction of the </a:t>
            </a:r>
            <a:r>
              <a:rPr lang="en-US" sz="1600" dirty="0">
                <a:solidFill>
                  <a:schemeClr val="accent1"/>
                </a:solidFill>
              </a:rPr>
              <a:t>proton-proton cycle </a:t>
            </a:r>
            <a:r>
              <a:rPr lang="en-US" sz="1600" dirty="0"/>
              <a:t>occurs through weak interactions.</a:t>
            </a:r>
            <a:endParaRPr lang="it-IT" sz="1600" dirty="0"/>
          </a:p>
          <a:p>
            <a:r>
              <a:rPr lang="en-US" sz="1600" dirty="0"/>
              <a:t>A star with roughly the solar mass, </a:t>
            </a:r>
            <a:r>
              <a:rPr lang="en-US" sz="1600" dirty="0">
                <a:solidFill>
                  <a:schemeClr val="accent1"/>
                </a:solidFill>
              </a:rPr>
              <a:t>when hydrogen is exhausted</a:t>
            </a:r>
            <a:r>
              <a:rPr lang="en-US" sz="1600" dirty="0"/>
              <a:t>, tends to </a:t>
            </a:r>
            <a:r>
              <a:rPr lang="en-US" sz="1600" dirty="0" err="1"/>
              <a:t>contract,and</a:t>
            </a:r>
            <a:r>
              <a:rPr lang="en-US" sz="1600" dirty="0"/>
              <a:t> to increase its density; this happens because the radiation produced by the fusion reactions is no longer able to balance the gravitational pressure. </a:t>
            </a:r>
          </a:p>
          <a:p>
            <a:r>
              <a:rPr lang="en-US" sz="1600" dirty="0"/>
              <a:t>Nucleosynthesis from nuclear fusion proceeds (according to the mass of the star) until the formation of nuclei with A ≤60. Nuclei with A ∼ 60 (the iron peak) have the highest binding energy.</a:t>
            </a:r>
          </a:p>
          <a:p>
            <a:endParaRPr lang="en-US" sz="1600" dirty="0"/>
          </a:p>
          <a:p>
            <a:pPr marL="0" indent="0">
              <a:buNone/>
            </a:pPr>
            <a:endParaRPr lang="en-US" sz="1600" dirty="0"/>
          </a:p>
          <a:p>
            <a:endParaRPr lang="en-US" sz="1600" dirty="0"/>
          </a:p>
        </p:txBody>
      </p:sp>
      <p:pic>
        <p:nvPicPr>
          <p:cNvPr id="4" name="Immagine 3" descr="Immagine che contiene testo, diagramma, schermata, Carattere&#10;&#10;Descrizione generata automaticamente">
            <a:extLst>
              <a:ext uri="{FF2B5EF4-FFF2-40B4-BE49-F238E27FC236}">
                <a16:creationId xmlns:a16="http://schemas.microsoft.com/office/drawing/2014/main" id="{58F36590-2E11-6F84-ADB1-5A2F2E2F6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6050" y="381000"/>
            <a:ext cx="5477853" cy="6276975"/>
          </a:xfrm>
          <a:prstGeom prst="rect">
            <a:avLst/>
          </a:prstGeom>
        </p:spPr>
      </p:pic>
      <p:sp>
        <p:nvSpPr>
          <p:cNvPr id="5" name="CasellaDiTesto 4">
            <a:extLst>
              <a:ext uri="{FF2B5EF4-FFF2-40B4-BE49-F238E27FC236}">
                <a16:creationId xmlns:a16="http://schemas.microsoft.com/office/drawing/2014/main" id="{901FE24E-0F8C-376A-93C1-0ED3AF576E92}"/>
              </a:ext>
            </a:extLst>
          </p:cNvPr>
          <p:cNvSpPr txBox="1"/>
          <p:nvPr/>
        </p:nvSpPr>
        <p:spPr>
          <a:xfrm>
            <a:off x="6582754" y="73223"/>
            <a:ext cx="5391149" cy="307777"/>
          </a:xfrm>
          <a:prstGeom prst="rect">
            <a:avLst/>
          </a:prstGeom>
          <a:noFill/>
        </p:spPr>
        <p:txBody>
          <a:bodyPr wrap="square" rtlCol="0">
            <a:spAutoFit/>
          </a:bodyPr>
          <a:lstStyle/>
          <a:p>
            <a:pPr algn="ctr"/>
            <a:r>
              <a:rPr lang="it-IT" sz="1400" b="1" dirty="0">
                <a:solidFill>
                  <a:schemeClr val="accent1"/>
                </a:solidFill>
              </a:rPr>
              <a:t>The branching </a:t>
            </a:r>
            <a:r>
              <a:rPr lang="it-IT" sz="1400" b="1" dirty="0" err="1">
                <a:solidFill>
                  <a:schemeClr val="accent1"/>
                </a:solidFill>
              </a:rPr>
              <a:t>ratios</a:t>
            </a:r>
            <a:r>
              <a:rPr lang="it-IT" sz="1400" b="1" dirty="0">
                <a:solidFill>
                  <a:schemeClr val="accent1"/>
                </a:solidFill>
              </a:rPr>
              <a:t> are relative to the Sun </a:t>
            </a:r>
            <a:r>
              <a:rPr lang="it-IT" sz="1400" b="1" dirty="0" err="1">
                <a:solidFill>
                  <a:schemeClr val="accent1"/>
                </a:solidFill>
              </a:rPr>
              <a:t>at</a:t>
            </a:r>
            <a:r>
              <a:rPr lang="it-IT" sz="1400" b="1" dirty="0">
                <a:solidFill>
                  <a:schemeClr val="accent1"/>
                </a:solidFill>
              </a:rPr>
              <a:t> </a:t>
            </a:r>
            <a:r>
              <a:rPr lang="it-IT" sz="1400" b="1" dirty="0" err="1">
                <a:solidFill>
                  <a:schemeClr val="accent1"/>
                </a:solidFill>
              </a:rPr>
              <a:t>its</a:t>
            </a:r>
            <a:r>
              <a:rPr lang="it-IT" sz="1400" b="1" dirty="0">
                <a:solidFill>
                  <a:schemeClr val="accent1"/>
                </a:solidFill>
              </a:rPr>
              <a:t> current stage of life</a:t>
            </a:r>
          </a:p>
        </p:txBody>
      </p:sp>
      <p:sp>
        <p:nvSpPr>
          <p:cNvPr id="6" name="Titolo 1">
            <a:extLst>
              <a:ext uri="{FF2B5EF4-FFF2-40B4-BE49-F238E27FC236}">
                <a16:creationId xmlns:a16="http://schemas.microsoft.com/office/drawing/2014/main" id="{29A07BAB-DB76-D8D1-012C-407BDD51207D}"/>
              </a:ext>
            </a:extLst>
          </p:cNvPr>
          <p:cNvSpPr txBox="1">
            <a:spLocks/>
          </p:cNvSpPr>
          <p:nvPr/>
        </p:nvSpPr>
        <p:spPr>
          <a:xfrm>
            <a:off x="0" y="0"/>
            <a:ext cx="4822257" cy="539015"/>
          </a:xfrm>
          <a:prstGeom prst="rect">
            <a:avLst/>
          </a:prstGeom>
          <a:solidFill>
            <a:schemeClr val="bg1">
              <a:lumMod val="85000"/>
            </a:schemeClr>
          </a:solidFill>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it-IT" sz="2800" b="1" dirty="0">
                <a:solidFill>
                  <a:schemeClr val="accent1"/>
                </a:solidFill>
              </a:rPr>
              <a:t> Stellar </a:t>
            </a:r>
            <a:r>
              <a:rPr lang="it-IT" sz="2800" b="1" dirty="0" err="1">
                <a:solidFill>
                  <a:schemeClr val="accent1"/>
                </a:solidFill>
              </a:rPr>
              <a:t>evolution</a:t>
            </a:r>
            <a:r>
              <a:rPr lang="it-IT" sz="2800" b="1" dirty="0">
                <a:solidFill>
                  <a:schemeClr val="accent1"/>
                </a:solidFill>
              </a:rPr>
              <a:t> and </a:t>
            </a:r>
            <a:r>
              <a:rPr lang="it-IT" sz="2800" b="1" dirty="0" err="1">
                <a:solidFill>
                  <a:schemeClr val="accent1"/>
                </a:solidFill>
              </a:rPr>
              <a:t>neutrinos</a:t>
            </a:r>
            <a:endParaRPr lang="it-IT" sz="2800" b="1" dirty="0">
              <a:solidFill>
                <a:schemeClr val="accent1"/>
              </a:solidFill>
            </a:endParaRPr>
          </a:p>
        </p:txBody>
      </p:sp>
      <p:sp>
        <p:nvSpPr>
          <p:cNvPr id="12" name="CasellaDiTesto 11">
            <a:extLst>
              <a:ext uri="{FF2B5EF4-FFF2-40B4-BE49-F238E27FC236}">
                <a16:creationId xmlns:a16="http://schemas.microsoft.com/office/drawing/2014/main" id="{C3D8FA08-392C-335C-1E43-26E70CE42E16}"/>
              </a:ext>
            </a:extLst>
          </p:cNvPr>
          <p:cNvSpPr txBox="1"/>
          <p:nvPr/>
        </p:nvSpPr>
        <p:spPr>
          <a:xfrm>
            <a:off x="3357074" y="3796909"/>
            <a:ext cx="3333750" cy="2308324"/>
          </a:xfrm>
          <a:prstGeom prst="rect">
            <a:avLst/>
          </a:prstGeom>
          <a:solidFill>
            <a:schemeClr val="accent4">
              <a:lumMod val="20000"/>
              <a:lumOff val="80000"/>
            </a:schemeClr>
          </a:solidFill>
        </p:spPr>
        <p:txBody>
          <a:bodyPr wrap="square">
            <a:spAutoFit/>
          </a:bodyPr>
          <a:lstStyle/>
          <a:p>
            <a:pPr algn="l"/>
            <a:r>
              <a:rPr lang="en-US" sz="1600" b="0" i="0" u="none" strike="noStrike" baseline="0" dirty="0">
                <a:solidFill>
                  <a:schemeClr val="accent1"/>
                </a:solidFill>
              </a:rPr>
              <a:t>Due to many other physical processes, the energy produced by fusion propagates to the surface of the star, the photosphere. </a:t>
            </a:r>
          </a:p>
          <a:p>
            <a:pPr algn="l"/>
            <a:endParaRPr lang="en-US" sz="1600" dirty="0">
              <a:solidFill>
                <a:schemeClr val="accent1"/>
              </a:solidFill>
            </a:endParaRPr>
          </a:p>
          <a:p>
            <a:pPr algn="l"/>
            <a:r>
              <a:rPr lang="en-US" sz="1600" b="0" i="0" u="none" strike="noStrike" baseline="0" dirty="0">
                <a:solidFill>
                  <a:schemeClr val="accent1"/>
                </a:solidFill>
              </a:rPr>
              <a:t>The diffusion time of photons from the stellar core to the photosphere (taking into account the γ − </a:t>
            </a:r>
            <a:r>
              <a:rPr lang="en-US" sz="1600" b="0" i="1" u="none" strike="noStrike" baseline="0" dirty="0">
                <a:solidFill>
                  <a:schemeClr val="accent1"/>
                </a:solidFill>
              </a:rPr>
              <a:t>p </a:t>
            </a:r>
            <a:r>
              <a:rPr lang="en-US" sz="1600" b="0" i="0" u="none" strike="noStrike" baseline="0" dirty="0">
                <a:solidFill>
                  <a:schemeClr val="accent1"/>
                </a:solidFill>
              </a:rPr>
              <a:t>cross section) is </a:t>
            </a:r>
            <a:r>
              <a:rPr lang="it-IT" sz="1600" b="0" i="0" u="none" strike="noStrike" baseline="0" dirty="0">
                <a:solidFill>
                  <a:schemeClr val="accent1"/>
                </a:solidFill>
              </a:rPr>
              <a:t>10^5–10^6 </a:t>
            </a:r>
            <a:r>
              <a:rPr lang="it-IT" sz="1600" b="0" i="0" u="none" strike="noStrike" baseline="0" dirty="0" err="1">
                <a:solidFill>
                  <a:schemeClr val="accent1"/>
                </a:solidFill>
              </a:rPr>
              <a:t>years</a:t>
            </a:r>
            <a:r>
              <a:rPr lang="it-IT" sz="1600" b="0" i="0" u="none" strike="noStrike" baseline="0" dirty="0">
                <a:solidFill>
                  <a:schemeClr val="accent1"/>
                </a:solidFill>
              </a:rPr>
              <a:t>.</a:t>
            </a:r>
            <a:endParaRPr lang="it-IT" sz="1600" dirty="0">
              <a:solidFill>
                <a:schemeClr val="accent1"/>
              </a:solidFill>
            </a:endParaRPr>
          </a:p>
        </p:txBody>
      </p:sp>
    </p:spTree>
    <p:extLst>
      <p:ext uri="{BB962C8B-B14F-4D97-AF65-F5344CB8AC3E}">
        <p14:creationId xmlns:p14="http://schemas.microsoft.com/office/powerpoint/2010/main" val="8175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E7422712-B712-831A-6B51-2DB162970886}"/>
              </a:ext>
            </a:extLst>
          </p:cNvPr>
          <p:cNvPicPr>
            <a:picLocks noChangeAspect="1"/>
          </p:cNvPicPr>
          <p:nvPr/>
        </p:nvPicPr>
        <p:blipFill>
          <a:blip r:embed="rId2"/>
          <a:stretch>
            <a:fillRect/>
          </a:stretch>
        </p:blipFill>
        <p:spPr>
          <a:xfrm>
            <a:off x="317219" y="539015"/>
            <a:ext cx="5693056" cy="5025156"/>
          </a:xfrm>
          <a:prstGeom prst="rect">
            <a:avLst/>
          </a:prstGeom>
        </p:spPr>
      </p:pic>
      <p:sp>
        <p:nvSpPr>
          <p:cNvPr id="6" name="Titolo 1">
            <a:extLst>
              <a:ext uri="{FF2B5EF4-FFF2-40B4-BE49-F238E27FC236}">
                <a16:creationId xmlns:a16="http://schemas.microsoft.com/office/drawing/2014/main" id="{29A07BAB-DB76-D8D1-012C-407BDD51207D}"/>
              </a:ext>
            </a:extLst>
          </p:cNvPr>
          <p:cNvSpPr txBox="1">
            <a:spLocks/>
          </p:cNvSpPr>
          <p:nvPr/>
        </p:nvSpPr>
        <p:spPr>
          <a:xfrm>
            <a:off x="0" y="0"/>
            <a:ext cx="4822257" cy="539015"/>
          </a:xfrm>
          <a:prstGeom prst="rect">
            <a:avLst/>
          </a:prstGeom>
          <a:solidFill>
            <a:schemeClr val="bg1">
              <a:lumMod val="85000"/>
            </a:schemeClr>
          </a:solidFill>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it-IT" sz="2800" b="1" dirty="0">
                <a:solidFill>
                  <a:schemeClr val="accent1"/>
                </a:solidFill>
              </a:rPr>
              <a:t> Stellar </a:t>
            </a:r>
            <a:r>
              <a:rPr lang="it-IT" sz="2800" b="1" dirty="0" err="1">
                <a:solidFill>
                  <a:schemeClr val="accent1"/>
                </a:solidFill>
              </a:rPr>
              <a:t>evolution</a:t>
            </a:r>
            <a:r>
              <a:rPr lang="it-IT" sz="2800" b="1" dirty="0">
                <a:solidFill>
                  <a:schemeClr val="accent1"/>
                </a:solidFill>
              </a:rPr>
              <a:t> and </a:t>
            </a:r>
            <a:r>
              <a:rPr lang="it-IT" sz="2800" b="1" dirty="0" err="1">
                <a:solidFill>
                  <a:schemeClr val="accent1"/>
                </a:solidFill>
              </a:rPr>
              <a:t>neutrinos</a:t>
            </a:r>
            <a:endParaRPr lang="it-IT" sz="2800" b="1" dirty="0">
              <a:solidFill>
                <a:schemeClr val="accent1"/>
              </a:solidFill>
            </a:endParaRPr>
          </a:p>
        </p:txBody>
      </p:sp>
      <p:sp>
        <p:nvSpPr>
          <p:cNvPr id="11" name="CasellaDiTesto 10">
            <a:extLst>
              <a:ext uri="{FF2B5EF4-FFF2-40B4-BE49-F238E27FC236}">
                <a16:creationId xmlns:a16="http://schemas.microsoft.com/office/drawing/2014/main" id="{E59AA903-612F-47EA-1D03-5790DBF2F94F}"/>
              </a:ext>
            </a:extLst>
          </p:cNvPr>
          <p:cNvSpPr txBox="1"/>
          <p:nvPr/>
        </p:nvSpPr>
        <p:spPr>
          <a:xfrm>
            <a:off x="6010275" y="1235039"/>
            <a:ext cx="5769994" cy="3785652"/>
          </a:xfrm>
          <a:prstGeom prst="rect">
            <a:avLst/>
          </a:prstGeom>
          <a:noFill/>
        </p:spPr>
        <p:txBody>
          <a:bodyPr wrap="square">
            <a:spAutoFit/>
          </a:bodyPr>
          <a:lstStyle/>
          <a:p>
            <a:pPr algn="l"/>
            <a:r>
              <a:rPr lang="it-IT" sz="1600" b="0" i="0" u="none" strike="noStrike" baseline="0" dirty="0" err="1">
                <a:solidFill>
                  <a:schemeClr val="accent1"/>
                </a:solidFill>
              </a:rPr>
              <a:t>Neutrinos</a:t>
            </a:r>
            <a:r>
              <a:rPr lang="it-IT" sz="1600" b="0" i="0" u="none" strike="noStrike" baseline="0" dirty="0">
                <a:solidFill>
                  <a:schemeClr val="accent1"/>
                </a:solidFill>
              </a:rPr>
              <a:t> </a:t>
            </a:r>
            <a:r>
              <a:rPr lang="it-IT" sz="1600" b="0" i="0" u="none" strike="noStrike" baseline="0" dirty="0" err="1">
                <a:solidFill>
                  <a:schemeClr val="accent1"/>
                </a:solidFill>
              </a:rPr>
              <a:t>escape</a:t>
            </a:r>
            <a:r>
              <a:rPr lang="it-IT" sz="1600" dirty="0">
                <a:solidFill>
                  <a:schemeClr val="accent1"/>
                </a:solidFill>
              </a:rPr>
              <a:t> </a:t>
            </a:r>
            <a:r>
              <a:rPr lang="en-US" sz="1600" b="0" i="0" u="none" strike="noStrike" baseline="0" dirty="0">
                <a:solidFill>
                  <a:schemeClr val="accent1"/>
                </a:solidFill>
              </a:rPr>
              <a:t>unimpeded from the stellar material and nuclear burning is needed to replace the huge amount of energy carried away.</a:t>
            </a:r>
          </a:p>
          <a:p>
            <a:pPr algn="l"/>
            <a:endParaRPr lang="en-US" sz="1600" dirty="0">
              <a:solidFill>
                <a:srgbClr val="131413"/>
              </a:solidFill>
            </a:endParaRPr>
          </a:p>
          <a:p>
            <a:pPr marL="285750" indent="-285750" algn="l">
              <a:buFont typeface="Arial" panose="020B0604020202020204" pitchFamily="34" charset="0"/>
              <a:buChar char="•"/>
            </a:pPr>
            <a:r>
              <a:rPr lang="en-US" sz="1600" b="0" i="0" u="none" strike="noStrike" baseline="0" dirty="0">
                <a:solidFill>
                  <a:srgbClr val="131413"/>
                </a:solidFill>
              </a:rPr>
              <a:t> The time scales for the silicon burning last only about tens of days.</a:t>
            </a:r>
          </a:p>
          <a:p>
            <a:pPr marL="285750" indent="-285750" algn="l">
              <a:buFont typeface="Arial" panose="020B0604020202020204" pitchFamily="34" charset="0"/>
              <a:buChar char="•"/>
            </a:pPr>
            <a:endParaRPr lang="en-US" sz="1600" dirty="0">
              <a:solidFill>
                <a:srgbClr val="131413"/>
              </a:solidFill>
            </a:endParaRPr>
          </a:p>
          <a:p>
            <a:pPr marL="285750" indent="-285750" algn="l">
              <a:buFont typeface="Arial" panose="020B0604020202020204" pitchFamily="34" charset="0"/>
              <a:buChar char="•"/>
            </a:pPr>
            <a:r>
              <a:rPr lang="en-US" sz="1600" b="0" i="0" u="none" strike="noStrike" baseline="0" dirty="0">
                <a:solidFill>
                  <a:srgbClr val="131413"/>
                </a:solidFill>
              </a:rPr>
              <a:t>Once the star’s inner region is made primarily of iron, further compression of the core does not ignite nuclear fusion anymore; the star cannot support its outer envelope made of concentric shells thermodynamically</a:t>
            </a:r>
            <a:r>
              <a:rPr lang="en-US" sz="1600" dirty="0">
                <a:solidFill>
                  <a:srgbClr val="131413"/>
                </a:solidFill>
              </a:rPr>
              <a:t>.</a:t>
            </a:r>
          </a:p>
          <a:p>
            <a:pPr marL="285750" indent="-285750" algn="l">
              <a:buFont typeface="Arial" panose="020B0604020202020204" pitchFamily="34" charset="0"/>
              <a:buChar char="•"/>
            </a:pPr>
            <a:endParaRPr lang="en-US" sz="1600" b="0" i="0" u="none" strike="noStrike" baseline="0" dirty="0">
              <a:solidFill>
                <a:srgbClr val="131413"/>
              </a:solidFill>
            </a:endParaRPr>
          </a:p>
          <a:p>
            <a:pPr marL="285750" indent="-285750" algn="l">
              <a:buFont typeface="Arial" panose="020B0604020202020204" pitchFamily="34" charset="0"/>
              <a:buChar char="•"/>
            </a:pPr>
            <a:r>
              <a:rPr lang="en-US" sz="1600" b="0" i="0" u="none" strike="noStrike" baseline="0" dirty="0">
                <a:solidFill>
                  <a:srgbClr val="131413"/>
                </a:solidFill>
              </a:rPr>
              <a:t> The rest of the star, without the support of the radiation, collapses, compressing the star nucleus, </a:t>
            </a:r>
            <a:r>
              <a:rPr lang="it-IT" sz="1600" b="0" i="0" u="none" strike="noStrike" baseline="0" dirty="0" err="1">
                <a:solidFill>
                  <a:srgbClr val="131413"/>
                </a:solidFill>
              </a:rPr>
              <a:t>producing</a:t>
            </a:r>
            <a:r>
              <a:rPr lang="it-IT" sz="1600" b="0" i="0" u="none" strike="noStrike" baseline="0" dirty="0">
                <a:solidFill>
                  <a:srgbClr val="131413"/>
                </a:solidFill>
              </a:rPr>
              <a:t> a </a:t>
            </a:r>
            <a:r>
              <a:rPr lang="it-IT" sz="1600" b="0" i="1" u="none" strike="noStrike" baseline="0" dirty="0">
                <a:solidFill>
                  <a:schemeClr val="accent1"/>
                </a:solidFill>
              </a:rPr>
              <a:t>core-</a:t>
            </a:r>
            <a:r>
              <a:rPr lang="it-IT" sz="1600" b="0" i="1" u="none" strike="noStrike" baseline="0" dirty="0" err="1">
                <a:solidFill>
                  <a:schemeClr val="accent1"/>
                </a:solidFill>
              </a:rPr>
              <a:t>collapse</a:t>
            </a:r>
            <a:r>
              <a:rPr lang="it-IT" sz="1600" b="0" i="1" u="none" strike="noStrike" baseline="0" dirty="0">
                <a:solidFill>
                  <a:schemeClr val="accent1"/>
                </a:solidFill>
              </a:rPr>
              <a:t> supernova</a:t>
            </a:r>
            <a:r>
              <a:rPr lang="it-IT" sz="1600" b="0" i="0" u="none" strike="noStrike" baseline="0" dirty="0">
                <a:solidFill>
                  <a:srgbClr val="131413"/>
                </a:solidFill>
              </a:rPr>
              <a:t>.</a:t>
            </a:r>
            <a:endParaRPr lang="it-IT" sz="1600" dirty="0"/>
          </a:p>
        </p:txBody>
      </p:sp>
    </p:spTree>
    <p:extLst>
      <p:ext uri="{BB962C8B-B14F-4D97-AF65-F5344CB8AC3E}">
        <p14:creationId xmlns:p14="http://schemas.microsoft.com/office/powerpoint/2010/main" val="367964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a:t>
            </a:r>
            <a:r>
              <a:rPr lang="it-IT" sz="2800" b="1" dirty="0" err="1">
                <a:solidFill>
                  <a:schemeClr val="accent1"/>
                </a:solidFill>
              </a:rPr>
              <a:t>Dying</a:t>
            </a:r>
            <a:r>
              <a:rPr lang="it-IT" sz="2800" b="1" dirty="0">
                <a:solidFill>
                  <a:schemeClr val="accent1"/>
                </a:solidFill>
              </a:rPr>
              <a:t> stars</a:t>
            </a:r>
          </a:p>
        </p:txBody>
      </p:sp>
      <p:pic>
        <p:nvPicPr>
          <p:cNvPr id="5" name="Immagine 4" descr="Immagine che contiene testo, schermata, software, Sistema operativo&#10;&#10;Descrizione generata automaticamente">
            <a:extLst>
              <a:ext uri="{FF2B5EF4-FFF2-40B4-BE49-F238E27FC236}">
                <a16:creationId xmlns:a16="http://schemas.microsoft.com/office/drawing/2014/main" id="{52B0054A-74C4-2D54-4F72-EAD101F62D0A}"/>
              </a:ext>
            </a:extLst>
          </p:cNvPr>
          <p:cNvPicPr>
            <a:picLocks noChangeAspect="1"/>
          </p:cNvPicPr>
          <p:nvPr/>
        </p:nvPicPr>
        <p:blipFill rotWithShape="1">
          <a:blip r:embed="rId2">
            <a:extLst>
              <a:ext uri="{28A0092B-C50C-407E-A947-70E740481C1C}">
                <a14:useLocalDpi xmlns:a14="http://schemas.microsoft.com/office/drawing/2010/main" val="0"/>
              </a:ext>
            </a:extLst>
          </a:blip>
          <a:srcRect t="12585" b="14722"/>
          <a:stretch/>
        </p:blipFill>
        <p:spPr>
          <a:xfrm>
            <a:off x="6243636" y="872777"/>
            <a:ext cx="5870824" cy="4331733"/>
          </a:xfrm>
          <a:prstGeom prst="rect">
            <a:avLst/>
          </a:prstGeom>
        </p:spPr>
      </p:pic>
      <p:sp>
        <p:nvSpPr>
          <p:cNvPr id="7" name="CasellaDiTesto 6">
            <a:extLst>
              <a:ext uri="{FF2B5EF4-FFF2-40B4-BE49-F238E27FC236}">
                <a16:creationId xmlns:a16="http://schemas.microsoft.com/office/drawing/2014/main" id="{A7BE80E9-187C-AB44-6499-5EB7B40E764B}"/>
              </a:ext>
            </a:extLst>
          </p:cNvPr>
          <p:cNvSpPr txBox="1"/>
          <p:nvPr/>
        </p:nvSpPr>
        <p:spPr>
          <a:xfrm>
            <a:off x="95250" y="872777"/>
            <a:ext cx="6148386" cy="4616648"/>
          </a:xfrm>
          <a:prstGeom prst="rect">
            <a:avLst/>
          </a:prstGeom>
          <a:noFill/>
        </p:spPr>
        <p:txBody>
          <a:bodyPr wrap="square">
            <a:spAutoFit/>
          </a:bodyPr>
          <a:lstStyle/>
          <a:p>
            <a:r>
              <a:rPr lang="en-US" sz="1400" dirty="0">
                <a:latin typeface="Neue Haas Grotesk Text Pro" panose="020B0504020202020204" pitchFamily="34" charset="0"/>
              </a:rPr>
              <a:t>A systematic study of supernovae was started around 1930 with newly developed telescopes, which allowed photographing a large area of the sky. </a:t>
            </a:r>
          </a:p>
          <a:p>
            <a:endParaRPr lang="en-US" sz="1400" dirty="0">
              <a:latin typeface="Neue Haas Grotesk Text Pro" panose="020B0504020202020204" pitchFamily="34" charset="0"/>
            </a:endParaRPr>
          </a:p>
          <a:p>
            <a:pPr marL="285750" indent="-285750">
              <a:buFont typeface="Arial" panose="020B0604020202020204" pitchFamily="34" charset="0"/>
              <a:buChar char="•"/>
            </a:pPr>
            <a:r>
              <a:rPr lang="en-US" sz="1400" dirty="0">
                <a:latin typeface="Neue Haas Grotesk Text Pro" panose="020B0504020202020204" pitchFamily="34" charset="0"/>
              </a:rPr>
              <a:t>Since then astronomers have discovered between 10 and 30 SN each year, and for most of them they measured the spectrum and the light curve, i.e., the optical luminosity as a function of time.</a:t>
            </a:r>
          </a:p>
          <a:p>
            <a:pPr marL="285750" indent="-285750">
              <a:buFont typeface="Arial" panose="020B0604020202020204" pitchFamily="34" charset="0"/>
              <a:buChar char="•"/>
            </a:pPr>
            <a:endParaRPr lang="en-US" sz="1400" dirty="0">
              <a:latin typeface="Neue Haas Grotesk Text Pro" panose="020B0504020202020204" pitchFamily="34" charset="0"/>
            </a:endParaRPr>
          </a:p>
          <a:p>
            <a:pPr marL="285750" indent="-285750">
              <a:buFont typeface="Arial" panose="020B0604020202020204" pitchFamily="34" charset="0"/>
              <a:buChar char="•"/>
            </a:pPr>
            <a:r>
              <a:rPr lang="en-US" sz="1400" dirty="0">
                <a:latin typeface="Neue Haas Grotesk Text Pro" panose="020B0504020202020204" pitchFamily="34" charset="0"/>
              </a:rPr>
              <a:t>Connected with the possibility of measuring the spectra of the discovered </a:t>
            </a:r>
            <a:r>
              <a:rPr lang="en-US" sz="1400" dirty="0" err="1">
                <a:latin typeface="Neue Haas Grotesk Text Pro" panose="020B0504020202020204" pitchFamily="34" charset="0"/>
              </a:rPr>
              <a:t>SNe</a:t>
            </a:r>
            <a:r>
              <a:rPr lang="en-US" sz="1400" dirty="0">
                <a:latin typeface="Neue Haas Grotesk Text Pro" panose="020B0504020202020204" pitchFamily="34" charset="0"/>
              </a:rPr>
              <a:t>, the astronomers found at least two SN topologies:</a:t>
            </a:r>
            <a:br>
              <a:rPr lang="en-US" sz="1400" dirty="0">
                <a:latin typeface="Neue Haas Grotesk Text Pro" panose="020B0504020202020204" pitchFamily="34" charset="0"/>
              </a:rPr>
            </a:br>
            <a:endParaRPr lang="en-US" sz="1400" dirty="0">
              <a:latin typeface="Neue Haas Grotesk Text Pro" panose="020B0504020202020204" pitchFamily="34" charset="0"/>
            </a:endParaRPr>
          </a:p>
          <a:p>
            <a:pPr marL="742950" lvl="1" indent="-285750">
              <a:buFont typeface="Wingdings" panose="05000000000000000000" pitchFamily="2" charset="2"/>
              <a:buChar char="q"/>
            </a:pPr>
            <a:r>
              <a:rPr lang="en-US" sz="1400" dirty="0">
                <a:latin typeface="Neue Haas Grotesk Text Pro" panose="020B0504020202020204" pitchFamily="34" charset="0"/>
              </a:rPr>
              <a:t> If the spectrum </a:t>
            </a:r>
            <a:r>
              <a:rPr lang="en-US" sz="1400" dirty="0">
                <a:solidFill>
                  <a:schemeClr val="accent1"/>
                </a:solidFill>
                <a:latin typeface="Neue Haas Grotesk Text Pro" panose="020B0504020202020204" pitchFamily="34" charset="0"/>
              </a:rPr>
              <a:t>contains lines of hydrogen</a:t>
            </a:r>
            <a:r>
              <a:rPr lang="en-US" sz="1400" dirty="0">
                <a:latin typeface="Neue Haas Grotesk Text Pro" panose="020B0504020202020204" pitchFamily="34" charset="0"/>
              </a:rPr>
              <a:t>, the supernova is classified as </a:t>
            </a:r>
            <a:r>
              <a:rPr lang="en-US" sz="1400" dirty="0">
                <a:solidFill>
                  <a:schemeClr val="accent1"/>
                </a:solidFill>
                <a:latin typeface="Neue Haas Grotesk Text Pro" panose="020B0504020202020204" pitchFamily="34" charset="0"/>
              </a:rPr>
              <a:t>core-collapse SN or Type II. </a:t>
            </a:r>
            <a:r>
              <a:rPr lang="en-US" sz="1400" dirty="0">
                <a:latin typeface="Neue Haas Grotesk Text Pro" panose="020B0504020202020204" pitchFamily="34" charset="0"/>
              </a:rPr>
              <a:t>Their remnants usually have a neutron star or a black hole at their center.</a:t>
            </a:r>
          </a:p>
          <a:p>
            <a:pPr marL="742950" lvl="1" indent="-285750">
              <a:buFont typeface="Wingdings" panose="05000000000000000000" pitchFamily="2" charset="2"/>
              <a:buChar char="q"/>
            </a:pPr>
            <a:endParaRPr lang="en-US" sz="1400" dirty="0">
              <a:latin typeface="Neue Haas Grotesk Text Pro" panose="020B0504020202020204" pitchFamily="34" charset="0"/>
            </a:endParaRPr>
          </a:p>
          <a:p>
            <a:pPr marL="742950" lvl="1" indent="-285750">
              <a:buFont typeface="Wingdings" panose="05000000000000000000" pitchFamily="2" charset="2"/>
              <a:buChar char="q"/>
            </a:pPr>
            <a:r>
              <a:rPr lang="en-US" sz="1400" dirty="0">
                <a:latin typeface="Neue Haas Grotesk Text Pro" panose="020B0504020202020204" pitchFamily="34" charset="0"/>
              </a:rPr>
              <a:t>Supernovae whose spectrum </a:t>
            </a:r>
            <a:r>
              <a:rPr lang="en-US" sz="1400" dirty="0">
                <a:solidFill>
                  <a:schemeClr val="accent1"/>
                </a:solidFill>
                <a:latin typeface="Neue Haas Grotesk Text Pro" panose="020B0504020202020204" pitchFamily="34" charset="0"/>
              </a:rPr>
              <a:t>does not contain hydrogen lines </a:t>
            </a:r>
            <a:r>
              <a:rPr lang="en-US" sz="1400" dirty="0">
                <a:latin typeface="Neue Haas Grotesk Text Pro" panose="020B0504020202020204" pitchFamily="34" charset="0"/>
              </a:rPr>
              <a:t>are classified as </a:t>
            </a:r>
            <a:r>
              <a:rPr lang="en-US" sz="1400" dirty="0">
                <a:solidFill>
                  <a:schemeClr val="accent1"/>
                </a:solidFill>
                <a:latin typeface="Neue Haas Grotesk Text Pro" panose="020B0504020202020204" pitchFamily="34" charset="0"/>
              </a:rPr>
              <a:t>thermonuclear SN or Type I</a:t>
            </a:r>
            <a:r>
              <a:rPr lang="en-US" sz="1400" dirty="0">
                <a:latin typeface="Neue Haas Grotesk Text Pro" panose="020B0504020202020204" pitchFamily="34" charset="0"/>
              </a:rPr>
              <a:t>. </a:t>
            </a:r>
          </a:p>
          <a:p>
            <a:endParaRPr lang="en-US" sz="1400" dirty="0">
              <a:latin typeface="Neue Haas Grotesk Text Pro" panose="020B0504020202020204" pitchFamily="34" charset="0"/>
            </a:endParaRPr>
          </a:p>
          <a:p>
            <a:r>
              <a:rPr lang="en-US" sz="1400" dirty="0">
                <a:solidFill>
                  <a:schemeClr val="accent1"/>
                </a:solidFill>
                <a:latin typeface="Neue Haas Grotesk Text Pro" panose="020B0504020202020204" pitchFamily="34" charset="0"/>
              </a:rPr>
              <a:t>The physical processes of the two SN topologies are completely different.</a:t>
            </a:r>
            <a:endParaRPr lang="it-IT" sz="1400" dirty="0">
              <a:solidFill>
                <a:schemeClr val="accent1"/>
              </a:solidFill>
              <a:latin typeface="Neue Haas Grotesk Text Pro" panose="020B0504020202020204" pitchFamily="34" charset="0"/>
            </a:endParaRPr>
          </a:p>
          <a:p>
            <a:endParaRPr lang="it-IT" sz="1400" dirty="0">
              <a:latin typeface="Neue Haas Grotesk Text Pro" panose="020B0504020202020204" pitchFamily="34" charset="0"/>
            </a:endParaRPr>
          </a:p>
        </p:txBody>
      </p:sp>
      <p:sp>
        <p:nvSpPr>
          <p:cNvPr id="11" name="CasellaDiTesto 10">
            <a:extLst>
              <a:ext uri="{FF2B5EF4-FFF2-40B4-BE49-F238E27FC236}">
                <a16:creationId xmlns:a16="http://schemas.microsoft.com/office/drawing/2014/main" id="{F1773274-AD29-8F7E-4929-559BB8B0DB72}"/>
              </a:ext>
            </a:extLst>
          </p:cNvPr>
          <p:cNvSpPr txBox="1"/>
          <p:nvPr/>
        </p:nvSpPr>
        <p:spPr>
          <a:xfrm>
            <a:off x="6322218" y="5754390"/>
            <a:ext cx="5713660" cy="738664"/>
          </a:xfrm>
          <a:prstGeom prst="rect">
            <a:avLst/>
          </a:prstGeom>
          <a:solidFill>
            <a:schemeClr val="accent4">
              <a:lumMod val="20000"/>
              <a:lumOff val="80000"/>
            </a:schemeClr>
          </a:solidFill>
        </p:spPr>
        <p:txBody>
          <a:bodyPr wrap="square">
            <a:spAutoFit/>
          </a:bodyPr>
          <a:lstStyle/>
          <a:p>
            <a:r>
              <a:rPr lang="en-US" sz="1400" dirty="0">
                <a:solidFill>
                  <a:schemeClr val="accent1"/>
                </a:solidFill>
                <a:latin typeface="Neue Haas Grotesk Text Pro" panose="020B0504020202020204" pitchFamily="34" charset="0"/>
              </a:rPr>
              <a:t>Towards the end of its life, stars like the Sun swells up into a red giant, before losing their outer layers as a planetary nebula and finally shrinking to become a white dwarf.</a:t>
            </a:r>
            <a:endParaRPr lang="it-IT" sz="1400" dirty="0">
              <a:solidFill>
                <a:schemeClr val="accent1"/>
              </a:solidFill>
              <a:latin typeface="Neue Haas Grotesk Text Pro" panose="020B0504020202020204" pitchFamily="34" charset="0"/>
            </a:endParaRPr>
          </a:p>
        </p:txBody>
      </p:sp>
    </p:spTree>
    <p:extLst>
      <p:ext uri="{BB962C8B-B14F-4D97-AF65-F5344CB8AC3E}">
        <p14:creationId xmlns:p14="http://schemas.microsoft.com/office/powerpoint/2010/main" val="2129213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Supernova of </a:t>
            </a:r>
            <a:r>
              <a:rPr lang="it-IT" sz="2800" b="1" dirty="0" err="1">
                <a:solidFill>
                  <a:schemeClr val="accent1"/>
                </a:solidFill>
              </a:rPr>
              <a:t>Type</a:t>
            </a:r>
            <a:r>
              <a:rPr lang="it-IT" sz="2800" b="1" dirty="0">
                <a:solidFill>
                  <a:schemeClr val="accent1"/>
                </a:solidFill>
              </a:rPr>
              <a:t> 1</a:t>
            </a:r>
          </a:p>
        </p:txBody>
      </p:sp>
      <p:sp>
        <p:nvSpPr>
          <p:cNvPr id="4" name="CasellaDiTesto 3">
            <a:extLst>
              <a:ext uri="{FF2B5EF4-FFF2-40B4-BE49-F238E27FC236}">
                <a16:creationId xmlns:a16="http://schemas.microsoft.com/office/drawing/2014/main" id="{7956E8C6-2C31-9E12-D269-1158A06C3B34}"/>
              </a:ext>
            </a:extLst>
          </p:cNvPr>
          <p:cNvSpPr txBox="1"/>
          <p:nvPr/>
        </p:nvSpPr>
        <p:spPr>
          <a:xfrm>
            <a:off x="7028952" y="1572026"/>
            <a:ext cx="4968329" cy="3970318"/>
          </a:xfrm>
          <a:prstGeom prst="rect">
            <a:avLst/>
          </a:prstGeom>
          <a:noFill/>
        </p:spPr>
        <p:txBody>
          <a:bodyPr wrap="square">
            <a:spAutoFit/>
          </a:bodyPr>
          <a:lstStyle/>
          <a:p>
            <a:pPr marL="285750" indent="-285750" algn="l">
              <a:buFont typeface="Arial" panose="020B0604020202020204" pitchFamily="34" charset="0"/>
              <a:buChar char="•"/>
            </a:pPr>
            <a:r>
              <a:rPr lang="en-US" sz="1400" b="0" i="0" u="none" strike="noStrike" baseline="0" dirty="0" err="1">
                <a:solidFill>
                  <a:srgbClr val="131413"/>
                </a:solidFill>
                <a:latin typeface="Neue Haas Grotesk Text Pro" panose="020B0504020202020204" pitchFamily="34" charset="0"/>
              </a:rPr>
              <a:t>S</a:t>
            </a:r>
            <a:r>
              <a:rPr lang="en-US" sz="1400" dirty="0" err="1">
                <a:solidFill>
                  <a:srgbClr val="131413"/>
                </a:solidFill>
                <a:latin typeface="Neue Haas Grotesk Text Pro" panose="020B0504020202020204" pitchFamily="34" charset="0"/>
              </a:rPr>
              <a:t>Ne</a:t>
            </a:r>
            <a:r>
              <a:rPr lang="en-US" sz="1400" dirty="0">
                <a:solidFill>
                  <a:srgbClr val="131413"/>
                </a:solidFill>
                <a:latin typeface="Neue Haas Grotesk Text Pro" panose="020B0504020202020204" pitchFamily="34" charset="0"/>
              </a:rPr>
              <a:t> type </a:t>
            </a:r>
            <a:r>
              <a:rPr lang="en-US" sz="1400" dirty="0" err="1">
                <a:solidFill>
                  <a:srgbClr val="131413"/>
                </a:solidFill>
                <a:latin typeface="Neue Haas Grotesk Text Pro" panose="020B0504020202020204" pitchFamily="34" charset="0"/>
              </a:rPr>
              <a:t>Ia</a:t>
            </a:r>
            <a:r>
              <a:rPr lang="en-US" sz="1400" b="0" i="0" u="none" strike="noStrike" baseline="0" dirty="0">
                <a:solidFill>
                  <a:srgbClr val="131413"/>
                </a:solidFill>
                <a:latin typeface="Neue Haas Grotesk Text Pro" panose="020B0504020202020204" pitchFamily="34" charset="0"/>
              </a:rPr>
              <a:t> are due to the thermonuclear disruption of white dwarfs: </a:t>
            </a:r>
            <a:r>
              <a:rPr lang="en-US" sz="1400" dirty="0">
                <a:solidFill>
                  <a:srgbClr val="131413"/>
                </a:solidFill>
                <a:latin typeface="Neue Haas Grotesk Text Pro" panose="020B0504020202020204" pitchFamily="34" charset="0"/>
              </a:rPr>
              <a:t>a</a:t>
            </a:r>
            <a:r>
              <a:rPr lang="en-US" sz="1400" b="0" i="0" u="none" strike="noStrike" baseline="0" dirty="0">
                <a:solidFill>
                  <a:srgbClr val="131413"/>
                </a:solidFill>
                <a:latin typeface="Neue Haas Grotesk Text Pro" panose="020B0504020202020204" pitchFamily="34" charset="0"/>
              </a:rPr>
              <a:t> WD consists mainly of carbon and oxygen and has a limit mass of 1.44 M</a:t>
            </a:r>
            <a:r>
              <a:rPr lang="en-US" sz="1400" b="0" i="0" u="none" strike="noStrike" baseline="0" dirty="0">
                <a:solidFill>
                  <a:srgbClr val="131413"/>
                </a:solidFill>
                <a:latin typeface="Neue Haas Grotesk Text Pro" panose="020B0504020202020204" pitchFamily="34" charset="0"/>
                <a:ea typeface="Cambria Math" panose="02040503050406030204" pitchFamily="18" charset="0"/>
              </a:rPr>
              <a:t>⨀</a:t>
            </a:r>
            <a:r>
              <a:rPr lang="en-US" sz="1400" b="0" i="0" u="none" strike="noStrike" baseline="0" dirty="0">
                <a:solidFill>
                  <a:srgbClr val="131413"/>
                </a:solidFill>
                <a:latin typeface="Neue Haas Grotesk Text Pro" panose="020B0504020202020204" pitchFamily="34" charset="0"/>
              </a:rPr>
              <a:t>; if it accretes material from a companion star, its mass exceeds the limit mass and the star tends to collapse. </a:t>
            </a:r>
          </a:p>
          <a:p>
            <a:pPr marL="285750" indent="-285750" algn="l">
              <a:buFont typeface="Arial" panose="020B0604020202020204" pitchFamily="34" charset="0"/>
              <a:buChar char="•"/>
            </a:pPr>
            <a:endParaRPr lang="en-US" sz="1400" dirty="0">
              <a:solidFill>
                <a:srgbClr val="131413"/>
              </a:solidFill>
              <a:latin typeface="Neue Haas Grotesk Text Pro" panose="020B0504020202020204" pitchFamily="34" charset="0"/>
            </a:endParaRPr>
          </a:p>
          <a:p>
            <a:pPr marL="285750" indent="-285750" algn="l">
              <a:buFont typeface="Arial" panose="020B0604020202020204" pitchFamily="34" charset="0"/>
              <a:buChar char="•"/>
            </a:pPr>
            <a:r>
              <a:rPr lang="en-US" sz="1400" b="0" i="0" u="none" strike="noStrike" baseline="0" dirty="0">
                <a:solidFill>
                  <a:srgbClr val="131413"/>
                </a:solidFill>
                <a:latin typeface="Neue Haas Grotesk Text Pro" panose="020B0504020202020204" pitchFamily="34" charset="0"/>
              </a:rPr>
              <a:t>Right before the collapse, its nucleus reaches </a:t>
            </a:r>
            <a:r>
              <a:rPr lang="en-US" sz="1400" dirty="0">
                <a:solidFill>
                  <a:srgbClr val="131413"/>
                </a:solidFill>
                <a:latin typeface="Neue Haas Grotesk Text Pro" panose="020B0504020202020204" pitchFamily="34" charset="0"/>
              </a:rPr>
              <a:t>extremely high </a:t>
            </a:r>
            <a:r>
              <a:rPr lang="en-US" sz="1400" b="0" i="0" u="none" strike="noStrike" baseline="0" dirty="0">
                <a:solidFill>
                  <a:srgbClr val="131413"/>
                </a:solidFill>
                <a:latin typeface="Neue Haas Grotesk Text Pro" panose="020B0504020202020204" pitchFamily="34" charset="0"/>
              </a:rPr>
              <a:t>temperatures needed for the carbon fusion:</a:t>
            </a:r>
            <a:r>
              <a:rPr lang="en-US" sz="1400" dirty="0">
                <a:solidFill>
                  <a:srgbClr val="131413"/>
                </a:solidFill>
                <a:latin typeface="Neue Haas Grotesk Text Pro" panose="020B0504020202020204" pitchFamily="34" charset="0"/>
              </a:rPr>
              <a:t> </a:t>
            </a:r>
            <a:r>
              <a:rPr lang="en-US" sz="1400" b="0" i="0" u="none" strike="noStrike" baseline="0" dirty="0">
                <a:solidFill>
                  <a:srgbClr val="131413"/>
                </a:solidFill>
                <a:latin typeface="Neue Haas Grotesk Text Pro" panose="020B0504020202020204" pitchFamily="34" charset="0"/>
              </a:rPr>
              <a:t>carbon (or possibly helium) is ignited under highly degenerate conditions. </a:t>
            </a:r>
            <a:endParaRPr lang="en-US" sz="1400" dirty="0">
              <a:solidFill>
                <a:srgbClr val="131413"/>
              </a:solidFill>
              <a:latin typeface="Neue Haas Grotesk Text Pro" panose="020B0504020202020204" pitchFamily="34" charset="0"/>
            </a:endParaRPr>
          </a:p>
          <a:p>
            <a:pPr marL="285750" indent="-285750" algn="l">
              <a:buFont typeface="Arial" panose="020B0604020202020204" pitchFamily="34" charset="0"/>
              <a:buChar char="•"/>
            </a:pPr>
            <a:endParaRPr lang="en-US" sz="1400" b="0" i="0" u="none" strike="noStrike" baseline="0" dirty="0">
              <a:solidFill>
                <a:srgbClr val="131413"/>
              </a:solidFill>
              <a:latin typeface="Neue Haas Grotesk Text Pro" panose="020B0504020202020204" pitchFamily="34" charset="0"/>
            </a:endParaRPr>
          </a:p>
          <a:p>
            <a:pPr marL="285750" indent="-285750" algn="l">
              <a:buFont typeface="Arial" panose="020B0604020202020204" pitchFamily="34" charset="0"/>
              <a:buChar char="•"/>
            </a:pPr>
            <a:r>
              <a:rPr lang="en-US" sz="1400" b="0" i="0" u="none" strike="noStrike" baseline="0" dirty="0">
                <a:solidFill>
                  <a:srgbClr val="131413"/>
                </a:solidFill>
                <a:latin typeface="Neue Haas Grotesk Text Pro" panose="020B0504020202020204" pitchFamily="34" charset="0"/>
              </a:rPr>
              <a:t>Within a few seconds, a substantial fraction of the matter in the WD undergoes nuclear fusion, releasing enough energy (1−2 ×10^51 erg) to unbind the </a:t>
            </a:r>
            <a:r>
              <a:rPr lang="it-IT" sz="1400" b="0" i="0" u="none" strike="noStrike" baseline="0" dirty="0">
                <a:solidFill>
                  <a:srgbClr val="131413"/>
                </a:solidFill>
                <a:latin typeface="Neue Haas Grotesk Text Pro" panose="020B0504020202020204" pitchFamily="34" charset="0"/>
              </a:rPr>
              <a:t>star in a </a:t>
            </a:r>
            <a:r>
              <a:rPr lang="it-IT" sz="1400" b="0" i="0" u="none" strike="noStrike" baseline="0" dirty="0">
                <a:solidFill>
                  <a:schemeClr val="accent1"/>
                </a:solidFill>
                <a:latin typeface="Neue Haas Grotesk Text Pro" panose="020B0504020202020204" pitchFamily="34" charset="0"/>
              </a:rPr>
              <a:t>supernova </a:t>
            </a:r>
            <a:r>
              <a:rPr lang="it-IT" sz="1400" b="0" i="0" u="none" strike="noStrike" baseline="0" dirty="0" err="1">
                <a:solidFill>
                  <a:schemeClr val="accent1"/>
                </a:solidFill>
                <a:latin typeface="Neue Haas Grotesk Text Pro" panose="020B0504020202020204" pitchFamily="34" charset="0"/>
              </a:rPr>
              <a:t>explosion</a:t>
            </a:r>
            <a:r>
              <a:rPr lang="it-IT" sz="1400" b="0" i="0" u="none" strike="noStrike" baseline="0" dirty="0">
                <a:solidFill>
                  <a:schemeClr val="accent1"/>
                </a:solidFill>
                <a:latin typeface="Neue Haas Grotesk Text Pro" panose="020B0504020202020204" pitchFamily="34" charset="0"/>
              </a:rPr>
              <a:t>.</a:t>
            </a:r>
            <a:endParaRPr lang="it-IT" sz="1400" dirty="0">
              <a:solidFill>
                <a:schemeClr val="accent1"/>
              </a:solidFill>
              <a:latin typeface="Neue Haas Grotesk Text Pro" panose="020B0504020202020204" pitchFamily="34" charset="0"/>
            </a:endParaRPr>
          </a:p>
          <a:p>
            <a:pPr marL="285750" indent="-285750" algn="l">
              <a:buFont typeface="Arial" panose="020B0604020202020204" pitchFamily="34" charset="0"/>
              <a:buChar char="•"/>
            </a:pPr>
            <a:endParaRPr lang="it-IT" sz="1400" b="0" i="0" u="none" strike="noStrike" baseline="0" dirty="0">
              <a:solidFill>
                <a:schemeClr val="accent1"/>
              </a:solidFill>
              <a:latin typeface="Neue Haas Grotesk Text Pro" panose="020B0504020202020204" pitchFamily="34" charset="0"/>
            </a:endParaRPr>
          </a:p>
          <a:p>
            <a:pPr marL="285750" indent="-285750" algn="l">
              <a:buFont typeface="Arial" panose="020B0604020202020204" pitchFamily="34" charset="0"/>
              <a:buChar char="•"/>
            </a:pPr>
            <a:r>
              <a:rPr lang="en-US" sz="1400" b="0" i="0" u="none" strike="noStrike" baseline="0" dirty="0">
                <a:solidFill>
                  <a:srgbClr val="131413"/>
                </a:solidFill>
                <a:latin typeface="Neue Haas Grotesk Text Pro" panose="020B0504020202020204" pitchFamily="34" charset="0"/>
              </a:rPr>
              <a:t>The end product of this nuclear burn is </a:t>
            </a:r>
            <a:r>
              <a:rPr lang="en-US" sz="1400" dirty="0">
                <a:solidFill>
                  <a:srgbClr val="131413"/>
                </a:solidFill>
                <a:latin typeface="Neue Haas Grotesk Text Pro" panose="020B0504020202020204" pitchFamily="34" charset="0"/>
              </a:rPr>
              <a:t>iron</a:t>
            </a:r>
            <a:r>
              <a:rPr lang="en-US" sz="1400" b="0" i="0" u="none" strike="noStrike" baseline="0" dirty="0">
                <a:solidFill>
                  <a:srgbClr val="131413"/>
                </a:solidFill>
                <a:latin typeface="Neue Haas Grotesk Text Pro" panose="020B0504020202020204" pitchFamily="34" charset="0"/>
              </a:rPr>
              <a:t>, which is very abundant in the optical </a:t>
            </a:r>
            <a:r>
              <a:rPr lang="it-IT" sz="1400" b="0" i="0" u="none" strike="noStrike" baseline="0" dirty="0" err="1">
                <a:solidFill>
                  <a:srgbClr val="131413"/>
                </a:solidFill>
                <a:latin typeface="Neue Haas Grotesk Text Pro" panose="020B0504020202020204" pitchFamily="34" charset="0"/>
              </a:rPr>
              <a:t>spectrum</a:t>
            </a:r>
            <a:r>
              <a:rPr lang="it-IT" sz="1400" b="0" i="0" u="none" strike="noStrike" baseline="0" dirty="0">
                <a:solidFill>
                  <a:srgbClr val="131413"/>
                </a:solidFill>
                <a:latin typeface="Neue Haas Grotesk Text Pro" panose="020B0504020202020204" pitchFamily="34" charset="0"/>
              </a:rPr>
              <a:t> of </a:t>
            </a:r>
            <a:r>
              <a:rPr lang="it-IT" sz="1400" b="0" i="0" u="none" strike="noStrike" baseline="0" dirty="0" err="1">
                <a:solidFill>
                  <a:srgbClr val="131413"/>
                </a:solidFill>
                <a:latin typeface="Neue Haas Grotesk Text Pro" panose="020B0504020202020204" pitchFamily="34" charset="0"/>
              </a:rPr>
              <a:t>Type</a:t>
            </a:r>
            <a:r>
              <a:rPr lang="it-IT" sz="1400" b="0" i="0" u="none" strike="noStrike" baseline="0" dirty="0">
                <a:solidFill>
                  <a:srgbClr val="131413"/>
                </a:solidFill>
                <a:latin typeface="Neue Haas Grotesk Text Pro" panose="020B0504020202020204" pitchFamily="34" charset="0"/>
              </a:rPr>
              <a:t> I </a:t>
            </a:r>
            <a:r>
              <a:rPr lang="it-IT" sz="1400" b="0" i="0" u="none" strike="noStrike" baseline="0" dirty="0" err="1">
                <a:solidFill>
                  <a:srgbClr val="131413"/>
                </a:solidFill>
                <a:latin typeface="Neue Haas Grotesk Text Pro" panose="020B0504020202020204" pitchFamily="34" charset="0"/>
              </a:rPr>
              <a:t>SNe</a:t>
            </a:r>
            <a:r>
              <a:rPr lang="it-IT" sz="1400" b="0" i="0" u="none" strike="noStrike" baseline="0" dirty="0">
                <a:solidFill>
                  <a:srgbClr val="131413"/>
                </a:solidFill>
                <a:latin typeface="Neue Haas Grotesk Text Pro" panose="020B0504020202020204" pitchFamily="34" charset="0"/>
              </a:rPr>
              <a:t>.</a:t>
            </a:r>
            <a:endParaRPr lang="it-IT" sz="1400" dirty="0">
              <a:latin typeface="Neue Haas Grotesk Text Pro" panose="020B0504020202020204" pitchFamily="34" charset="0"/>
            </a:endParaRPr>
          </a:p>
        </p:txBody>
      </p:sp>
      <p:pic>
        <p:nvPicPr>
          <p:cNvPr id="6" name="Immagine 5" descr="Immagine che contiene testo, schermata, sfera&#10;&#10;Descrizione generata automaticamente">
            <a:extLst>
              <a:ext uri="{FF2B5EF4-FFF2-40B4-BE49-F238E27FC236}">
                <a16:creationId xmlns:a16="http://schemas.microsoft.com/office/drawing/2014/main" id="{BD97B41B-A6B9-ADDF-503C-089A86E571E6}"/>
              </a:ext>
            </a:extLst>
          </p:cNvPr>
          <p:cNvPicPr>
            <a:picLocks noChangeAspect="1"/>
          </p:cNvPicPr>
          <p:nvPr/>
        </p:nvPicPr>
        <p:blipFill rotWithShape="1">
          <a:blip r:embed="rId2">
            <a:extLst>
              <a:ext uri="{28A0092B-C50C-407E-A947-70E740481C1C}">
                <a14:useLocalDpi xmlns:a14="http://schemas.microsoft.com/office/drawing/2010/main" val="0"/>
              </a:ext>
            </a:extLst>
          </a:blip>
          <a:srcRect b="51247"/>
          <a:stretch/>
        </p:blipFill>
        <p:spPr>
          <a:xfrm>
            <a:off x="254288" y="1951268"/>
            <a:ext cx="6774664" cy="3251480"/>
          </a:xfrm>
          <a:prstGeom prst="rect">
            <a:avLst/>
          </a:prstGeom>
        </p:spPr>
      </p:pic>
      <p:sp>
        <p:nvSpPr>
          <p:cNvPr id="7" name="CasellaDiTesto 6">
            <a:extLst>
              <a:ext uri="{FF2B5EF4-FFF2-40B4-BE49-F238E27FC236}">
                <a16:creationId xmlns:a16="http://schemas.microsoft.com/office/drawing/2014/main" id="{20BC2C98-ED29-F7DA-BB8C-A4974D6ECC19}"/>
              </a:ext>
            </a:extLst>
          </p:cNvPr>
          <p:cNvSpPr txBox="1"/>
          <p:nvPr/>
        </p:nvSpPr>
        <p:spPr>
          <a:xfrm>
            <a:off x="340519" y="702488"/>
            <a:ext cx="11510961" cy="738664"/>
          </a:xfrm>
          <a:prstGeom prst="rect">
            <a:avLst/>
          </a:prstGeom>
          <a:noFill/>
        </p:spPr>
        <p:txBody>
          <a:bodyPr wrap="square" rtlCol="0">
            <a:spAutoFit/>
          </a:bodyPr>
          <a:lstStyle/>
          <a:p>
            <a:pPr algn="l"/>
            <a:r>
              <a:rPr lang="en-US" sz="1400" b="1" i="0" u="none" strike="noStrike" baseline="0" dirty="0">
                <a:solidFill>
                  <a:srgbClr val="131413"/>
                </a:solidFill>
                <a:latin typeface="Neue Haas Grotesk Text Pro" panose="020B0504020202020204" pitchFamily="34" charset="0"/>
              </a:rPr>
              <a:t>Type I supernovae </a:t>
            </a:r>
            <a:r>
              <a:rPr lang="en-US" sz="1400" b="0" i="0" u="none" strike="noStrike" baseline="0" dirty="0">
                <a:solidFill>
                  <a:srgbClr val="131413"/>
                </a:solidFill>
                <a:latin typeface="Neue Haas Grotesk Text Pro" panose="020B0504020202020204" pitchFamily="34" charset="0"/>
              </a:rPr>
              <a:t>play a fundamental role in cosmology</a:t>
            </a:r>
            <a:r>
              <a:rPr lang="en-US" sz="1400" dirty="0">
                <a:solidFill>
                  <a:srgbClr val="131413"/>
                </a:solidFill>
                <a:latin typeface="Neue Haas Grotesk Text Pro" panose="020B0504020202020204" pitchFamily="34" charset="0"/>
              </a:rPr>
              <a:t>:</a:t>
            </a:r>
            <a:r>
              <a:rPr lang="en-US" sz="1400" b="0" i="0" u="none" strike="noStrike" baseline="0" dirty="0">
                <a:solidFill>
                  <a:srgbClr val="131413"/>
                </a:solidFill>
                <a:latin typeface="Neue Haas Grotesk Text Pro" panose="020B0504020202020204" pitchFamily="34" charset="0"/>
              </a:rPr>
              <a:t> about 80% of Type I </a:t>
            </a:r>
            <a:r>
              <a:rPr lang="en-US" sz="1400" b="0" i="0" u="none" strike="noStrike" baseline="0" dirty="0" err="1">
                <a:solidFill>
                  <a:srgbClr val="131413"/>
                </a:solidFill>
                <a:latin typeface="Neue Haas Grotesk Text Pro" panose="020B0504020202020204" pitchFamily="34" charset="0"/>
              </a:rPr>
              <a:t>SNe</a:t>
            </a:r>
            <a:r>
              <a:rPr lang="en-US" sz="1400" b="0" i="0" u="none" strike="noStrike" baseline="0" dirty="0">
                <a:solidFill>
                  <a:srgbClr val="131413"/>
                </a:solidFill>
                <a:latin typeface="Neue Haas Grotesk Text Pro" panose="020B0504020202020204" pitchFamily="34" charset="0"/>
              </a:rPr>
              <a:t> (designated as Type </a:t>
            </a:r>
            <a:r>
              <a:rPr lang="en-US" sz="1400" b="0" i="0" u="none" strike="noStrike" baseline="0" dirty="0" err="1">
                <a:solidFill>
                  <a:srgbClr val="131413"/>
                </a:solidFill>
                <a:latin typeface="Neue Haas Grotesk Text Pro" panose="020B0504020202020204" pitchFamily="34" charset="0"/>
              </a:rPr>
              <a:t>Ia</a:t>
            </a:r>
            <a:r>
              <a:rPr lang="en-US" sz="1400" b="0" i="0" u="none" strike="noStrike" baseline="0" dirty="0">
                <a:solidFill>
                  <a:srgbClr val="131413"/>
                </a:solidFill>
                <a:latin typeface="Neue Haas Grotesk Text Pro" panose="020B0504020202020204" pitchFamily="34" charset="0"/>
              </a:rPr>
              <a:t>) have a characteristic light curve. The </a:t>
            </a:r>
            <a:r>
              <a:rPr lang="en-US" sz="1400" b="0" i="0" u="none" strike="noStrike" baseline="0" dirty="0" err="1">
                <a:solidFill>
                  <a:srgbClr val="131413"/>
                </a:solidFill>
                <a:latin typeface="Neue Haas Grotesk Text Pro" panose="020B0504020202020204" pitchFamily="34" charset="0"/>
              </a:rPr>
              <a:t>SNe</a:t>
            </a:r>
            <a:r>
              <a:rPr lang="en-US" sz="1400" b="0" i="0" u="none" strike="noStrike" baseline="0" dirty="0">
                <a:solidFill>
                  <a:srgbClr val="131413"/>
                </a:solidFill>
                <a:latin typeface="Neue Haas Grotesk Text Pro" panose="020B0504020202020204" pitchFamily="34" charset="0"/>
              </a:rPr>
              <a:t> of this subset are used as </a:t>
            </a:r>
            <a:r>
              <a:rPr lang="en-US" sz="1400" b="0" i="1" u="none" strike="noStrike" baseline="0" dirty="0">
                <a:solidFill>
                  <a:srgbClr val="131413"/>
                </a:solidFill>
                <a:latin typeface="Neue Haas Grotesk Text Pro" panose="020B0504020202020204" pitchFamily="34" charset="0"/>
              </a:rPr>
              <a:t>standard candles </a:t>
            </a:r>
            <a:r>
              <a:rPr lang="en-US" sz="1400" b="0" i="0" u="none" strike="noStrike" baseline="0" dirty="0">
                <a:solidFill>
                  <a:srgbClr val="131413"/>
                </a:solidFill>
                <a:latin typeface="Neue Haas Grotesk Text Pro" panose="020B0504020202020204" pitchFamily="34" charset="0"/>
              </a:rPr>
              <a:t>for determining the absolute magnitudes of galaxies, and hence their distance. </a:t>
            </a:r>
          </a:p>
        </p:txBody>
      </p:sp>
    </p:spTree>
    <p:extLst>
      <p:ext uri="{BB962C8B-B14F-4D97-AF65-F5344CB8AC3E}">
        <p14:creationId xmlns:p14="http://schemas.microsoft.com/office/powerpoint/2010/main" val="2243989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Supernova of </a:t>
            </a:r>
            <a:r>
              <a:rPr lang="it-IT" sz="2800" b="1" dirty="0" err="1">
                <a:solidFill>
                  <a:schemeClr val="accent1"/>
                </a:solidFill>
              </a:rPr>
              <a:t>Type</a:t>
            </a:r>
            <a:r>
              <a:rPr lang="it-IT" sz="2800" b="1" dirty="0">
                <a:solidFill>
                  <a:schemeClr val="accent1"/>
                </a:solidFill>
              </a:rPr>
              <a:t> 2</a:t>
            </a:r>
          </a:p>
        </p:txBody>
      </p:sp>
      <p:pic>
        <p:nvPicPr>
          <p:cNvPr id="4" name="Immagine 3">
            <a:extLst>
              <a:ext uri="{FF2B5EF4-FFF2-40B4-BE49-F238E27FC236}">
                <a16:creationId xmlns:a16="http://schemas.microsoft.com/office/drawing/2014/main" id="{35E81247-54F9-1AA3-364C-04F25164BE17}"/>
              </a:ext>
            </a:extLst>
          </p:cNvPr>
          <p:cNvPicPr>
            <a:picLocks noChangeAspect="1"/>
          </p:cNvPicPr>
          <p:nvPr/>
        </p:nvPicPr>
        <p:blipFill rotWithShape="1">
          <a:blip r:embed="rId2">
            <a:extLst>
              <a:ext uri="{28A0092B-C50C-407E-A947-70E740481C1C}">
                <a14:useLocalDpi xmlns:a14="http://schemas.microsoft.com/office/drawing/2010/main" val="0"/>
              </a:ext>
            </a:extLst>
          </a:blip>
          <a:srcRect t="48464" b="4245"/>
          <a:stretch/>
        </p:blipFill>
        <p:spPr>
          <a:xfrm>
            <a:off x="5338219" y="1951268"/>
            <a:ext cx="6815897" cy="3173182"/>
          </a:xfrm>
          <a:prstGeom prst="rect">
            <a:avLst/>
          </a:prstGeom>
        </p:spPr>
      </p:pic>
      <p:sp>
        <p:nvSpPr>
          <p:cNvPr id="6" name="CasellaDiTesto 5">
            <a:extLst>
              <a:ext uri="{FF2B5EF4-FFF2-40B4-BE49-F238E27FC236}">
                <a16:creationId xmlns:a16="http://schemas.microsoft.com/office/drawing/2014/main" id="{CDB22B51-CAD1-C03C-6F7C-B16EF332E47F}"/>
              </a:ext>
            </a:extLst>
          </p:cNvPr>
          <p:cNvSpPr txBox="1"/>
          <p:nvPr/>
        </p:nvSpPr>
        <p:spPr>
          <a:xfrm>
            <a:off x="98237" y="1641236"/>
            <a:ext cx="5245288" cy="4401205"/>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Neue Haas Grotesk Text Pro" panose="020B0504020202020204" pitchFamily="34" charset="0"/>
              </a:rPr>
              <a:t>Once they reach an advanced stage in their life cycle, massive stars do not only fuse helium into carbon but, by their sufficiently high mass, can implement fusion cycles: from carbon, it leads to the production of increasingly heavier elements.</a:t>
            </a:r>
          </a:p>
          <a:p>
            <a:pPr marL="285750" indent="-285750">
              <a:buFont typeface="Arial" panose="020B0604020202020204" pitchFamily="34" charset="0"/>
              <a:buChar char="•"/>
            </a:pPr>
            <a:endParaRPr lang="it-IT" sz="1400" dirty="0">
              <a:latin typeface="Neue Haas Grotesk Text Pro" panose="020B0504020202020204" pitchFamily="34" charset="0"/>
            </a:endParaRPr>
          </a:p>
          <a:p>
            <a:pPr marL="285750" indent="-285750" algn="l">
              <a:buFont typeface="Arial" panose="020B0604020202020204" pitchFamily="34" charset="0"/>
              <a:buChar char="•"/>
            </a:pPr>
            <a:r>
              <a:rPr lang="en-US" sz="1400" dirty="0">
                <a:latin typeface="Neue Haas Grotesk Text Pro" panose="020B0504020202020204" pitchFamily="34" charset="0"/>
              </a:rPr>
              <a:t>The end product of these nucleosynthesis cycles is Fe-56, an iron isotope, which accumulates inert in the nucleus due to the excessive energy expenditure required to fuse it.</a:t>
            </a:r>
            <a:r>
              <a:rPr lang="en-US" sz="1400" dirty="0">
                <a:solidFill>
                  <a:srgbClr val="131413"/>
                </a:solidFill>
                <a:latin typeface="Neue Haas Grotesk Text Pro" panose="020B0504020202020204" pitchFamily="34" charset="0"/>
              </a:rPr>
              <a:t>        </a:t>
            </a:r>
          </a:p>
          <a:p>
            <a:pPr marL="285750" indent="-285750" algn="l">
              <a:buFont typeface="Arial" panose="020B0604020202020204" pitchFamily="34" charset="0"/>
              <a:buChar char="•"/>
            </a:pPr>
            <a:endParaRPr lang="en-US" sz="1400" dirty="0">
              <a:solidFill>
                <a:srgbClr val="131413"/>
              </a:solidFill>
              <a:latin typeface="Neue Haas Grotesk Text Pro" panose="020B0504020202020204" pitchFamily="34" charset="0"/>
            </a:endParaRPr>
          </a:p>
          <a:p>
            <a:pPr marL="285750" indent="-285750" algn="l">
              <a:buFont typeface="Arial" panose="020B0604020202020204" pitchFamily="34" charset="0"/>
              <a:buChar char="•"/>
            </a:pPr>
            <a:r>
              <a:rPr lang="en-US" sz="1400" dirty="0">
                <a:solidFill>
                  <a:schemeClr val="accent1"/>
                </a:solidFill>
                <a:latin typeface="Neue Haas Grotesk Text Pro" panose="020B0504020202020204" pitchFamily="34" charset="0"/>
              </a:rPr>
              <a:t>When the ferrous nucleus reaches and exceeds a limiting mass, called the Chandrasekhar limit and equivalent to 1.44 solar masses, it undergoes an implosion.                                                                                         </a:t>
            </a:r>
            <a:endParaRPr lang="en-US" sz="1400" b="0" i="0" u="none" strike="noStrike" baseline="0" dirty="0">
              <a:solidFill>
                <a:schemeClr val="accent1"/>
              </a:solidFill>
              <a:latin typeface="Neue Haas Grotesk Text Pro" panose="020B0504020202020204" pitchFamily="34" charset="0"/>
            </a:endParaRPr>
          </a:p>
          <a:p>
            <a:pPr marL="285750" indent="-285750" algn="l">
              <a:buFont typeface="Arial" panose="020B0604020202020204" pitchFamily="34" charset="0"/>
              <a:buChar char="•"/>
            </a:pPr>
            <a:endParaRPr lang="en-US" sz="1400" dirty="0">
              <a:solidFill>
                <a:srgbClr val="131413"/>
              </a:solidFill>
              <a:latin typeface="Neue Haas Grotesk Text Pro" panose="020B0504020202020204" pitchFamily="34" charset="0"/>
            </a:endParaRPr>
          </a:p>
          <a:p>
            <a:pPr marL="285750" indent="-285750" algn="l">
              <a:buFont typeface="Arial" panose="020B0604020202020204" pitchFamily="34" charset="0"/>
              <a:buChar char="•"/>
            </a:pPr>
            <a:r>
              <a:rPr lang="en-US" sz="1400" b="0" i="0" u="none" strike="noStrike" baseline="0" dirty="0">
                <a:solidFill>
                  <a:srgbClr val="131413"/>
                </a:solidFill>
                <a:latin typeface="Neue Haas Grotesk Text Pro" panose="020B0504020202020204" pitchFamily="34" charset="0"/>
              </a:rPr>
              <a:t> After collapse, this incompressible core would bounce back the in-falling material. T</a:t>
            </a:r>
            <a:r>
              <a:rPr lang="en-US" sz="1400" dirty="0">
                <a:latin typeface="Neue Haas Grotesk Text Pro" panose="020B0504020202020204" pitchFamily="34" charset="0"/>
              </a:rPr>
              <a:t>his creates a shock wave that causes the outer layers of the star to be violently ejected into surrounding space.</a:t>
            </a:r>
          </a:p>
          <a:p>
            <a:pPr marL="285750" indent="-285750" algn="l">
              <a:buFont typeface="Arial" panose="020B0604020202020204" pitchFamily="34" charset="0"/>
              <a:buChar char="•"/>
            </a:pPr>
            <a:endParaRPr lang="en-US" sz="1400" dirty="0">
              <a:solidFill>
                <a:srgbClr val="131413"/>
              </a:solidFill>
              <a:latin typeface="Neue Haas Grotesk Text Pro" panose="020B0504020202020204" pitchFamily="34" charset="0"/>
            </a:endParaRPr>
          </a:p>
        </p:txBody>
      </p:sp>
      <p:sp>
        <p:nvSpPr>
          <p:cNvPr id="9" name="CasellaDiTesto 8">
            <a:extLst>
              <a:ext uri="{FF2B5EF4-FFF2-40B4-BE49-F238E27FC236}">
                <a16:creationId xmlns:a16="http://schemas.microsoft.com/office/drawing/2014/main" id="{394BF7A2-438C-693E-27F0-64AC29A1643B}"/>
              </a:ext>
            </a:extLst>
          </p:cNvPr>
          <p:cNvSpPr txBox="1"/>
          <p:nvPr/>
        </p:nvSpPr>
        <p:spPr>
          <a:xfrm>
            <a:off x="340519" y="702488"/>
            <a:ext cx="11510961" cy="523220"/>
          </a:xfrm>
          <a:prstGeom prst="rect">
            <a:avLst/>
          </a:prstGeom>
          <a:noFill/>
        </p:spPr>
        <p:txBody>
          <a:bodyPr wrap="square" rtlCol="0">
            <a:spAutoFit/>
          </a:bodyPr>
          <a:lstStyle/>
          <a:p>
            <a:pPr algn="l"/>
            <a:r>
              <a:rPr lang="en-US" sz="1400" b="1" i="0" u="none" strike="noStrike" baseline="0" dirty="0">
                <a:solidFill>
                  <a:srgbClr val="131413"/>
                </a:solidFill>
                <a:latin typeface="Neue Haas Grotesk Text Pro" panose="020B0504020202020204" pitchFamily="34" charset="0"/>
              </a:rPr>
              <a:t>Type II supernovae</a:t>
            </a:r>
            <a:r>
              <a:rPr lang="en-US" sz="1400" dirty="0">
                <a:solidFill>
                  <a:srgbClr val="131413"/>
                </a:solidFill>
                <a:latin typeface="Neue Haas Grotesk Text Pro" panose="020B0504020202020204" pitchFamily="34" charset="0"/>
              </a:rPr>
              <a:t> </a:t>
            </a:r>
            <a:r>
              <a:rPr lang="en-US" sz="1400" dirty="0">
                <a:latin typeface="Neue Haas Grotesk Text Pro" panose="020B0504020202020204" pitchFamily="34" charset="0"/>
              </a:rPr>
              <a:t>(or core-collapse supernova) originate from the internal collapse and subsequent violent explosion of stars with a mass greater than at least 9 times the mass of the Sun</a:t>
            </a:r>
            <a:r>
              <a:rPr lang="en-US" sz="1400" dirty="0">
                <a:solidFill>
                  <a:srgbClr val="131413"/>
                </a:solidFill>
                <a:latin typeface="Neue Haas Grotesk Text Pro" panose="020B0504020202020204" pitchFamily="34" charset="0"/>
              </a:rPr>
              <a:t>.</a:t>
            </a:r>
            <a:r>
              <a:rPr lang="en-US" sz="1400" b="0" i="0" u="none" strike="noStrike" baseline="0" dirty="0">
                <a:solidFill>
                  <a:srgbClr val="131413"/>
                </a:solidFill>
                <a:latin typeface="Neue Haas Grotesk Text Pro" panose="020B0504020202020204" pitchFamily="34" charset="0"/>
              </a:rPr>
              <a:t> </a:t>
            </a:r>
          </a:p>
        </p:txBody>
      </p:sp>
      <p:sp>
        <p:nvSpPr>
          <p:cNvPr id="15" name="CasellaDiTesto 14">
            <a:extLst>
              <a:ext uri="{FF2B5EF4-FFF2-40B4-BE49-F238E27FC236}">
                <a16:creationId xmlns:a16="http://schemas.microsoft.com/office/drawing/2014/main" id="{6187B759-2C85-A765-0A2A-4148D068599B}"/>
              </a:ext>
            </a:extLst>
          </p:cNvPr>
          <p:cNvSpPr txBox="1"/>
          <p:nvPr/>
        </p:nvSpPr>
        <p:spPr>
          <a:xfrm>
            <a:off x="5703094" y="5326790"/>
            <a:ext cx="6148386" cy="523220"/>
          </a:xfrm>
          <a:prstGeom prst="rect">
            <a:avLst/>
          </a:prstGeom>
          <a:solidFill>
            <a:schemeClr val="accent4">
              <a:lumMod val="20000"/>
              <a:lumOff val="80000"/>
            </a:schemeClr>
          </a:solidFill>
        </p:spPr>
        <p:txBody>
          <a:bodyPr wrap="square">
            <a:spAutoFit/>
          </a:bodyPr>
          <a:lstStyle/>
          <a:p>
            <a:r>
              <a:rPr lang="en-US" sz="1400" dirty="0">
                <a:solidFill>
                  <a:schemeClr val="accent1"/>
                </a:solidFill>
                <a:latin typeface="Neue Haas Grotesk Text Pro" panose="020B0504020202020204" pitchFamily="34" charset="0"/>
              </a:rPr>
              <a:t>Since the 1960s, it was generally accepted that the core of a massive star collapses at the end of its lifetime to something like a neutron star.</a:t>
            </a:r>
            <a:endParaRPr lang="it-IT" sz="1400" dirty="0">
              <a:solidFill>
                <a:schemeClr val="accent1"/>
              </a:solidFill>
              <a:latin typeface="Neue Haas Grotesk Text Pro" panose="020B0504020202020204" pitchFamily="34" charset="0"/>
            </a:endParaRPr>
          </a:p>
        </p:txBody>
      </p:sp>
    </p:spTree>
    <p:extLst>
      <p:ext uri="{BB962C8B-B14F-4D97-AF65-F5344CB8AC3E}">
        <p14:creationId xmlns:p14="http://schemas.microsoft.com/office/powerpoint/2010/main" val="1453951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Supernova of </a:t>
            </a:r>
            <a:r>
              <a:rPr lang="it-IT" sz="2800" b="1" dirty="0" err="1">
                <a:solidFill>
                  <a:schemeClr val="accent1"/>
                </a:solidFill>
              </a:rPr>
              <a:t>Type</a:t>
            </a:r>
            <a:r>
              <a:rPr lang="it-IT" sz="2800" b="1" dirty="0">
                <a:solidFill>
                  <a:schemeClr val="accent1"/>
                </a:solidFill>
              </a:rPr>
              <a:t> 2</a:t>
            </a:r>
          </a:p>
        </p:txBody>
      </p:sp>
      <p:sp>
        <p:nvSpPr>
          <p:cNvPr id="5" name="CasellaDiTesto 4">
            <a:extLst>
              <a:ext uri="{FF2B5EF4-FFF2-40B4-BE49-F238E27FC236}">
                <a16:creationId xmlns:a16="http://schemas.microsoft.com/office/drawing/2014/main" id="{2077B52C-AA5D-6F60-0F1F-B15148358F20}"/>
              </a:ext>
            </a:extLst>
          </p:cNvPr>
          <p:cNvSpPr txBox="1"/>
          <p:nvPr/>
        </p:nvSpPr>
        <p:spPr>
          <a:xfrm>
            <a:off x="190500" y="1373763"/>
            <a:ext cx="7264400" cy="2554545"/>
          </a:xfrm>
          <a:prstGeom prst="rect">
            <a:avLst/>
          </a:prstGeom>
          <a:noFill/>
        </p:spPr>
        <p:txBody>
          <a:bodyPr wrap="square">
            <a:spAutoFit/>
          </a:bodyPr>
          <a:lstStyle/>
          <a:p>
            <a:pPr marL="285750" indent="-285750" algn="l">
              <a:buFont typeface="Arial" panose="020B0604020202020204" pitchFamily="34" charset="0"/>
              <a:buChar char="•"/>
            </a:pPr>
            <a:r>
              <a:rPr lang="en-US" sz="1600" b="0" i="0" u="none" strike="noStrike" baseline="0" dirty="0">
                <a:solidFill>
                  <a:srgbClr val="131413"/>
                </a:solidFill>
                <a:latin typeface="Neue Haas Grotesk Text Pro" panose="020B0504020202020204" pitchFamily="34" charset="0"/>
              </a:rPr>
              <a:t>As for Type I SN, the total energy release observable with astronomical tools </a:t>
            </a:r>
            <a:r>
              <a:rPr lang="en-US" sz="1600" dirty="0">
                <a:solidFill>
                  <a:srgbClr val="131413"/>
                </a:solidFill>
                <a:latin typeface="Neue Haas Grotesk Text Pro" panose="020B0504020202020204" pitchFamily="34" charset="0"/>
              </a:rPr>
              <a:t>is </a:t>
            </a:r>
            <a:r>
              <a:rPr lang="en-US" sz="1600" b="0" i="0" u="none" strike="noStrike" baseline="0" dirty="0">
                <a:solidFill>
                  <a:srgbClr val="131413"/>
                </a:solidFill>
                <a:latin typeface="Neue Haas Grotesk Text Pro" panose="020B0504020202020204" pitchFamily="34" charset="0"/>
              </a:rPr>
              <a:t>of the order of 10^51 erg for a SN of </a:t>
            </a:r>
            <a:r>
              <a:rPr lang="it-IT" sz="1600" b="0" i="0" u="none" strike="noStrike" baseline="0" dirty="0">
                <a:solidFill>
                  <a:srgbClr val="131413"/>
                </a:solidFill>
                <a:latin typeface="Neue Haas Grotesk Text Pro" panose="020B0504020202020204" pitchFamily="34" charset="0"/>
              </a:rPr>
              <a:t>10 </a:t>
            </a:r>
            <a:r>
              <a:rPr lang="it-IT" sz="1600" b="0" i="1" u="none" strike="noStrike" baseline="0" dirty="0">
                <a:solidFill>
                  <a:srgbClr val="131413"/>
                </a:solidFill>
                <a:latin typeface="Neue Haas Grotesk Text Pro" panose="020B0504020202020204" pitchFamily="34" charset="0"/>
              </a:rPr>
              <a:t>M</a:t>
            </a:r>
            <a:r>
              <a:rPr lang="it-IT" sz="1600" b="0" i="0" u="none" strike="noStrike" baseline="0" dirty="0">
                <a:solidFill>
                  <a:srgbClr val="131413"/>
                </a:solidFill>
                <a:latin typeface="Neue Haas Grotesk Text Pro" panose="020B0504020202020204" pitchFamily="34" charset="0"/>
              </a:rPr>
              <a:t>⊙ star</a:t>
            </a:r>
            <a:r>
              <a:rPr lang="en-US" sz="1600" dirty="0">
                <a:solidFill>
                  <a:srgbClr val="131413"/>
                </a:solidFill>
                <a:latin typeface="Neue Haas Grotesk Text Pro" panose="020B0504020202020204" pitchFamily="34" charset="0"/>
              </a:rPr>
              <a:t>:</a:t>
            </a:r>
            <a:br>
              <a:rPr lang="en-US" sz="1600" dirty="0">
                <a:solidFill>
                  <a:srgbClr val="131413"/>
                </a:solidFill>
                <a:latin typeface="Neue Haas Grotesk Text Pro" panose="020B0504020202020204" pitchFamily="34" charset="0"/>
              </a:rPr>
            </a:br>
            <a:r>
              <a:rPr lang="en-US" sz="1600" b="0" i="0" u="none" strike="noStrike" baseline="0" dirty="0">
                <a:solidFill>
                  <a:srgbClr val="131413"/>
                </a:solidFill>
                <a:latin typeface="Neue Haas Grotesk Text Pro" panose="020B0504020202020204" pitchFamily="34" charset="0"/>
              </a:rPr>
              <a:t>this quantity represents in Type II </a:t>
            </a:r>
            <a:r>
              <a:rPr lang="en-US" sz="1600" b="0" i="0" u="none" strike="noStrike" baseline="0" dirty="0" err="1">
                <a:solidFill>
                  <a:srgbClr val="131413"/>
                </a:solidFill>
                <a:latin typeface="Neue Haas Grotesk Text Pro" panose="020B0504020202020204" pitchFamily="34" charset="0"/>
              </a:rPr>
              <a:t>S</a:t>
            </a:r>
            <a:r>
              <a:rPr lang="en-US" sz="1600" dirty="0" err="1">
                <a:solidFill>
                  <a:srgbClr val="131413"/>
                </a:solidFill>
                <a:latin typeface="Neue Haas Grotesk Text Pro" panose="020B0504020202020204" pitchFamily="34" charset="0"/>
              </a:rPr>
              <a:t>N</a:t>
            </a:r>
            <a:r>
              <a:rPr lang="en-US" sz="1600" b="0" i="0" u="none" strike="noStrike" baseline="0" dirty="0" err="1">
                <a:solidFill>
                  <a:srgbClr val="131413"/>
                </a:solidFill>
                <a:latin typeface="Neue Haas Grotesk Text Pro" panose="020B0504020202020204" pitchFamily="34" charset="0"/>
              </a:rPr>
              <a:t>e</a:t>
            </a:r>
            <a:r>
              <a:rPr lang="en-US" sz="1600" dirty="0">
                <a:solidFill>
                  <a:srgbClr val="131413"/>
                </a:solidFill>
                <a:latin typeface="Neue Haas Grotesk Text Pro" panose="020B0504020202020204" pitchFamily="34" charset="0"/>
              </a:rPr>
              <a:t> </a:t>
            </a:r>
            <a:r>
              <a:rPr lang="en-US" sz="1600" b="0" i="0" u="none" strike="noStrike" baseline="0" dirty="0">
                <a:solidFill>
                  <a:srgbClr val="131413"/>
                </a:solidFill>
                <a:latin typeface="Neue Haas Grotesk Text Pro" panose="020B0504020202020204" pitchFamily="34" charset="0"/>
              </a:rPr>
              <a:t>only ∼1% of the total estimated energy balance.</a:t>
            </a:r>
          </a:p>
          <a:p>
            <a:pPr marL="285750" indent="-285750" algn="l">
              <a:buFont typeface="Arial" panose="020B0604020202020204" pitchFamily="34" charset="0"/>
              <a:buChar char="•"/>
            </a:pPr>
            <a:endParaRPr lang="en-US" sz="1600" dirty="0">
              <a:solidFill>
                <a:srgbClr val="131413"/>
              </a:solidFill>
              <a:latin typeface="Neue Haas Grotesk Text Pro" panose="020B0504020202020204" pitchFamily="34" charset="0"/>
            </a:endParaRPr>
          </a:p>
          <a:p>
            <a:pPr marL="285750" indent="-285750" algn="l">
              <a:buFont typeface="Arial" panose="020B0604020202020204" pitchFamily="34" charset="0"/>
              <a:buChar char="•"/>
            </a:pPr>
            <a:endParaRPr lang="en-US" sz="1600" b="0" i="0" u="none" strike="noStrike" baseline="0" dirty="0">
              <a:solidFill>
                <a:srgbClr val="131413"/>
              </a:solidFill>
              <a:latin typeface="Neue Haas Grotesk Text Pro" panose="020B0504020202020204" pitchFamily="34" charset="0"/>
            </a:endParaRPr>
          </a:p>
          <a:p>
            <a:pPr marL="285750" indent="-285750" algn="l">
              <a:buFont typeface="Arial" panose="020B0604020202020204" pitchFamily="34" charset="0"/>
              <a:buChar char="•"/>
            </a:pPr>
            <a:r>
              <a:rPr lang="en-US" sz="1600" dirty="0">
                <a:latin typeface="Neue Haas Grotesk Text Pro" panose="020B0504020202020204" pitchFamily="34" charset="0"/>
              </a:rPr>
              <a:t>According to energy conservation, and based on the interaction theory among the constituents of the collapsing star, about 99% of the gravitational energy must be converted into kinetic energy of massless particles different from the photons: </a:t>
            </a:r>
            <a:r>
              <a:rPr lang="en-US" sz="1600" dirty="0">
                <a:solidFill>
                  <a:schemeClr val="accent1"/>
                </a:solidFill>
                <a:latin typeface="Neue Haas Grotesk Text Pro" panose="020B0504020202020204" pitchFamily="34" charset="0"/>
              </a:rPr>
              <a:t>the neutrinos.</a:t>
            </a:r>
          </a:p>
        </p:txBody>
      </p:sp>
      <p:sp>
        <p:nvSpPr>
          <p:cNvPr id="8" name="Freccia in giù 7">
            <a:extLst>
              <a:ext uri="{FF2B5EF4-FFF2-40B4-BE49-F238E27FC236}">
                <a16:creationId xmlns:a16="http://schemas.microsoft.com/office/drawing/2014/main" id="{D9FEA285-0311-16D9-9B6F-2BC861CBB434}"/>
              </a:ext>
            </a:extLst>
          </p:cNvPr>
          <p:cNvSpPr/>
          <p:nvPr/>
        </p:nvSpPr>
        <p:spPr>
          <a:xfrm>
            <a:off x="3536950" y="2259191"/>
            <a:ext cx="571500" cy="5390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CasellaDiTesto 10">
            <a:extLst>
              <a:ext uri="{FF2B5EF4-FFF2-40B4-BE49-F238E27FC236}">
                <a16:creationId xmlns:a16="http://schemas.microsoft.com/office/drawing/2014/main" id="{3422C049-F4A8-8DE8-884F-9F60E0F04D0D}"/>
              </a:ext>
            </a:extLst>
          </p:cNvPr>
          <p:cNvSpPr txBox="1"/>
          <p:nvPr/>
        </p:nvSpPr>
        <p:spPr>
          <a:xfrm>
            <a:off x="390505" y="4767408"/>
            <a:ext cx="11610995" cy="830997"/>
          </a:xfrm>
          <a:prstGeom prst="rect">
            <a:avLst/>
          </a:prstGeom>
          <a:solidFill>
            <a:schemeClr val="accent4">
              <a:lumMod val="20000"/>
              <a:lumOff val="80000"/>
            </a:schemeClr>
          </a:solidFill>
        </p:spPr>
        <p:txBody>
          <a:bodyPr wrap="square">
            <a:spAutoFit/>
          </a:bodyPr>
          <a:lstStyle/>
          <a:p>
            <a:pPr algn="l"/>
            <a:r>
              <a:rPr lang="en-US" sz="1600" dirty="0">
                <a:solidFill>
                  <a:schemeClr val="accent1"/>
                </a:solidFill>
                <a:latin typeface="Neue Haas Grotesk Text Pro" panose="020B0504020202020204" pitchFamily="34" charset="0"/>
              </a:rPr>
              <a:t>The theoretical relationship between neutrinos and supernovae was experimentally confirmed in February 1987, when at least two underground detectors recorded a burst of neutrinos and a spectacular supernova was later observed by astronomers worldwide. That observation was a breakthrough in the long history of supernovae.</a:t>
            </a:r>
            <a:endParaRPr lang="it-IT" sz="1600" dirty="0">
              <a:solidFill>
                <a:schemeClr val="accent1"/>
              </a:solidFill>
              <a:latin typeface="Neue Haas Grotesk Text Pro" panose="020B0504020202020204" pitchFamily="34" charset="0"/>
            </a:endParaRPr>
          </a:p>
        </p:txBody>
      </p:sp>
      <p:pic>
        <p:nvPicPr>
          <p:cNvPr id="12" name="Segnaposto contenuto 4" descr="Immagine che contiene Ambra, spazio, cerchio, Universo">
            <a:extLst>
              <a:ext uri="{FF2B5EF4-FFF2-40B4-BE49-F238E27FC236}">
                <a16:creationId xmlns:a16="http://schemas.microsoft.com/office/drawing/2014/main" id="{BEFDBC97-190F-5835-3619-FD219BB0D6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2622" y="1440459"/>
            <a:ext cx="4488878" cy="2524994"/>
          </a:xfrm>
          <a:prstGeom prst="rect">
            <a:avLst/>
          </a:prstGeom>
        </p:spPr>
      </p:pic>
    </p:spTree>
    <p:extLst>
      <p:ext uri="{BB962C8B-B14F-4D97-AF65-F5344CB8AC3E}">
        <p14:creationId xmlns:p14="http://schemas.microsoft.com/office/powerpoint/2010/main" val="349740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5181600"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CCSN neutrino </a:t>
            </a:r>
            <a:r>
              <a:rPr lang="it-IT" sz="2800" b="1" dirty="0" err="1">
                <a:solidFill>
                  <a:schemeClr val="accent1"/>
                </a:solidFill>
              </a:rPr>
              <a:t>emission</a:t>
            </a:r>
            <a:r>
              <a:rPr lang="it-IT" sz="2800" b="1" dirty="0">
                <a:solidFill>
                  <a:schemeClr val="accent1"/>
                </a:solidFill>
              </a:rPr>
              <a:t> </a:t>
            </a:r>
            <a:r>
              <a:rPr lang="it-IT" sz="2800" b="1" dirty="0" err="1">
                <a:solidFill>
                  <a:schemeClr val="accent1"/>
                </a:solidFill>
              </a:rPr>
              <a:t>phases</a:t>
            </a:r>
            <a:endParaRPr lang="it-IT" sz="2800" b="1" dirty="0">
              <a:solidFill>
                <a:schemeClr val="accent1"/>
              </a:solidFill>
            </a:endParaRPr>
          </a:p>
        </p:txBody>
      </p:sp>
      <p:sp>
        <p:nvSpPr>
          <p:cNvPr id="5" name="CasellaDiTesto 4">
            <a:extLst>
              <a:ext uri="{FF2B5EF4-FFF2-40B4-BE49-F238E27FC236}">
                <a16:creationId xmlns:a16="http://schemas.microsoft.com/office/drawing/2014/main" id="{2077B52C-AA5D-6F60-0F1F-B15148358F20}"/>
              </a:ext>
            </a:extLst>
          </p:cNvPr>
          <p:cNvSpPr txBox="1"/>
          <p:nvPr/>
        </p:nvSpPr>
        <p:spPr>
          <a:xfrm>
            <a:off x="355600" y="539015"/>
            <a:ext cx="8305800" cy="2554545"/>
          </a:xfrm>
          <a:prstGeom prst="rect">
            <a:avLst/>
          </a:prstGeom>
          <a:noFill/>
        </p:spPr>
        <p:txBody>
          <a:bodyPr wrap="square">
            <a:spAutoFit/>
          </a:bodyPr>
          <a:lstStyle/>
          <a:p>
            <a:pPr marL="285750" indent="-285750" algn="l">
              <a:buFont typeface="Arial" panose="020B0604020202020204" pitchFamily="34" charset="0"/>
              <a:buChar char="•"/>
            </a:pPr>
            <a:r>
              <a:rPr lang="en-US" sz="1600" b="0" i="0" u="none" strike="noStrike" baseline="0" dirty="0"/>
              <a:t>The collapse leads to an extremely dense region in the star’s core, called </a:t>
            </a:r>
            <a:r>
              <a:rPr lang="en-US" sz="1600" b="0" i="0" u="none" strike="noStrike" baseline="0" dirty="0">
                <a:solidFill>
                  <a:schemeClr val="accent1"/>
                </a:solidFill>
              </a:rPr>
              <a:t>proto-neutron star (PNS)</a:t>
            </a:r>
            <a:r>
              <a:rPr lang="en-US" sz="1600" b="0" i="0" u="none" strike="noStrike" baseline="0" dirty="0"/>
              <a:t>,</a:t>
            </a:r>
            <a:r>
              <a:rPr lang="en-US" sz="1600" b="0" i="0" u="none" strike="noStrike" baseline="0" dirty="0">
                <a:solidFill>
                  <a:schemeClr val="accent1"/>
                </a:solidFill>
              </a:rPr>
              <a:t> </a:t>
            </a:r>
            <a:r>
              <a:rPr lang="en-US" sz="1600" b="0" i="0" u="none" strike="noStrike" baseline="0" dirty="0"/>
              <a:t>which reaches nuclear densities 𝜌 ∼ 10^14 g.cm−3.</a:t>
            </a:r>
          </a:p>
          <a:p>
            <a:pPr algn="l"/>
            <a:r>
              <a:rPr lang="en-US" sz="1600" b="0" i="0" u="none" strike="noStrike" baseline="0" dirty="0"/>
              <a:t> </a:t>
            </a:r>
          </a:p>
          <a:p>
            <a:pPr marL="285750" indent="-285750" algn="l">
              <a:buFont typeface="Arial" panose="020B0604020202020204" pitchFamily="34" charset="0"/>
              <a:buChar char="•"/>
            </a:pPr>
            <a:r>
              <a:rPr lang="en-US" sz="1600" b="0" i="0" u="none" strike="noStrike" baseline="0" dirty="0"/>
              <a:t>The bounce of the collapsing matter on this dense and hard region creates a shock wave. From the onset of the shock wave to the cooling of the proto-neutron star after an explosion, colossal amounts of neutrinos are emitted. </a:t>
            </a:r>
          </a:p>
          <a:p>
            <a:pPr marL="285750" indent="-285750" algn="l">
              <a:buFont typeface="Arial" panose="020B0604020202020204" pitchFamily="34" charset="0"/>
              <a:buChar char="•"/>
            </a:pPr>
            <a:endParaRPr lang="en-US" sz="1600" b="0" i="0" u="none" strike="noStrike" baseline="0" dirty="0"/>
          </a:p>
          <a:p>
            <a:pPr marL="285750" indent="-285750" algn="l">
              <a:buFont typeface="Arial" panose="020B0604020202020204" pitchFamily="34" charset="0"/>
              <a:buChar char="•"/>
            </a:pPr>
            <a:r>
              <a:rPr lang="en-US" sz="1600" dirty="0"/>
              <a:t>T</a:t>
            </a:r>
            <a:r>
              <a:rPr lang="en-US" sz="1600" b="0" i="0" u="none" strike="noStrike" baseline="0" dirty="0"/>
              <a:t>hese neutrinos are thermal, with their O(10) MeV energies reflecting the extreme temperatures of the collapsing core. Due to the extremely high densities inside the PNS, these neutrinos can be trapped in the deepest regions of the star. </a:t>
            </a:r>
          </a:p>
        </p:txBody>
      </p:sp>
      <p:pic>
        <p:nvPicPr>
          <p:cNvPr id="6" name="Immagine 5" descr="Immagine che contiene testo, cerchio, diagramma, schermata&#10;&#10;Descrizione generata automaticamente">
            <a:extLst>
              <a:ext uri="{FF2B5EF4-FFF2-40B4-BE49-F238E27FC236}">
                <a16:creationId xmlns:a16="http://schemas.microsoft.com/office/drawing/2014/main" id="{244026E3-F099-6726-343C-D5F4FD065FC7}"/>
              </a:ext>
            </a:extLst>
          </p:cNvPr>
          <p:cNvPicPr>
            <a:picLocks noChangeAspect="1"/>
          </p:cNvPicPr>
          <p:nvPr/>
        </p:nvPicPr>
        <p:blipFill rotWithShape="1">
          <a:blip r:embed="rId2">
            <a:extLst>
              <a:ext uri="{28A0092B-C50C-407E-A947-70E740481C1C}">
                <a14:useLocalDpi xmlns:a14="http://schemas.microsoft.com/office/drawing/2010/main" val="0"/>
              </a:ext>
            </a:extLst>
          </a:blip>
          <a:srcRect t="10834"/>
          <a:stretch/>
        </p:blipFill>
        <p:spPr>
          <a:xfrm>
            <a:off x="8562243" y="539015"/>
            <a:ext cx="3012380" cy="3542457"/>
          </a:xfrm>
          <a:prstGeom prst="rect">
            <a:avLst/>
          </a:prstGeom>
        </p:spPr>
      </p:pic>
      <p:pic>
        <p:nvPicPr>
          <p:cNvPr id="7" name="Immagine 6" descr="Immagine che contiene linea, testo, diagramma, Diagramma&#10;&#10;Descrizione generata automaticamente">
            <a:extLst>
              <a:ext uri="{FF2B5EF4-FFF2-40B4-BE49-F238E27FC236}">
                <a16:creationId xmlns:a16="http://schemas.microsoft.com/office/drawing/2014/main" id="{4C1B0475-C263-3461-DAFF-00F0F69792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7420" y="4472816"/>
            <a:ext cx="6553200" cy="1955207"/>
          </a:xfrm>
          <a:prstGeom prst="rect">
            <a:avLst/>
          </a:prstGeom>
        </p:spPr>
      </p:pic>
      <p:sp>
        <p:nvSpPr>
          <p:cNvPr id="10" name="CasellaDiTesto 9">
            <a:extLst>
              <a:ext uri="{FF2B5EF4-FFF2-40B4-BE49-F238E27FC236}">
                <a16:creationId xmlns:a16="http://schemas.microsoft.com/office/drawing/2014/main" id="{ECAD601B-303A-C50E-B185-8E418BA594C4}"/>
              </a:ext>
            </a:extLst>
          </p:cNvPr>
          <p:cNvSpPr txBox="1"/>
          <p:nvPr/>
        </p:nvSpPr>
        <p:spPr>
          <a:xfrm>
            <a:off x="355600" y="3842700"/>
            <a:ext cx="5191820" cy="2062103"/>
          </a:xfrm>
          <a:prstGeom prst="rect">
            <a:avLst/>
          </a:prstGeom>
          <a:solidFill>
            <a:schemeClr val="accent4">
              <a:lumMod val="20000"/>
              <a:lumOff val="80000"/>
            </a:schemeClr>
          </a:solidFill>
        </p:spPr>
        <p:txBody>
          <a:bodyPr wrap="square">
            <a:spAutoFit/>
          </a:bodyPr>
          <a:lstStyle/>
          <a:p>
            <a:pPr marL="285750" indent="-285750" algn="l">
              <a:buFont typeface="Arial" panose="020B0604020202020204" pitchFamily="34" charset="0"/>
              <a:buChar char="•"/>
            </a:pPr>
            <a:r>
              <a:rPr lang="en-US" sz="1600" b="0" i="0" u="none" strike="noStrike" baseline="0" dirty="0"/>
              <a:t>The surfaces corresponding to neutrino free-streaming regions are called the </a:t>
            </a:r>
            <a:r>
              <a:rPr lang="en-US" sz="1600" b="0" i="0" u="none" strike="noStrike" baseline="0" dirty="0" err="1">
                <a:solidFill>
                  <a:schemeClr val="accent1"/>
                </a:solidFill>
              </a:rPr>
              <a:t>neutrinospheres</a:t>
            </a:r>
            <a:r>
              <a:rPr lang="en-US" sz="1600" b="0" i="0" u="none" strike="noStrike" baseline="0" dirty="0"/>
              <a:t> and depend on the interaction cross-sections of </a:t>
            </a:r>
            <a:r>
              <a:rPr lang="it-IT" sz="1600" b="0" i="0" u="none" strike="noStrike" baseline="0" dirty="0"/>
              <a:t>the </a:t>
            </a:r>
            <a:r>
              <a:rPr lang="it-IT" sz="1600" b="0" i="0" u="none" strike="noStrike" baseline="0" dirty="0" err="1"/>
              <a:t>different</a:t>
            </a:r>
            <a:r>
              <a:rPr lang="it-IT" sz="1600" b="0" i="0" u="none" strike="noStrike" baseline="0" dirty="0"/>
              <a:t> neutrino </a:t>
            </a:r>
            <a:r>
              <a:rPr lang="it-IT" sz="1600" b="0" i="0" u="none" strike="noStrike" baseline="0" dirty="0" err="1"/>
              <a:t>flavours</a:t>
            </a:r>
            <a:r>
              <a:rPr lang="it-IT" sz="1600" b="0" i="0" u="none" strike="noStrike" baseline="0" dirty="0"/>
              <a:t>.</a:t>
            </a:r>
          </a:p>
          <a:p>
            <a:pPr marL="285750" indent="-285750" algn="l">
              <a:buFont typeface="Arial" panose="020B0604020202020204" pitchFamily="34" charset="0"/>
              <a:buChar char="•"/>
            </a:pPr>
            <a:endParaRPr lang="it-IT" sz="1600" b="0" i="0" u="none" strike="noStrike" baseline="0" dirty="0"/>
          </a:p>
          <a:p>
            <a:pPr algn="l"/>
            <a:r>
              <a:rPr lang="en-US" sz="1600" b="0" i="0" u="none" strike="noStrike" baseline="0" dirty="0"/>
              <a:t>During a CCSN, three phases of neutrino emission, corresponding to specific stages of the supernova process, can be identified</a:t>
            </a:r>
            <a:r>
              <a:rPr lang="en-US" sz="1600" b="0" i="0" u="none" strike="noStrike" baseline="0" dirty="0">
                <a:solidFill>
                  <a:schemeClr val="accent1"/>
                </a:solidFill>
              </a:rPr>
              <a:t>: burst, accretion and cooling phase</a:t>
            </a:r>
            <a:endParaRPr lang="en-US" sz="1600" dirty="0">
              <a:solidFill>
                <a:schemeClr val="accent1"/>
              </a:solidFill>
            </a:endParaRPr>
          </a:p>
        </p:txBody>
      </p:sp>
    </p:spTree>
    <p:extLst>
      <p:ext uri="{BB962C8B-B14F-4D97-AF65-F5344CB8AC3E}">
        <p14:creationId xmlns:p14="http://schemas.microsoft.com/office/powerpoint/2010/main" val="3829427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7891272"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a:t>
                </a:r>
                <a:r>
                  <a:rPr lang="it-IT" sz="2800" b="1" dirty="0" err="1">
                    <a:solidFill>
                      <a:schemeClr val="accent1"/>
                    </a:solidFill>
                  </a:rPr>
                  <a:t>Neutronization</a:t>
                </a:r>
                <a:r>
                  <a:rPr lang="it-IT" sz="2800" b="1" dirty="0">
                    <a:solidFill>
                      <a:schemeClr val="accent1"/>
                    </a:solidFill>
                  </a:rPr>
                  <a:t> burst: intense </a:t>
                </a:r>
                <a14:m>
                  <m:oMath xmlns:m="http://schemas.openxmlformats.org/officeDocument/2006/math">
                    <m:sSub>
                      <m:sSubPr>
                        <m:ctrlPr>
                          <a:rPr lang="it-IT" sz="2800" b="1" i="1" smtClean="0">
                            <a:solidFill>
                              <a:schemeClr val="accent1"/>
                            </a:solidFill>
                            <a:latin typeface="Cambria Math" panose="02040503050406030204" pitchFamily="18" charset="0"/>
                          </a:rPr>
                        </m:ctrlPr>
                      </m:sSubPr>
                      <m:e>
                        <m:r>
                          <a:rPr lang="it-IT" sz="2800" b="1" i="1">
                            <a:solidFill>
                              <a:schemeClr val="accent1"/>
                            </a:solidFill>
                            <a:latin typeface="Cambria Math" panose="02040503050406030204" pitchFamily="18" charset="0"/>
                          </a:rPr>
                          <m:t>𝝂</m:t>
                        </m:r>
                      </m:e>
                      <m:sub>
                        <m:r>
                          <a:rPr lang="it-IT" sz="2800" b="1" i="1">
                            <a:solidFill>
                              <a:schemeClr val="accent1"/>
                            </a:solidFill>
                            <a:latin typeface="Cambria Math" panose="02040503050406030204" pitchFamily="18" charset="0"/>
                          </a:rPr>
                          <m:t>𝒆</m:t>
                        </m:r>
                      </m:sub>
                    </m:sSub>
                  </m:oMath>
                </a14:m>
                <a:r>
                  <a:rPr lang="it-IT" sz="2800" b="1" dirty="0">
                    <a:solidFill>
                      <a:schemeClr val="accent1"/>
                    </a:solidFill>
                  </a:rPr>
                  <a:t> </a:t>
                </a:r>
                <a:r>
                  <a:rPr lang="it-IT" sz="2800" b="1" dirty="0" err="1">
                    <a:solidFill>
                      <a:schemeClr val="accent1"/>
                    </a:solidFill>
                  </a:rPr>
                  <a:t>emission</a:t>
                </a:r>
                <a:r>
                  <a:rPr lang="it-IT" sz="2800" b="1" dirty="0">
                    <a:solidFill>
                      <a:schemeClr val="accent1"/>
                    </a:solidFill>
                  </a:rPr>
                  <a:t> </a:t>
                </a:r>
                <a:r>
                  <a:rPr lang="el-GR" sz="2800" b="1" dirty="0">
                    <a:solidFill>
                      <a:schemeClr val="accent1"/>
                    </a:solidFill>
                  </a:rPr>
                  <a:t>Δ</a:t>
                </a:r>
                <a:r>
                  <a:rPr lang="it-IT" sz="2800" b="1" dirty="0">
                    <a:solidFill>
                      <a:schemeClr val="accent1"/>
                    </a:solidFill>
                  </a:rPr>
                  <a:t>T    ̴ O(10ms) </a:t>
                </a:r>
              </a:p>
            </p:txBody>
          </p:sp>
        </mc:Choice>
        <mc:Fallback xmlns="">
          <p:sp>
            <p:nvSpPr>
              <p:cNvPr id="2" name="Titolo 1">
                <a:extLst>
                  <a:ext uri="{FF2B5EF4-FFF2-40B4-BE49-F238E27FC236}">
                    <a16:creationId xmlns:a16="http://schemas.microsoft.com/office/drawing/2014/main" id="{D0D46532-E917-ADD5-FCDB-DD78764FC2A9}"/>
                  </a:ext>
                </a:extLst>
              </p:cNvPr>
              <p:cNvSpPr>
                <a:spLocks noGrp="1" noRot="1" noChangeAspect="1" noMove="1" noResize="1" noEditPoints="1" noAdjustHandles="1" noChangeArrowheads="1" noChangeShapeType="1" noTextEdit="1"/>
              </p:cNvSpPr>
              <p:nvPr>
                <p:ph type="title"/>
              </p:nvPr>
            </p:nvSpPr>
            <p:spPr>
              <a:xfrm>
                <a:off x="0" y="0"/>
                <a:ext cx="7891272" cy="539015"/>
              </a:xfrm>
              <a:blipFill>
                <a:blip r:embed="rId2"/>
                <a:stretch>
                  <a:fillRect l="-1081" t="-5682" r="-541" b="-19318"/>
                </a:stretch>
              </a:blipFill>
            </p:spPr>
            <p:txBody>
              <a:bodyPr/>
              <a:lstStyle/>
              <a:p>
                <a:r>
                  <a:rPr lang="it-IT">
                    <a:noFill/>
                  </a:rPr>
                  <a:t> </a:t>
                </a:r>
              </a:p>
            </p:txBody>
          </p:sp>
        </mc:Fallback>
      </mc:AlternateContent>
      <p:pic>
        <p:nvPicPr>
          <p:cNvPr id="3" name="Immagine 2" descr="Immagine che contiene linea, testo, diagramma, Diagramma&#10;&#10;Descrizione generata automaticamente">
            <a:extLst>
              <a:ext uri="{FF2B5EF4-FFF2-40B4-BE49-F238E27FC236}">
                <a16:creationId xmlns:a16="http://schemas.microsoft.com/office/drawing/2014/main" id="{2F8E05E3-2E8F-9116-CFF0-8D6110A4C922}"/>
              </a:ext>
            </a:extLst>
          </p:cNvPr>
          <p:cNvPicPr>
            <a:picLocks noChangeAspect="1"/>
          </p:cNvPicPr>
          <p:nvPr/>
        </p:nvPicPr>
        <p:blipFill rotWithShape="1">
          <a:blip r:embed="rId3">
            <a:extLst>
              <a:ext uri="{28A0092B-C50C-407E-A947-70E740481C1C}">
                <a14:useLocalDpi xmlns:a14="http://schemas.microsoft.com/office/drawing/2010/main" val="0"/>
              </a:ext>
            </a:extLst>
          </a:blip>
          <a:srcRect r="63902"/>
          <a:stretch/>
        </p:blipFill>
        <p:spPr>
          <a:xfrm>
            <a:off x="7010401" y="539015"/>
            <a:ext cx="5040000" cy="4165704"/>
          </a:xfrm>
          <a:prstGeom prst="rect">
            <a:avLst/>
          </a:prstGeom>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53619A88-679E-AEB5-69FE-60A5CA82812D}"/>
                  </a:ext>
                </a:extLst>
              </p:cNvPr>
              <p:cNvSpPr txBox="1"/>
              <p:nvPr/>
            </p:nvSpPr>
            <p:spPr>
              <a:xfrm>
                <a:off x="277249" y="1137176"/>
                <a:ext cx="6566895" cy="3293209"/>
              </a:xfrm>
              <a:prstGeom prst="rect">
                <a:avLst/>
              </a:prstGeom>
              <a:noFill/>
            </p:spPr>
            <p:txBody>
              <a:bodyPr wrap="square" rtlCol="0">
                <a:spAutoFit/>
              </a:bodyPr>
              <a:lstStyle/>
              <a:p>
                <a:pPr marL="285750" indent="-285750">
                  <a:buFont typeface="Arial" panose="020B0604020202020204" pitchFamily="34" charset="0"/>
                  <a:buChar char="•"/>
                </a:pPr>
                <a:r>
                  <a:rPr lang="en-US" sz="1600" dirty="0"/>
                  <a:t>At the start of the collapse, the shock wave travels outwards through the core of the star for the </a:t>
                </a:r>
                <a:r>
                  <a:rPr lang="en-US" sz="1600" dirty="0">
                    <a:solidFill>
                      <a:schemeClr val="accent1"/>
                    </a:solidFill>
                  </a:rPr>
                  <a:t>first tens of milliseconds </a:t>
                </a:r>
                <a:r>
                  <a:rPr lang="en-US" sz="1600" dirty="0"/>
                  <a:t>after its formation;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It breaks up nuclei along its path and this nuclear dissociation increases the probability for electron capture on protons thus producing electron neutrinos and neutrons: </a:t>
                </a:r>
                <a:r>
                  <a:rPr lang="en-US" sz="1600" dirty="0">
                    <a:solidFill>
                      <a:schemeClr val="accent1"/>
                    </a:solidFill>
                  </a:rPr>
                  <a:t>𝑒− + 𝑝 → </a:t>
                </a:r>
                <a:r>
                  <a:rPr lang="en-US" sz="1600" b="1" dirty="0">
                    <a:solidFill>
                      <a:srgbClr val="FF0000"/>
                    </a:solidFill>
                  </a:rPr>
                  <a:t>𝑛</a:t>
                </a:r>
                <a:r>
                  <a:rPr lang="en-US" sz="1600" dirty="0">
                    <a:solidFill>
                      <a:schemeClr val="accent1"/>
                    </a:solidFill>
                  </a:rPr>
                  <a:t> + </a:t>
                </a:r>
                <a14:m>
                  <m:oMath xmlns:m="http://schemas.openxmlformats.org/officeDocument/2006/math">
                    <m:sSub>
                      <m:sSubPr>
                        <m:ctrlPr>
                          <a:rPr lang="en-US" sz="1600" i="1" smtClean="0">
                            <a:latin typeface="Cambria Math" panose="02040503050406030204" pitchFamily="18" charset="0"/>
                          </a:rPr>
                        </m:ctrlPr>
                      </m:sSubPr>
                      <m:e>
                        <m:r>
                          <m:rPr>
                            <m:nor/>
                          </m:rPr>
                          <a:rPr lang="en-US" sz="1600" dirty="0">
                            <a:solidFill>
                              <a:schemeClr val="accent1"/>
                            </a:solidFill>
                          </a:rPr>
                          <m:t>𝜈</m:t>
                        </m:r>
                      </m:e>
                      <m:sub>
                        <m:r>
                          <m:rPr>
                            <m:nor/>
                          </m:rPr>
                          <a:rPr lang="en-US" sz="1600" dirty="0">
                            <a:solidFill>
                              <a:schemeClr val="accent1"/>
                            </a:solidFill>
                          </a:rPr>
                          <m:t>e</m:t>
                        </m:r>
                      </m:sub>
                    </m:sSub>
                  </m:oMath>
                </a14:m>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When the shock wave crosses the </a:t>
                </a:r>
                <a:r>
                  <a:rPr lang="en-US" sz="1600" dirty="0" err="1"/>
                  <a:t>neutrinosphere</a:t>
                </a:r>
                <a:r>
                  <a:rPr lang="en-US" sz="1600" dirty="0"/>
                  <a:t>, a </a:t>
                </a:r>
                <a:r>
                  <a:rPr lang="en-US" sz="1600" dirty="0">
                    <a:solidFill>
                      <a:schemeClr val="accent1"/>
                    </a:solidFill>
                  </a:rPr>
                  <a:t>short and intense burst of electron neutrinos is emitted</a:t>
                </a:r>
                <a:r>
                  <a:rPr lang="en-US" sz="1600" dirty="0"/>
                  <a:t>. </a:t>
                </a:r>
              </a:p>
              <a:p>
                <a:endParaRPr lang="en-US" sz="1600" dirty="0"/>
              </a:p>
              <a:p>
                <a:endParaRPr lang="en-US" sz="1600" dirty="0"/>
              </a:p>
              <a:p>
                <a:r>
                  <a:rPr lang="en-US" sz="1600" dirty="0"/>
                  <a:t>The height and shape of this burst depend only weakly on the pre-supernova properties of the star. </a:t>
                </a:r>
                <a:endParaRPr lang="it-IT" sz="1600" dirty="0"/>
              </a:p>
            </p:txBody>
          </p:sp>
        </mc:Choice>
        <mc:Fallback xmlns="">
          <p:sp>
            <p:nvSpPr>
              <p:cNvPr id="7" name="CasellaDiTesto 6">
                <a:extLst>
                  <a:ext uri="{FF2B5EF4-FFF2-40B4-BE49-F238E27FC236}">
                    <a16:creationId xmlns:a16="http://schemas.microsoft.com/office/drawing/2014/main" id="{53619A88-679E-AEB5-69FE-60A5CA82812D}"/>
                  </a:ext>
                </a:extLst>
              </p:cNvPr>
              <p:cNvSpPr txBox="1">
                <a:spLocks noRot="1" noChangeAspect="1" noMove="1" noResize="1" noEditPoints="1" noAdjustHandles="1" noChangeArrowheads="1" noChangeShapeType="1" noTextEdit="1"/>
              </p:cNvSpPr>
              <p:nvPr/>
            </p:nvSpPr>
            <p:spPr>
              <a:xfrm>
                <a:off x="277249" y="1137176"/>
                <a:ext cx="6566895" cy="3293209"/>
              </a:xfrm>
              <a:prstGeom prst="rect">
                <a:avLst/>
              </a:prstGeom>
              <a:blipFill>
                <a:blip r:embed="rId4"/>
                <a:stretch>
                  <a:fillRect l="-464" t="-556" r="-557" b="-1481"/>
                </a:stretch>
              </a:blipFill>
            </p:spPr>
            <p:txBody>
              <a:bodyPr/>
              <a:lstStyle/>
              <a:p>
                <a:r>
                  <a:rPr lang="it-IT">
                    <a:noFill/>
                  </a:rPr>
                  <a:t> </a:t>
                </a:r>
              </a:p>
            </p:txBody>
          </p:sp>
        </mc:Fallback>
      </mc:AlternateContent>
    </p:spTree>
    <p:extLst>
      <p:ext uri="{BB962C8B-B14F-4D97-AF65-F5344CB8AC3E}">
        <p14:creationId xmlns:p14="http://schemas.microsoft.com/office/powerpoint/2010/main" val="667755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1" y="0"/>
                <a:ext cx="7506893"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a:t>
                </a:r>
                <a:r>
                  <a:rPr lang="it-IT" sz="2800" b="1" dirty="0" err="1">
                    <a:solidFill>
                      <a:schemeClr val="accent1"/>
                    </a:solidFill>
                  </a:rPr>
                  <a:t>Accretion</a:t>
                </a:r>
                <a:r>
                  <a:rPr lang="it-IT" sz="2800" b="1" dirty="0">
                    <a:solidFill>
                      <a:schemeClr val="accent1"/>
                    </a:solidFill>
                  </a:rPr>
                  <a:t> </a:t>
                </a:r>
                <a:r>
                  <a:rPr lang="it-IT" sz="2800" b="1" dirty="0" err="1">
                    <a:solidFill>
                      <a:schemeClr val="accent1"/>
                    </a:solidFill>
                  </a:rPr>
                  <a:t>phase</a:t>
                </a:r>
                <a:r>
                  <a:rPr lang="it-IT" sz="2800" b="1" dirty="0">
                    <a:solidFill>
                      <a:schemeClr val="accent1"/>
                    </a:solidFill>
                  </a:rPr>
                  <a:t>: </a:t>
                </a:r>
                <a14:m>
                  <m:oMath xmlns:m="http://schemas.openxmlformats.org/officeDocument/2006/math">
                    <m:sSub>
                      <m:sSubPr>
                        <m:ctrlPr>
                          <a:rPr lang="it-IT" sz="2800" b="1" i="1" smtClean="0">
                            <a:solidFill>
                              <a:schemeClr val="accent1"/>
                            </a:solidFill>
                            <a:latin typeface="Cambria Math" panose="02040503050406030204" pitchFamily="18" charset="0"/>
                          </a:rPr>
                        </m:ctrlPr>
                      </m:sSubPr>
                      <m:e>
                        <m:r>
                          <a:rPr lang="it-IT" sz="2800" b="1" i="1">
                            <a:solidFill>
                              <a:schemeClr val="accent1"/>
                            </a:solidFill>
                            <a:latin typeface="Cambria Math" panose="02040503050406030204" pitchFamily="18" charset="0"/>
                          </a:rPr>
                          <m:t>𝝂</m:t>
                        </m:r>
                      </m:e>
                      <m:sub>
                        <m:r>
                          <a:rPr lang="it-IT" sz="2800" b="1" i="1">
                            <a:solidFill>
                              <a:schemeClr val="accent1"/>
                            </a:solidFill>
                            <a:latin typeface="Cambria Math" panose="02040503050406030204" pitchFamily="18" charset="0"/>
                          </a:rPr>
                          <m:t>𝒆</m:t>
                        </m:r>
                      </m:sub>
                    </m:sSub>
                  </m:oMath>
                </a14:m>
                <a:r>
                  <a:rPr lang="it-IT" sz="2800" b="1" dirty="0">
                    <a:solidFill>
                      <a:schemeClr val="accent1"/>
                    </a:solidFill>
                  </a:rPr>
                  <a:t> and </a:t>
                </a:r>
                <a14:m>
                  <m:oMath xmlns:m="http://schemas.openxmlformats.org/officeDocument/2006/math">
                    <m:acc>
                      <m:accPr>
                        <m:chr m:val="̅"/>
                        <m:ctrlPr>
                          <a:rPr lang="it-IT" sz="2800" b="1" i="1" dirty="0" smtClean="0">
                            <a:solidFill>
                              <a:schemeClr val="accent1"/>
                            </a:solidFill>
                            <a:latin typeface="Cambria Math" panose="02040503050406030204" pitchFamily="18" charset="0"/>
                          </a:rPr>
                        </m:ctrlPr>
                      </m:accPr>
                      <m:e>
                        <m:sSub>
                          <m:sSubPr>
                            <m:ctrlPr>
                              <a:rPr lang="it-IT" sz="2800" b="1" i="1">
                                <a:solidFill>
                                  <a:schemeClr val="accent1"/>
                                </a:solidFill>
                                <a:latin typeface="Cambria Math" panose="02040503050406030204" pitchFamily="18" charset="0"/>
                              </a:rPr>
                            </m:ctrlPr>
                          </m:sSubPr>
                          <m:e>
                            <m:r>
                              <a:rPr lang="it-IT" sz="2800" b="1" i="1">
                                <a:solidFill>
                                  <a:schemeClr val="accent1"/>
                                </a:solidFill>
                                <a:latin typeface="Cambria Math" panose="02040503050406030204" pitchFamily="18" charset="0"/>
                              </a:rPr>
                              <m:t>𝝂</m:t>
                            </m:r>
                          </m:e>
                          <m:sub>
                            <m:r>
                              <a:rPr lang="it-IT" sz="2800" b="1" i="1">
                                <a:solidFill>
                                  <a:schemeClr val="accent1"/>
                                </a:solidFill>
                                <a:latin typeface="Cambria Math" panose="02040503050406030204" pitchFamily="18" charset="0"/>
                              </a:rPr>
                              <m:t>𝒆</m:t>
                            </m:r>
                          </m:sub>
                        </m:sSub>
                      </m:e>
                    </m:acc>
                  </m:oMath>
                </a14:m>
                <a:r>
                  <a:rPr lang="it-IT" sz="2800" b="1" dirty="0">
                    <a:solidFill>
                      <a:schemeClr val="accent1"/>
                    </a:solidFill>
                  </a:rPr>
                  <a:t> dominate </a:t>
                </a:r>
                <a:r>
                  <a:rPr lang="el-GR" sz="2800" b="1" dirty="0">
                    <a:solidFill>
                      <a:schemeClr val="accent1"/>
                    </a:solidFill>
                  </a:rPr>
                  <a:t>Δ</a:t>
                </a:r>
                <a:r>
                  <a:rPr lang="it-IT" sz="2800" b="1" dirty="0">
                    <a:solidFill>
                      <a:schemeClr val="accent1"/>
                    </a:solidFill>
                  </a:rPr>
                  <a:t>T    ̴ O(100ms) </a:t>
                </a:r>
              </a:p>
            </p:txBody>
          </p:sp>
        </mc:Choice>
        <mc:Fallback xmlns="">
          <p:sp>
            <p:nvSpPr>
              <p:cNvPr id="2" name="Titolo 1">
                <a:extLst>
                  <a:ext uri="{FF2B5EF4-FFF2-40B4-BE49-F238E27FC236}">
                    <a16:creationId xmlns:a16="http://schemas.microsoft.com/office/drawing/2014/main" id="{D0D46532-E917-ADD5-FCDB-DD78764FC2A9}"/>
                  </a:ext>
                </a:extLst>
              </p:cNvPr>
              <p:cNvSpPr>
                <a:spLocks noGrp="1" noRot="1" noChangeAspect="1" noMove="1" noResize="1" noEditPoints="1" noAdjustHandles="1" noChangeArrowheads="1" noChangeShapeType="1" noTextEdit="1"/>
              </p:cNvSpPr>
              <p:nvPr>
                <p:ph type="title"/>
              </p:nvPr>
            </p:nvSpPr>
            <p:spPr>
              <a:xfrm>
                <a:off x="-1" y="0"/>
                <a:ext cx="7506893" cy="539015"/>
              </a:xfrm>
              <a:blipFill>
                <a:blip r:embed="rId2"/>
                <a:stretch>
                  <a:fillRect l="-1137" t="-5682" r="-406" b="-19318"/>
                </a:stretch>
              </a:blipFill>
            </p:spPr>
            <p:txBody>
              <a:bodyPr/>
              <a:lstStyle/>
              <a:p>
                <a:r>
                  <a:rPr lang="it-IT">
                    <a:noFill/>
                  </a:rPr>
                  <a:t> </a:t>
                </a:r>
              </a:p>
            </p:txBody>
          </p:sp>
        </mc:Fallback>
      </mc:AlternateContent>
      <p:grpSp>
        <p:nvGrpSpPr>
          <p:cNvPr id="5" name="Gruppo 4">
            <a:extLst>
              <a:ext uri="{FF2B5EF4-FFF2-40B4-BE49-F238E27FC236}">
                <a16:creationId xmlns:a16="http://schemas.microsoft.com/office/drawing/2014/main" id="{39755783-4A9F-9BDE-749E-EFF7A172933D}"/>
              </a:ext>
            </a:extLst>
          </p:cNvPr>
          <p:cNvGrpSpPr/>
          <p:nvPr/>
        </p:nvGrpSpPr>
        <p:grpSpPr>
          <a:xfrm>
            <a:off x="7060019" y="574026"/>
            <a:ext cx="5040000" cy="4165200"/>
            <a:chOff x="8857340" y="539015"/>
            <a:chExt cx="3233060" cy="2598738"/>
          </a:xfrm>
        </p:grpSpPr>
        <p:pic>
          <p:nvPicPr>
            <p:cNvPr id="4" name="Immagine 3" descr="Immagine che contiene linea, testo, diagramma, Diagramma&#10;&#10;Descrizione generata automaticamente">
              <a:extLst>
                <a:ext uri="{FF2B5EF4-FFF2-40B4-BE49-F238E27FC236}">
                  <a16:creationId xmlns:a16="http://schemas.microsoft.com/office/drawing/2014/main" id="{75DAE73B-9857-5CBE-C7E6-D0C5A9C8DAEF}"/>
                </a:ext>
              </a:extLst>
            </p:cNvPr>
            <p:cNvPicPr>
              <a:picLocks noChangeAspect="1"/>
            </p:cNvPicPr>
            <p:nvPr/>
          </p:nvPicPr>
          <p:blipFill rotWithShape="1">
            <a:blip r:embed="rId3">
              <a:extLst>
                <a:ext uri="{28A0092B-C50C-407E-A947-70E740481C1C}">
                  <a14:useLocalDpi xmlns:a14="http://schemas.microsoft.com/office/drawing/2010/main" val="0"/>
                </a:ext>
              </a:extLst>
            </a:blip>
            <a:srcRect r="63902"/>
            <a:stretch/>
          </p:blipFill>
          <p:spPr>
            <a:xfrm>
              <a:off x="8857340" y="539015"/>
              <a:ext cx="3144160" cy="2598738"/>
            </a:xfrm>
            <a:prstGeom prst="rect">
              <a:avLst/>
            </a:prstGeom>
          </p:spPr>
        </p:pic>
        <p:pic>
          <p:nvPicPr>
            <p:cNvPr id="3" name="Immagine 2" descr="Immagine che contiene linea, testo, diagramma, Diagramma&#10;&#10;Descrizione generata automaticamente">
              <a:extLst>
                <a:ext uri="{FF2B5EF4-FFF2-40B4-BE49-F238E27FC236}">
                  <a16:creationId xmlns:a16="http://schemas.microsoft.com/office/drawing/2014/main" id="{6EE27B2D-29CD-4F54-5536-DDC56D444974}"/>
                </a:ext>
              </a:extLst>
            </p:cNvPr>
            <p:cNvPicPr>
              <a:picLocks noChangeAspect="1"/>
            </p:cNvPicPr>
            <p:nvPr/>
          </p:nvPicPr>
          <p:blipFill rotWithShape="1">
            <a:blip r:embed="rId3">
              <a:extLst>
                <a:ext uri="{28A0092B-C50C-407E-A947-70E740481C1C}">
                  <a14:useLocalDpi xmlns:a14="http://schemas.microsoft.com/office/drawing/2010/main" val="0"/>
                </a:ext>
              </a:extLst>
            </a:blip>
            <a:srcRect l="36098" r="30075"/>
            <a:stretch/>
          </p:blipFill>
          <p:spPr>
            <a:xfrm>
              <a:off x="9144000" y="539015"/>
              <a:ext cx="2946400" cy="2598738"/>
            </a:xfrm>
            <a:prstGeom prst="rect">
              <a:avLst/>
            </a:prstGeom>
          </p:spPr>
        </p:pic>
      </p:grpSp>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540EF953-EF2A-6296-4F63-FF7C7D114860}"/>
                  </a:ext>
                </a:extLst>
              </p:cNvPr>
              <p:cNvSpPr txBox="1"/>
              <p:nvPr/>
            </p:nvSpPr>
            <p:spPr>
              <a:xfrm>
                <a:off x="484487" y="731110"/>
                <a:ext cx="6706887" cy="4770537"/>
              </a:xfrm>
              <a:prstGeom prst="rect">
                <a:avLst/>
              </a:prstGeom>
              <a:noFill/>
            </p:spPr>
            <p:txBody>
              <a:bodyPr wrap="square">
                <a:spAutoFit/>
              </a:bodyPr>
              <a:lstStyle/>
              <a:p>
                <a:pPr marL="285750" indent="-285750">
                  <a:buFont typeface="Arial" panose="020B0604020202020204" pitchFamily="34" charset="0"/>
                  <a:buChar char="•"/>
                </a:pPr>
                <a:r>
                  <a:rPr lang="en-US" sz="1600" dirty="0"/>
                  <a:t>In most stars, the shock wave </a:t>
                </a:r>
                <a:r>
                  <a:rPr lang="en-US" sz="1600" dirty="0">
                    <a:solidFill>
                      <a:schemeClr val="accent1"/>
                    </a:solidFill>
                  </a:rPr>
                  <a:t>stalls</a:t>
                </a:r>
                <a:r>
                  <a:rPr lang="en-US" sz="1600" dirty="0"/>
                  <a:t> inside the core after a few tens of milliseconds.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During this phase, which lasts </a:t>
                </a:r>
                <a:r>
                  <a:rPr lang="en-US" sz="1600" dirty="0">
                    <a:solidFill>
                      <a:schemeClr val="accent1"/>
                    </a:solidFill>
                  </a:rPr>
                  <a:t>several hundreds of milliseconds</a:t>
                </a:r>
                <a:r>
                  <a:rPr lang="en-US" sz="1600" dirty="0"/>
                  <a:t>, </a:t>
                </a:r>
                <a:r>
                  <a:rPr lang="en-US" sz="1600" dirty="0">
                    <a:solidFill>
                      <a:schemeClr val="accent1"/>
                    </a:solidFill>
                  </a:rPr>
                  <a:t>matter continues to accrete the PNS </a:t>
                </a:r>
                <a:r>
                  <a:rPr lang="en-US" sz="1600" dirty="0"/>
                  <a:t>and when matter passes through the shock wave towards the core, atomic nuclei undergo to dissociation. Between the PNS and the stationary shock, </a:t>
                </a:r>
                <a:r>
                  <a:rPr lang="en-US" sz="1600" dirty="0">
                    <a:solidFill>
                      <a:schemeClr val="accent1"/>
                    </a:solidFill>
                  </a:rPr>
                  <a:t>a hot mantle region appears</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this region, </a:t>
                </a:r>
                <a14:m>
                  <m:oMath xmlns:m="http://schemas.openxmlformats.org/officeDocument/2006/math">
                    <m:r>
                      <m:rPr>
                        <m:sty m:val="p"/>
                      </m:rPr>
                      <a:rPr lang="el-GR" sz="1600" i="1" dirty="0" smtClean="0">
                        <a:latin typeface="Cambria Math" panose="02040503050406030204" pitchFamily="18" charset="0"/>
                      </a:rPr>
                      <m:t>ϒ</m:t>
                    </m:r>
                  </m:oMath>
                </a14:m>
                <a:r>
                  <a:rPr lang="en-US" sz="1600" dirty="0"/>
                  <a:t> </a:t>
                </a:r>
                <a:r>
                  <a:rPr lang="en-US" sz="1600" dirty="0">
                    <a:sym typeface="Wingdings" panose="05000000000000000000" pitchFamily="2" charset="2"/>
                  </a:rPr>
                  <a:t></a:t>
                </a:r>
                <a:r>
                  <a:rPr lang="en-US" sz="1600" dirty="0"/>
                  <a:t> </a:t>
                </a:r>
                <a:r>
                  <a:rPr lang="en-US" sz="1600" dirty="0" err="1"/>
                  <a:t>e+e</a:t>
                </a:r>
                <a:r>
                  <a:rPr lang="en-US" sz="1600" dirty="0"/>
                  <a:t>- pairs and right after these particles are captured by free protons and neutrons </a:t>
                </a:r>
                <a:br>
                  <a:rPr lang="en-US" sz="1600" dirty="0"/>
                </a:br>
                <a:r>
                  <a:rPr lang="en-US" sz="1600" dirty="0"/>
                  <a:t>e+ + n </a:t>
                </a:r>
                <a:r>
                  <a:rPr lang="en-US" sz="1600" dirty="0">
                    <a:sym typeface="Wingdings" panose="05000000000000000000" pitchFamily="2" charset="2"/>
                  </a:rPr>
                  <a:t> p + </a:t>
                </a:r>
                <a:r>
                  <a:rPr lang="en-US" sz="1600" dirty="0" err="1">
                    <a:sym typeface="Wingdings" panose="05000000000000000000" pitchFamily="2" charset="2"/>
                  </a:rPr>
                  <a:t>antinue</a:t>
                </a:r>
                <a:r>
                  <a:rPr lang="en-US" sz="1600" dirty="0">
                    <a:sym typeface="Wingdings" panose="05000000000000000000" pitchFamily="2" charset="2"/>
                  </a:rPr>
                  <a:t>, </a:t>
                </a:r>
                <a:br>
                  <a:rPr lang="en-US" sz="1600" dirty="0">
                    <a:sym typeface="Wingdings" panose="05000000000000000000" pitchFamily="2" charset="2"/>
                  </a:rPr>
                </a:br>
                <a:r>
                  <a:rPr lang="en-US" sz="1600" dirty="0">
                    <a:sym typeface="Wingdings" panose="05000000000000000000" pitchFamily="2" charset="2"/>
                  </a:rPr>
                  <a:t>e- + p  n + nu e   leading to the production of </a:t>
                </a:r>
                <a:r>
                  <a:rPr lang="en-US" sz="1600" dirty="0">
                    <a:solidFill>
                      <a:schemeClr val="accent1"/>
                    </a:solidFill>
                    <a:sym typeface="Wingdings" panose="05000000000000000000" pitchFamily="2" charset="2"/>
                  </a:rPr>
                  <a:t>electron neutrinos</a:t>
                </a:r>
                <a:r>
                  <a:rPr lang="en-US" sz="1600" dirty="0">
                    <a:sym typeface="Wingdings" panose="05000000000000000000" pitchFamily="2" charset="2"/>
                  </a:rPr>
                  <a:t>. </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rate between </a:t>
                </a:r>
                <a:r>
                  <a:rPr lang="en-US" sz="1600" dirty="0" err="1"/>
                  <a:t>nue</a:t>
                </a:r>
                <a:r>
                  <a:rPr lang="en-US" sz="1600" dirty="0"/>
                  <a:t> and </a:t>
                </a:r>
                <a:r>
                  <a:rPr lang="en-US" sz="1600" dirty="0" err="1"/>
                  <a:t>antinue</a:t>
                </a:r>
                <a:r>
                  <a:rPr lang="en-US" sz="1600" dirty="0"/>
                  <a:t> is correlated with the PNS mass accretion rate (since this production is directly linked to the temperature and the density of nucleons in the mantle)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 During this phase, neutrinos would thus allow monitoring the speed of the core collapse in real time.</a:t>
                </a:r>
                <a:endParaRPr lang="it-IT" sz="1600" dirty="0"/>
              </a:p>
            </p:txBody>
          </p:sp>
        </mc:Choice>
        <mc:Fallback xmlns="">
          <p:sp>
            <p:nvSpPr>
              <p:cNvPr id="8" name="CasellaDiTesto 7">
                <a:extLst>
                  <a:ext uri="{FF2B5EF4-FFF2-40B4-BE49-F238E27FC236}">
                    <a16:creationId xmlns:a16="http://schemas.microsoft.com/office/drawing/2014/main" id="{540EF953-EF2A-6296-4F63-FF7C7D114860}"/>
                  </a:ext>
                </a:extLst>
              </p:cNvPr>
              <p:cNvSpPr txBox="1">
                <a:spLocks noRot="1" noChangeAspect="1" noMove="1" noResize="1" noEditPoints="1" noAdjustHandles="1" noChangeArrowheads="1" noChangeShapeType="1" noTextEdit="1"/>
              </p:cNvSpPr>
              <p:nvPr/>
            </p:nvSpPr>
            <p:spPr>
              <a:xfrm>
                <a:off x="484487" y="731110"/>
                <a:ext cx="6706887" cy="4770537"/>
              </a:xfrm>
              <a:prstGeom prst="rect">
                <a:avLst/>
              </a:prstGeom>
              <a:blipFill>
                <a:blip r:embed="rId4"/>
                <a:stretch>
                  <a:fillRect l="-363" t="-383" r="-1181" b="-639"/>
                </a:stretch>
              </a:blipFill>
            </p:spPr>
            <p:txBody>
              <a:bodyPr/>
              <a:lstStyle/>
              <a:p>
                <a:r>
                  <a:rPr lang="it-IT">
                    <a:noFill/>
                  </a:rPr>
                  <a:t> </a:t>
                </a:r>
              </a:p>
            </p:txBody>
          </p:sp>
        </mc:Fallback>
      </mc:AlternateContent>
    </p:spTree>
    <p:extLst>
      <p:ext uri="{BB962C8B-B14F-4D97-AF65-F5344CB8AC3E}">
        <p14:creationId xmlns:p14="http://schemas.microsoft.com/office/powerpoint/2010/main" val="754141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7205472"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Cooling </a:t>
                </a:r>
                <a:r>
                  <a:rPr lang="it-IT" sz="2800" b="1" dirty="0" err="1">
                    <a:solidFill>
                      <a:schemeClr val="accent1"/>
                    </a:solidFill>
                  </a:rPr>
                  <a:t>phase</a:t>
                </a:r>
                <a:r>
                  <a:rPr lang="it-IT" sz="2800" b="1" dirty="0">
                    <a:solidFill>
                      <a:schemeClr val="accent1"/>
                    </a:solidFill>
                  </a:rPr>
                  <a:t>: </a:t>
                </a:r>
                <a14:m>
                  <m:oMath xmlns:m="http://schemas.openxmlformats.org/officeDocument/2006/math">
                    <m:sSub>
                      <m:sSubPr>
                        <m:ctrlPr>
                          <a:rPr lang="it-IT" sz="2800" b="1" i="1" smtClean="0">
                            <a:solidFill>
                              <a:schemeClr val="accent1"/>
                            </a:solidFill>
                            <a:latin typeface="Cambria Math" panose="02040503050406030204" pitchFamily="18" charset="0"/>
                          </a:rPr>
                        </m:ctrlPr>
                      </m:sSubPr>
                      <m:e>
                        <m:r>
                          <a:rPr lang="it-IT" sz="2800" b="1" i="1">
                            <a:solidFill>
                              <a:schemeClr val="accent1"/>
                            </a:solidFill>
                            <a:latin typeface="Cambria Math" panose="02040503050406030204" pitchFamily="18" charset="0"/>
                          </a:rPr>
                          <m:t>𝝂</m:t>
                        </m:r>
                      </m:e>
                      <m:sub>
                        <m:r>
                          <a:rPr lang="it-IT" sz="2800" b="1" i="1" smtClean="0">
                            <a:solidFill>
                              <a:schemeClr val="accent1"/>
                            </a:solidFill>
                            <a:latin typeface="Cambria Math" panose="02040503050406030204" pitchFamily="18" charset="0"/>
                          </a:rPr>
                          <m:t>𝒙</m:t>
                        </m:r>
                      </m:sub>
                    </m:sSub>
                  </m:oMath>
                </a14:m>
                <a:r>
                  <a:rPr lang="it-IT" sz="2800" b="1" dirty="0">
                    <a:solidFill>
                      <a:schemeClr val="accent1"/>
                    </a:solidFill>
                  </a:rPr>
                  <a:t> and </a:t>
                </a:r>
                <a14:m>
                  <m:oMath xmlns:m="http://schemas.openxmlformats.org/officeDocument/2006/math">
                    <m:acc>
                      <m:accPr>
                        <m:chr m:val="̅"/>
                        <m:ctrlPr>
                          <a:rPr lang="it-IT" sz="2800" b="1" i="1" dirty="0" smtClean="0">
                            <a:solidFill>
                              <a:schemeClr val="accent1"/>
                            </a:solidFill>
                            <a:latin typeface="Cambria Math" panose="02040503050406030204" pitchFamily="18" charset="0"/>
                          </a:rPr>
                        </m:ctrlPr>
                      </m:accPr>
                      <m:e>
                        <m:sSub>
                          <m:sSubPr>
                            <m:ctrlPr>
                              <a:rPr lang="it-IT" sz="2800" b="1" i="1">
                                <a:solidFill>
                                  <a:schemeClr val="accent1"/>
                                </a:solidFill>
                                <a:latin typeface="Cambria Math" panose="02040503050406030204" pitchFamily="18" charset="0"/>
                              </a:rPr>
                            </m:ctrlPr>
                          </m:sSubPr>
                          <m:e>
                            <m:r>
                              <a:rPr lang="it-IT" sz="2800" b="1" i="1">
                                <a:solidFill>
                                  <a:schemeClr val="accent1"/>
                                </a:solidFill>
                                <a:latin typeface="Cambria Math" panose="02040503050406030204" pitchFamily="18" charset="0"/>
                              </a:rPr>
                              <m:t>𝝂</m:t>
                            </m:r>
                          </m:e>
                          <m:sub>
                            <m:r>
                              <a:rPr lang="it-IT" sz="2800" b="1" i="1" smtClean="0">
                                <a:solidFill>
                                  <a:schemeClr val="accent1"/>
                                </a:solidFill>
                                <a:latin typeface="Cambria Math" panose="02040503050406030204" pitchFamily="18" charset="0"/>
                              </a:rPr>
                              <m:t>𝒙</m:t>
                            </m:r>
                          </m:sub>
                        </m:sSub>
                      </m:e>
                    </m:acc>
                  </m:oMath>
                </a14:m>
                <a:r>
                  <a:rPr lang="it-IT" sz="2800" b="1" dirty="0">
                    <a:solidFill>
                      <a:schemeClr val="accent1"/>
                    </a:solidFill>
                  </a:rPr>
                  <a:t> all </a:t>
                </a:r>
                <a:r>
                  <a:rPr lang="it-IT" sz="2800" b="1" dirty="0" err="1">
                    <a:solidFill>
                      <a:schemeClr val="accent1"/>
                    </a:solidFill>
                  </a:rPr>
                  <a:t>flavours</a:t>
                </a:r>
                <a:r>
                  <a:rPr lang="it-IT" sz="2800" b="1" dirty="0">
                    <a:solidFill>
                      <a:schemeClr val="accent1"/>
                    </a:solidFill>
                  </a:rPr>
                  <a:t> </a:t>
                </a:r>
                <a:r>
                  <a:rPr lang="el-GR" sz="2800" b="1" dirty="0">
                    <a:solidFill>
                      <a:schemeClr val="accent1"/>
                    </a:solidFill>
                  </a:rPr>
                  <a:t>Δ</a:t>
                </a:r>
                <a:r>
                  <a:rPr lang="it-IT" sz="2800" b="1" dirty="0">
                    <a:solidFill>
                      <a:schemeClr val="accent1"/>
                    </a:solidFill>
                  </a:rPr>
                  <a:t>T    ̴ O(10s) </a:t>
                </a:r>
              </a:p>
            </p:txBody>
          </p:sp>
        </mc:Choice>
        <mc:Fallback xmlns="">
          <p:sp>
            <p:nvSpPr>
              <p:cNvPr id="2" name="Titolo 1">
                <a:extLst>
                  <a:ext uri="{FF2B5EF4-FFF2-40B4-BE49-F238E27FC236}">
                    <a16:creationId xmlns:a16="http://schemas.microsoft.com/office/drawing/2014/main" id="{D0D46532-E917-ADD5-FCDB-DD78764FC2A9}"/>
                  </a:ext>
                </a:extLst>
              </p:cNvPr>
              <p:cNvSpPr>
                <a:spLocks noGrp="1" noRot="1" noChangeAspect="1" noMove="1" noResize="1" noEditPoints="1" noAdjustHandles="1" noChangeArrowheads="1" noChangeShapeType="1" noTextEdit="1"/>
              </p:cNvSpPr>
              <p:nvPr>
                <p:ph type="title"/>
              </p:nvPr>
            </p:nvSpPr>
            <p:spPr>
              <a:xfrm>
                <a:off x="0" y="0"/>
                <a:ext cx="7205472" cy="539015"/>
              </a:xfrm>
              <a:blipFill>
                <a:blip r:embed="rId2"/>
                <a:stretch>
                  <a:fillRect l="-1184" t="-5682" b="-19318"/>
                </a:stretch>
              </a:blipFill>
            </p:spPr>
            <p:txBody>
              <a:bodyPr/>
              <a:lstStyle/>
              <a:p>
                <a:r>
                  <a:rPr lang="it-IT">
                    <a:noFill/>
                  </a:rPr>
                  <a:t> </a:t>
                </a:r>
              </a:p>
            </p:txBody>
          </p:sp>
        </mc:Fallback>
      </mc:AlternateContent>
      <p:grpSp>
        <p:nvGrpSpPr>
          <p:cNvPr id="5" name="Gruppo 4">
            <a:extLst>
              <a:ext uri="{FF2B5EF4-FFF2-40B4-BE49-F238E27FC236}">
                <a16:creationId xmlns:a16="http://schemas.microsoft.com/office/drawing/2014/main" id="{6D214B26-1D2D-6489-8CDC-1AFBC437DC93}"/>
              </a:ext>
            </a:extLst>
          </p:cNvPr>
          <p:cNvGrpSpPr/>
          <p:nvPr/>
        </p:nvGrpSpPr>
        <p:grpSpPr>
          <a:xfrm>
            <a:off x="7060438" y="539015"/>
            <a:ext cx="5040000" cy="4165200"/>
            <a:chOff x="8857340" y="539015"/>
            <a:chExt cx="3144160" cy="2598738"/>
          </a:xfrm>
        </p:grpSpPr>
        <p:pic>
          <p:nvPicPr>
            <p:cNvPr id="4" name="Immagine 3" descr="Immagine che contiene linea, testo, diagramma, Diagramma&#10;&#10;Descrizione generata automaticamente">
              <a:extLst>
                <a:ext uri="{FF2B5EF4-FFF2-40B4-BE49-F238E27FC236}">
                  <a16:creationId xmlns:a16="http://schemas.microsoft.com/office/drawing/2014/main" id="{D4DD82F4-0BAB-210E-211D-7B53622B56E2}"/>
                </a:ext>
              </a:extLst>
            </p:cNvPr>
            <p:cNvPicPr>
              <a:picLocks noChangeAspect="1"/>
            </p:cNvPicPr>
            <p:nvPr/>
          </p:nvPicPr>
          <p:blipFill rotWithShape="1">
            <a:blip r:embed="rId3">
              <a:extLst>
                <a:ext uri="{28A0092B-C50C-407E-A947-70E740481C1C}">
                  <a14:useLocalDpi xmlns:a14="http://schemas.microsoft.com/office/drawing/2010/main" val="0"/>
                </a:ext>
              </a:extLst>
            </a:blip>
            <a:srcRect r="63902"/>
            <a:stretch/>
          </p:blipFill>
          <p:spPr>
            <a:xfrm>
              <a:off x="8857340" y="539015"/>
              <a:ext cx="3144160" cy="2598738"/>
            </a:xfrm>
            <a:prstGeom prst="rect">
              <a:avLst/>
            </a:prstGeom>
          </p:spPr>
        </p:pic>
        <p:pic>
          <p:nvPicPr>
            <p:cNvPr id="3" name="Immagine 2" descr="Immagine che contiene linea, testo, diagramma, Diagramma&#10;&#10;Descrizione generata automaticamente">
              <a:extLst>
                <a:ext uri="{FF2B5EF4-FFF2-40B4-BE49-F238E27FC236}">
                  <a16:creationId xmlns:a16="http://schemas.microsoft.com/office/drawing/2014/main" id="{A1CB73ED-BD4A-25A6-73AC-9EBE0BB028B5}"/>
                </a:ext>
              </a:extLst>
            </p:cNvPr>
            <p:cNvPicPr>
              <a:picLocks noChangeAspect="1"/>
            </p:cNvPicPr>
            <p:nvPr/>
          </p:nvPicPr>
          <p:blipFill rotWithShape="1">
            <a:blip r:embed="rId3">
              <a:extLst>
                <a:ext uri="{28A0092B-C50C-407E-A947-70E740481C1C}">
                  <a14:useLocalDpi xmlns:a14="http://schemas.microsoft.com/office/drawing/2010/main" val="0"/>
                </a:ext>
              </a:extLst>
            </a:blip>
            <a:srcRect l="68321"/>
            <a:stretch/>
          </p:blipFill>
          <p:spPr>
            <a:xfrm>
              <a:off x="9144000" y="539015"/>
              <a:ext cx="2759244" cy="2598738"/>
            </a:xfrm>
            <a:prstGeom prst="rect">
              <a:avLst/>
            </a:prstGeom>
          </p:spPr>
        </p:pic>
      </p:grpSp>
      <p:sp>
        <p:nvSpPr>
          <p:cNvPr id="8" name="CasellaDiTesto 7">
            <a:extLst>
              <a:ext uri="{FF2B5EF4-FFF2-40B4-BE49-F238E27FC236}">
                <a16:creationId xmlns:a16="http://schemas.microsoft.com/office/drawing/2014/main" id="{23AFF471-F433-A40E-A828-C8ABDA8FD6D8}"/>
              </a:ext>
            </a:extLst>
          </p:cNvPr>
          <p:cNvSpPr txBox="1"/>
          <p:nvPr/>
        </p:nvSpPr>
        <p:spPr>
          <a:xfrm>
            <a:off x="131254" y="1467453"/>
            <a:ext cx="6771682" cy="2800767"/>
          </a:xfrm>
          <a:prstGeom prst="rect">
            <a:avLst/>
          </a:prstGeom>
          <a:noFill/>
        </p:spPr>
        <p:txBody>
          <a:bodyPr wrap="square">
            <a:spAutoFit/>
          </a:bodyPr>
          <a:lstStyle/>
          <a:p>
            <a:pPr marL="285750" indent="-285750">
              <a:buFont typeface="Arial" panose="020B0604020202020204" pitchFamily="34" charset="0"/>
              <a:buChar char="•"/>
            </a:pPr>
            <a:r>
              <a:rPr lang="en-US" sz="1600" dirty="0"/>
              <a:t>The hot and dense PNS cools down by emitting neutrinos and antineutrinos couples of all </a:t>
            </a:r>
            <a:r>
              <a:rPr lang="en-US" sz="1600" dirty="0" err="1"/>
              <a:t>flavours</a:t>
            </a:r>
            <a:r>
              <a:rPr lang="en-US" sz="1600" dirty="0"/>
              <a:t> through neutral current interactions.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high density of the innermost region of the star slows down the exit of these neutrinos: their emission is slightly delayed compared to neutrinos from the neutronization and accretion phases.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If a supernova explosion occurs, these cooling neutrinos will be emitted during several tens of seconds, with an exponentially decreasing rate.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
        <p:nvSpPr>
          <p:cNvPr id="10" name="CasellaDiTesto 9">
            <a:extLst>
              <a:ext uri="{FF2B5EF4-FFF2-40B4-BE49-F238E27FC236}">
                <a16:creationId xmlns:a16="http://schemas.microsoft.com/office/drawing/2014/main" id="{AA7FBCCD-9DF8-A38D-4604-E3CD2981DC1D}"/>
              </a:ext>
            </a:extLst>
          </p:cNvPr>
          <p:cNvSpPr txBox="1"/>
          <p:nvPr/>
        </p:nvSpPr>
        <p:spPr>
          <a:xfrm>
            <a:off x="390144" y="5322509"/>
            <a:ext cx="11411712" cy="830997"/>
          </a:xfrm>
          <a:prstGeom prst="rect">
            <a:avLst/>
          </a:prstGeom>
          <a:solidFill>
            <a:schemeClr val="accent4">
              <a:lumMod val="20000"/>
              <a:lumOff val="80000"/>
            </a:schemeClr>
          </a:solidFill>
        </p:spPr>
        <p:txBody>
          <a:bodyPr wrap="square">
            <a:spAutoFit/>
          </a:bodyPr>
          <a:lstStyle/>
          <a:p>
            <a:r>
              <a:rPr lang="en-US" sz="1600" dirty="0">
                <a:solidFill>
                  <a:schemeClr val="accent1"/>
                </a:solidFill>
              </a:rPr>
              <a:t>Besides carrying information about the collapse, neutrinos could decisively influence it: it has been hypothesized that neutrinos leaving the core of the star could deposit enough energy below the shock wave to restart its propagation to the star, triggering the supernova explosion.</a:t>
            </a:r>
          </a:p>
        </p:txBody>
      </p:sp>
    </p:spTree>
    <p:extLst>
      <p:ext uri="{BB962C8B-B14F-4D97-AF65-F5344CB8AC3E}">
        <p14:creationId xmlns:p14="http://schemas.microsoft.com/office/powerpoint/2010/main" val="838095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Supernova neutrino energies</a:t>
            </a:r>
          </a:p>
        </p:txBody>
      </p:sp>
      <p:sp>
        <p:nvSpPr>
          <p:cNvPr id="9" name="CasellaDiTesto 8">
            <a:extLst>
              <a:ext uri="{FF2B5EF4-FFF2-40B4-BE49-F238E27FC236}">
                <a16:creationId xmlns:a16="http://schemas.microsoft.com/office/drawing/2014/main" id="{2ED522DD-C2A7-C37C-FBEC-F292EDBABB35}"/>
              </a:ext>
            </a:extLst>
          </p:cNvPr>
          <p:cNvSpPr txBox="1"/>
          <p:nvPr/>
        </p:nvSpPr>
        <p:spPr>
          <a:xfrm>
            <a:off x="368420" y="1874728"/>
            <a:ext cx="6099055" cy="3785652"/>
          </a:xfrm>
          <a:prstGeom prst="rect">
            <a:avLst/>
          </a:prstGeom>
          <a:noFill/>
        </p:spPr>
        <p:txBody>
          <a:bodyPr wrap="square">
            <a:spAutoFit/>
          </a:bodyPr>
          <a:lstStyle/>
          <a:p>
            <a:pPr algn="l"/>
            <a:endParaRPr lang="en-US" sz="1600" dirty="0">
              <a:solidFill>
                <a:srgbClr val="131413"/>
              </a:solidFill>
            </a:endParaRPr>
          </a:p>
          <a:p>
            <a:pPr marL="285750" indent="-285750">
              <a:buFont typeface="Arial" panose="020B0604020202020204" pitchFamily="34" charset="0"/>
              <a:buChar char="•"/>
            </a:pPr>
            <a:r>
              <a:rPr lang="en-US" sz="1600" b="0" i="0" u="none" strike="noStrike" baseline="0" dirty="0"/>
              <a:t>There may be significant variations in the expected flux from supernova to supernova due to </a:t>
            </a:r>
            <a:r>
              <a:rPr lang="en-US" sz="1600" b="0" i="0" u="none" strike="noStrike" baseline="0" dirty="0">
                <a:solidFill>
                  <a:srgbClr val="131413"/>
                </a:solidFill>
              </a:rPr>
              <a:t>differences in the mass and composition of the progenitor, and possibly asymmetries, rotational effects, or magnetic field effects.</a:t>
            </a:r>
          </a:p>
          <a:p>
            <a:pPr marL="285750" indent="-285750">
              <a:buFont typeface="Arial" panose="020B0604020202020204" pitchFamily="34" charset="0"/>
              <a:buChar char="•"/>
            </a:pPr>
            <a:endParaRPr lang="en-US" sz="1600" dirty="0">
              <a:solidFill>
                <a:srgbClr val="131413"/>
              </a:solidFill>
            </a:endParaRPr>
          </a:p>
          <a:p>
            <a:pPr marL="285750" indent="-285750">
              <a:buFont typeface="Arial" panose="020B0604020202020204" pitchFamily="34" charset="0"/>
              <a:buChar char="•"/>
            </a:pPr>
            <a:r>
              <a:rPr lang="en-US" sz="1600" b="0" i="0" u="none" strike="noStrike" baseline="0" dirty="0">
                <a:solidFill>
                  <a:srgbClr val="131413"/>
                </a:solidFill>
              </a:rPr>
              <a:t>Matter oscillation effects modify the spectra as the neutrinos traverse dense matter, so the neutrino spectra arriving on Earth depend on supernova matter profiles and neutrino oscillation parameters.</a:t>
            </a:r>
          </a:p>
          <a:p>
            <a:pPr marL="285750" indent="-285750">
              <a:buFont typeface="Arial" panose="020B0604020202020204" pitchFamily="34" charset="0"/>
              <a:buChar char="•"/>
            </a:pPr>
            <a:endParaRPr lang="en-US" sz="1600" dirty="0">
              <a:solidFill>
                <a:srgbClr val="131413"/>
              </a:solidFill>
            </a:endParaRPr>
          </a:p>
          <a:p>
            <a:pPr marL="285750" indent="-285750">
              <a:buFont typeface="Arial" panose="020B0604020202020204" pitchFamily="34" charset="0"/>
              <a:buChar char="•"/>
            </a:pPr>
            <a:r>
              <a:rPr lang="en-US" sz="1600" b="0" i="0" u="none" strike="noStrike" baseline="0" dirty="0">
                <a:solidFill>
                  <a:schemeClr val="accent1"/>
                </a:solidFill>
              </a:rPr>
              <a:t>Supernova neutrinos have energies around 10–20MeV,  intermediate between those of </a:t>
            </a:r>
            <a:r>
              <a:rPr lang="it-IT" sz="1600" b="0" i="0" u="none" strike="noStrike" baseline="0" dirty="0">
                <a:solidFill>
                  <a:schemeClr val="accent1"/>
                </a:solidFill>
              </a:rPr>
              <a:t>solar (1MeV) and </a:t>
            </a:r>
            <a:r>
              <a:rPr lang="it-IT" sz="1600" b="0" i="0" u="none" strike="noStrike" baseline="0" dirty="0" err="1">
                <a:solidFill>
                  <a:schemeClr val="accent1"/>
                </a:solidFill>
              </a:rPr>
              <a:t>atmospheric</a:t>
            </a:r>
            <a:r>
              <a:rPr lang="it-IT" sz="1600" b="0" i="0" u="none" strike="noStrike" baseline="0" dirty="0">
                <a:solidFill>
                  <a:schemeClr val="accent1"/>
                </a:solidFill>
              </a:rPr>
              <a:t> </a:t>
            </a:r>
            <a:r>
              <a:rPr lang="it-IT" sz="1600" b="0" i="0" u="none" strike="noStrike" baseline="0" dirty="0" err="1">
                <a:solidFill>
                  <a:schemeClr val="accent1"/>
                </a:solidFill>
              </a:rPr>
              <a:t>neutrinos</a:t>
            </a:r>
            <a:r>
              <a:rPr lang="it-IT" sz="1600" b="0" i="0" u="none" strike="noStrike" baseline="0" dirty="0">
                <a:solidFill>
                  <a:schemeClr val="accent1"/>
                </a:solidFill>
              </a:rPr>
              <a:t> (&gt;100MeV). </a:t>
            </a:r>
          </a:p>
          <a:p>
            <a:pPr marL="285750" indent="-285750">
              <a:buFont typeface="Arial" panose="020B0604020202020204" pitchFamily="34" charset="0"/>
              <a:buChar char="•"/>
            </a:pPr>
            <a:endParaRPr lang="it-IT" sz="1600" dirty="0">
              <a:solidFill>
                <a:srgbClr val="131413"/>
              </a:solidFill>
            </a:endParaRPr>
          </a:p>
        </p:txBody>
      </p:sp>
      <p:pic>
        <p:nvPicPr>
          <p:cNvPr id="11" name="Immagine 10">
            <a:extLst>
              <a:ext uri="{FF2B5EF4-FFF2-40B4-BE49-F238E27FC236}">
                <a16:creationId xmlns:a16="http://schemas.microsoft.com/office/drawing/2014/main" id="{333548F6-7552-1463-48D9-E95091A905EC}"/>
              </a:ext>
            </a:extLst>
          </p:cNvPr>
          <p:cNvPicPr>
            <a:picLocks noChangeAspect="1"/>
          </p:cNvPicPr>
          <p:nvPr/>
        </p:nvPicPr>
        <p:blipFill>
          <a:blip r:embed="rId2"/>
          <a:stretch>
            <a:fillRect/>
          </a:stretch>
        </p:blipFill>
        <p:spPr>
          <a:xfrm>
            <a:off x="6736110" y="1647826"/>
            <a:ext cx="5087470" cy="3168582"/>
          </a:xfrm>
          <a:prstGeom prst="rect">
            <a:avLst/>
          </a:prstGeom>
        </p:spPr>
      </p:pic>
      <p:sp>
        <p:nvSpPr>
          <p:cNvPr id="17" name="CasellaDiTesto 16">
            <a:extLst>
              <a:ext uri="{FF2B5EF4-FFF2-40B4-BE49-F238E27FC236}">
                <a16:creationId xmlns:a16="http://schemas.microsoft.com/office/drawing/2014/main" id="{204A9ECB-13F7-4913-5641-39A9ADA95BB4}"/>
              </a:ext>
            </a:extLst>
          </p:cNvPr>
          <p:cNvSpPr txBox="1"/>
          <p:nvPr/>
        </p:nvSpPr>
        <p:spPr>
          <a:xfrm>
            <a:off x="271462" y="951399"/>
            <a:ext cx="11649075" cy="338554"/>
          </a:xfrm>
          <a:prstGeom prst="rect">
            <a:avLst/>
          </a:prstGeom>
          <a:noFill/>
        </p:spPr>
        <p:txBody>
          <a:bodyPr wrap="square">
            <a:spAutoFit/>
          </a:bodyPr>
          <a:lstStyle/>
          <a:p>
            <a:pPr algn="ctr"/>
            <a:r>
              <a:rPr lang="en-US" sz="1600" dirty="0"/>
              <a:t>About 90% of the energy is released during the cooling phase and, as neutrinos escape, the temperatures gradually decrease. </a:t>
            </a:r>
          </a:p>
        </p:txBody>
      </p:sp>
      <p:sp>
        <p:nvSpPr>
          <p:cNvPr id="19" name="CasellaDiTesto 18">
            <a:extLst>
              <a:ext uri="{FF2B5EF4-FFF2-40B4-BE49-F238E27FC236}">
                <a16:creationId xmlns:a16="http://schemas.microsoft.com/office/drawing/2014/main" id="{145B8A6A-A481-5F0F-9299-5C9CCE921701}"/>
              </a:ext>
            </a:extLst>
          </p:cNvPr>
          <p:cNvSpPr txBox="1"/>
          <p:nvPr/>
        </p:nvSpPr>
        <p:spPr>
          <a:xfrm>
            <a:off x="7210424" y="4829383"/>
            <a:ext cx="4907755" cy="830997"/>
          </a:xfrm>
          <a:prstGeom prst="rect">
            <a:avLst/>
          </a:prstGeom>
          <a:noFill/>
        </p:spPr>
        <p:txBody>
          <a:bodyPr wrap="square">
            <a:spAutoFit/>
          </a:bodyPr>
          <a:lstStyle/>
          <a:p>
            <a:pPr algn="l"/>
            <a:r>
              <a:rPr lang="en-US" sz="1200" b="0" i="0" u="none" strike="noStrike" baseline="0" dirty="0">
                <a:solidFill>
                  <a:srgbClr val="131413"/>
                </a:solidFill>
              </a:rPr>
              <a:t>Example of supernova neutrino fluence (the time-integrated neutrino flux) for the different flavor components. The prediction includes collective effects, which are responsible for the structure observed in the </a:t>
            </a:r>
            <a:r>
              <a:rPr lang="en-US" sz="1200" b="0" i="0" u="none" strike="noStrike" baseline="0" dirty="0" err="1">
                <a:solidFill>
                  <a:srgbClr val="131413"/>
                </a:solidFill>
              </a:rPr>
              <a:t>ν</a:t>
            </a:r>
            <a:r>
              <a:rPr lang="en-US" sz="1200" b="0" i="1" u="none" strike="noStrike" baseline="0" dirty="0" err="1">
                <a:solidFill>
                  <a:srgbClr val="131413"/>
                </a:solidFill>
              </a:rPr>
              <a:t>e</a:t>
            </a:r>
            <a:r>
              <a:rPr lang="en-US" sz="1200" b="0" i="1" u="none" strike="noStrike" baseline="0" dirty="0">
                <a:solidFill>
                  <a:srgbClr val="131413"/>
                </a:solidFill>
              </a:rPr>
              <a:t> dashed line</a:t>
            </a:r>
            <a:endParaRPr lang="it-IT" sz="1200" dirty="0"/>
          </a:p>
        </p:txBody>
      </p:sp>
    </p:spTree>
    <p:extLst>
      <p:ext uri="{BB962C8B-B14F-4D97-AF65-F5344CB8AC3E}">
        <p14:creationId xmlns:p14="http://schemas.microsoft.com/office/powerpoint/2010/main" val="16254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Supernova neutrino energies</a:t>
            </a:r>
          </a:p>
        </p:txBody>
      </p:sp>
      <p:sp>
        <p:nvSpPr>
          <p:cNvPr id="9" name="CasellaDiTesto 8">
            <a:extLst>
              <a:ext uri="{FF2B5EF4-FFF2-40B4-BE49-F238E27FC236}">
                <a16:creationId xmlns:a16="http://schemas.microsoft.com/office/drawing/2014/main" id="{2ED522DD-C2A7-C37C-FBEC-F292EDBABB35}"/>
              </a:ext>
            </a:extLst>
          </p:cNvPr>
          <p:cNvSpPr txBox="1"/>
          <p:nvPr/>
        </p:nvSpPr>
        <p:spPr>
          <a:xfrm>
            <a:off x="255845" y="1241471"/>
            <a:ext cx="7297722" cy="4031873"/>
          </a:xfrm>
          <a:prstGeom prst="rect">
            <a:avLst/>
          </a:prstGeom>
          <a:noFill/>
        </p:spPr>
        <p:txBody>
          <a:bodyPr wrap="square">
            <a:spAutoFit/>
          </a:bodyPr>
          <a:lstStyle/>
          <a:p>
            <a:pPr marL="285750" indent="-285750">
              <a:buFont typeface="Arial" panose="020B0604020202020204" pitchFamily="34" charset="0"/>
              <a:buChar char="•"/>
            </a:pPr>
            <a:r>
              <a:rPr lang="en-US" sz="1600" dirty="0">
                <a:solidFill>
                  <a:srgbClr val="131413"/>
                </a:solidFill>
              </a:rPr>
              <a:t>T</a:t>
            </a:r>
            <a:r>
              <a:rPr lang="en-US" sz="1600" b="0" i="0" u="none" strike="noStrike" baseline="0" dirty="0">
                <a:solidFill>
                  <a:srgbClr val="131413"/>
                </a:solidFill>
              </a:rPr>
              <a:t>he neutrino luminosity is roughly equally divided among the three </a:t>
            </a:r>
            <a:r>
              <a:rPr lang="en-US" sz="1600" b="0" i="0" u="none" strike="noStrike" baseline="0" dirty="0" err="1">
                <a:solidFill>
                  <a:srgbClr val="131413"/>
                </a:solidFill>
              </a:rPr>
              <a:t>flavours</a:t>
            </a:r>
            <a:r>
              <a:rPr lang="en-US" sz="1600" b="0" i="0" u="none" strike="noStrike" baseline="0" dirty="0">
                <a:solidFill>
                  <a:srgbClr val="131413"/>
                </a:solidFill>
              </a:rPr>
              <a:t>: </a:t>
            </a:r>
            <a:r>
              <a:rPr lang="en-US" sz="1600" dirty="0">
                <a:solidFill>
                  <a:srgbClr val="131413"/>
                </a:solidFill>
              </a:rPr>
              <a:t>h</a:t>
            </a:r>
            <a:r>
              <a:rPr lang="en-US" sz="1600" b="0" i="0" u="none" strike="noStrike" baseline="0" dirty="0">
                <a:solidFill>
                  <a:srgbClr val="131413"/>
                </a:solidFill>
              </a:rPr>
              <a:t>owever, </a:t>
            </a:r>
            <a:r>
              <a:rPr lang="en-US" sz="1600" b="0" i="0" u="none" strike="noStrike" baseline="0" dirty="0" err="1">
                <a:solidFill>
                  <a:srgbClr val="131413"/>
                </a:solidFill>
              </a:rPr>
              <a:t>νμ</a:t>
            </a:r>
            <a:r>
              <a:rPr lang="en-US" sz="1600" b="0" i="0" u="none" strike="noStrike" baseline="0" dirty="0">
                <a:solidFill>
                  <a:srgbClr val="131413"/>
                </a:solidFill>
              </a:rPr>
              <a:t>, </a:t>
            </a:r>
            <a:r>
              <a:rPr lang="en-US" sz="1600" b="0" i="0" u="none" strike="noStrike" baseline="0" dirty="0" err="1">
                <a:solidFill>
                  <a:srgbClr val="131413"/>
                </a:solidFill>
              </a:rPr>
              <a:t>ντ</a:t>
            </a:r>
            <a:r>
              <a:rPr lang="en-US" sz="1600" b="0" i="0" u="none" strike="noStrike" baseline="0" dirty="0">
                <a:solidFill>
                  <a:srgbClr val="131413"/>
                </a:solidFill>
              </a:rPr>
              <a:t> are below the </a:t>
            </a:r>
            <a:r>
              <a:rPr lang="it-IT" sz="1600" b="0" i="0" u="none" strike="noStrike" baseline="0" dirty="0" err="1">
                <a:solidFill>
                  <a:srgbClr val="131413"/>
                </a:solidFill>
              </a:rPr>
              <a:t>threshold</a:t>
            </a:r>
            <a:r>
              <a:rPr lang="it-IT" sz="1600" b="0" i="0" u="none" strike="noStrike" baseline="0" dirty="0">
                <a:solidFill>
                  <a:srgbClr val="131413"/>
                </a:solidFill>
              </a:rPr>
              <a:t> for CC interactions. </a:t>
            </a:r>
            <a:r>
              <a:rPr lang="en-US" sz="1600" b="0" i="0" u="none" strike="noStrike" baseline="0" dirty="0">
                <a:solidFill>
                  <a:schemeClr val="accent1"/>
                </a:solidFill>
              </a:rPr>
              <a:t>Thus, most of the signal produced by a supernova is provided by </a:t>
            </a:r>
            <a:r>
              <a:rPr lang="en-US" sz="1600" b="0" i="0" u="none" strike="noStrike" baseline="0" dirty="0" err="1">
                <a:solidFill>
                  <a:schemeClr val="accent1"/>
                </a:solidFill>
              </a:rPr>
              <a:t>ν</a:t>
            </a:r>
            <a:r>
              <a:rPr lang="en-US" sz="1600" b="0" i="1" u="none" strike="noStrike" baseline="0" dirty="0" err="1">
                <a:solidFill>
                  <a:schemeClr val="accent1"/>
                </a:solidFill>
              </a:rPr>
              <a:t>e</a:t>
            </a:r>
            <a:r>
              <a:rPr lang="en-US" sz="1600" b="0" i="1" u="none" strike="noStrike" baseline="0" dirty="0">
                <a:solidFill>
                  <a:schemeClr val="accent1"/>
                </a:solidFill>
              </a:rPr>
              <a:t> </a:t>
            </a:r>
            <a:r>
              <a:rPr lang="en-US" sz="1600" b="0" i="0" u="none" strike="noStrike" baseline="0" dirty="0">
                <a:solidFill>
                  <a:schemeClr val="accent1"/>
                </a:solidFill>
              </a:rPr>
              <a:t>+ </a:t>
            </a:r>
            <a:r>
              <a:rPr lang="en-US" sz="1600" i="1" u="none" strike="noStrike" baseline="0" dirty="0">
                <a:solidFill>
                  <a:schemeClr val="accent1"/>
                </a:solidFill>
              </a:rPr>
              <a:t>p</a:t>
            </a:r>
            <a:r>
              <a:rPr lang="en-US" sz="1600" b="1" i="1" u="none" strike="noStrike" baseline="0" dirty="0">
                <a:solidFill>
                  <a:schemeClr val="accent1"/>
                </a:solidFill>
              </a:rPr>
              <a:t> </a:t>
            </a:r>
            <a:r>
              <a:rPr lang="en-US" sz="1600" b="1" i="0" u="none" strike="noStrike" baseline="0" dirty="0">
                <a:solidFill>
                  <a:schemeClr val="accent1"/>
                </a:solidFill>
              </a:rPr>
              <a:t>inverse beta decay </a:t>
            </a:r>
            <a:r>
              <a:rPr lang="en-US" sz="1600" b="0" i="0" u="none" strike="noStrike" baseline="0" dirty="0">
                <a:solidFill>
                  <a:schemeClr val="accent1"/>
                </a:solidFill>
              </a:rPr>
              <a:t>reaction </a:t>
            </a:r>
            <a:r>
              <a:rPr lang="en-US" sz="1600" b="0" i="0" u="none" strike="noStrike" baseline="0" dirty="0">
                <a:solidFill>
                  <a:srgbClr val="131413"/>
                </a:solidFill>
              </a:rPr>
              <a:t>(as was in the case of SN1987A). </a:t>
            </a:r>
          </a:p>
          <a:p>
            <a:pPr marL="285750" indent="-285750">
              <a:buFont typeface="Arial" panose="020B0604020202020204" pitchFamily="34" charset="0"/>
              <a:buChar char="•"/>
            </a:pPr>
            <a:endParaRPr lang="en-US" sz="1600" dirty="0">
              <a:solidFill>
                <a:srgbClr val="131413"/>
              </a:solidFill>
            </a:endParaRPr>
          </a:p>
          <a:p>
            <a:pPr marL="285750" indent="-285750">
              <a:buFont typeface="Arial" panose="020B0604020202020204" pitchFamily="34" charset="0"/>
              <a:buChar char="•"/>
            </a:pPr>
            <a:r>
              <a:rPr lang="en-US" sz="1600" b="0" i="0" u="none" strike="noStrike" baseline="0" dirty="0">
                <a:solidFill>
                  <a:srgbClr val="131413"/>
                </a:solidFill>
              </a:rPr>
              <a:t>Interaction on electrons and NC interactions of all neutrino </a:t>
            </a:r>
            <a:r>
              <a:rPr lang="en-US" sz="1600" b="0" i="0" u="none" strike="noStrike" baseline="0" dirty="0" err="1">
                <a:solidFill>
                  <a:srgbClr val="131413"/>
                </a:solidFill>
              </a:rPr>
              <a:t>flavours</a:t>
            </a:r>
            <a:r>
              <a:rPr lang="en-US" sz="1600" b="0" i="0" u="none" strike="noStrike" baseline="0" dirty="0">
                <a:solidFill>
                  <a:srgbClr val="131413"/>
                </a:solidFill>
              </a:rPr>
              <a:t> can add only a small contribution to the signal, as evident from the cross sections shown in picture.  </a:t>
            </a:r>
          </a:p>
          <a:p>
            <a:pPr marL="285750" indent="-285750">
              <a:buFont typeface="Arial" panose="020B0604020202020204" pitchFamily="34" charset="0"/>
              <a:buChar char="•"/>
            </a:pPr>
            <a:endParaRPr lang="en-US" sz="1600" dirty="0">
              <a:solidFill>
                <a:srgbClr val="131413"/>
              </a:solidFill>
            </a:endParaRPr>
          </a:p>
          <a:p>
            <a:pPr marL="285750" indent="-285750">
              <a:buFont typeface="Arial" panose="020B0604020202020204" pitchFamily="34" charset="0"/>
              <a:buChar char="•"/>
            </a:pPr>
            <a:r>
              <a:rPr lang="en-US" sz="1600" b="0" i="0" u="none" strike="noStrike" baseline="0" dirty="0">
                <a:solidFill>
                  <a:srgbClr val="131413"/>
                </a:solidFill>
              </a:rPr>
              <a:t>Although the cross-section is relatively small compared with the interaction</a:t>
            </a:r>
            <a:r>
              <a:rPr lang="en-US" sz="1600" dirty="0">
                <a:solidFill>
                  <a:srgbClr val="131413"/>
                </a:solidFill>
              </a:rPr>
              <a:t> </a:t>
            </a:r>
            <a:r>
              <a:rPr lang="en-US" sz="1600" b="0" i="0" u="none" strike="noStrike" baseline="0" dirty="0">
                <a:solidFill>
                  <a:srgbClr val="131413"/>
                </a:solidFill>
              </a:rPr>
              <a:t>on nucleons one (CC), neutrino electron elastic scattering could be important because of its directionality</a:t>
            </a:r>
            <a:r>
              <a:rPr lang="en-US" sz="1600" dirty="0">
                <a:solidFill>
                  <a:srgbClr val="131413"/>
                </a:solidFill>
              </a:rPr>
              <a:t> </a:t>
            </a:r>
            <a:r>
              <a:rPr lang="en-US" sz="1600" dirty="0">
                <a:solidFill>
                  <a:srgbClr val="131413"/>
                </a:solidFill>
                <a:sym typeface="Wingdings" panose="05000000000000000000" pitchFamily="2" charset="2"/>
              </a:rPr>
              <a:t> </a:t>
            </a:r>
            <a:r>
              <a:rPr lang="en-US" sz="1600" b="0" i="1" u="none" strike="noStrike" baseline="0" dirty="0">
                <a:solidFill>
                  <a:srgbClr val="131413"/>
                </a:solidFill>
              </a:rPr>
              <a:t>As supernova neutrinos are more energetic than solar neutrinos, the electron is scattered closer to the direction of the incoming neutrino</a:t>
            </a:r>
            <a:endParaRPr lang="en-US" sz="1600" dirty="0">
              <a:solidFill>
                <a:srgbClr val="131413"/>
              </a:solidFill>
            </a:endParaRPr>
          </a:p>
          <a:p>
            <a:pPr marL="285750" indent="-285750">
              <a:buFont typeface="Arial" panose="020B0604020202020204" pitchFamily="34" charset="0"/>
              <a:buChar char="•"/>
            </a:pPr>
            <a:endParaRPr lang="en-US" sz="1600" b="0" i="0" u="none" strike="noStrike" baseline="0" dirty="0">
              <a:solidFill>
                <a:srgbClr val="131413"/>
              </a:solidFill>
            </a:endParaRPr>
          </a:p>
          <a:p>
            <a:pPr marL="285750" indent="-285750">
              <a:buFont typeface="Arial" panose="020B0604020202020204" pitchFamily="34" charset="0"/>
              <a:buChar char="•"/>
            </a:pPr>
            <a:r>
              <a:rPr lang="en-US" sz="1600" b="0" i="0" u="none" strike="noStrike" baseline="0" dirty="0">
                <a:solidFill>
                  <a:srgbClr val="131413"/>
                </a:solidFill>
              </a:rPr>
              <a:t> ES events can be thus used to point to the supernova direction, although this represents a difficult </a:t>
            </a:r>
            <a:r>
              <a:rPr lang="it-IT" sz="1600" b="0" i="0" u="none" strike="noStrike" baseline="0" dirty="0" err="1">
                <a:solidFill>
                  <a:srgbClr val="131413"/>
                </a:solidFill>
              </a:rPr>
              <a:t>experimental</a:t>
            </a:r>
            <a:r>
              <a:rPr lang="it-IT" sz="1600" b="0" i="0" u="none" strike="noStrike" baseline="0" dirty="0">
                <a:solidFill>
                  <a:srgbClr val="131413"/>
                </a:solidFill>
              </a:rPr>
              <a:t> task.</a:t>
            </a:r>
            <a:endParaRPr lang="it-IT" sz="1600" dirty="0"/>
          </a:p>
        </p:txBody>
      </p:sp>
      <p:pic>
        <p:nvPicPr>
          <p:cNvPr id="13" name="Immagine 12">
            <a:extLst>
              <a:ext uri="{FF2B5EF4-FFF2-40B4-BE49-F238E27FC236}">
                <a16:creationId xmlns:a16="http://schemas.microsoft.com/office/drawing/2014/main" id="{E70641C2-32A6-AC60-DB96-D5925D6377C8}"/>
              </a:ext>
            </a:extLst>
          </p:cNvPr>
          <p:cNvPicPr>
            <a:picLocks noChangeAspect="1"/>
          </p:cNvPicPr>
          <p:nvPr/>
        </p:nvPicPr>
        <p:blipFill>
          <a:blip r:embed="rId2"/>
          <a:stretch>
            <a:fillRect/>
          </a:stretch>
        </p:blipFill>
        <p:spPr>
          <a:xfrm>
            <a:off x="7553567" y="1516657"/>
            <a:ext cx="4517663" cy="3235279"/>
          </a:xfrm>
          <a:prstGeom prst="rect">
            <a:avLst/>
          </a:prstGeom>
        </p:spPr>
      </p:pic>
      <p:sp>
        <p:nvSpPr>
          <p:cNvPr id="15" name="CasellaDiTesto 14">
            <a:extLst>
              <a:ext uri="{FF2B5EF4-FFF2-40B4-BE49-F238E27FC236}">
                <a16:creationId xmlns:a16="http://schemas.microsoft.com/office/drawing/2014/main" id="{DA6F2D4B-9981-D0DD-2C7D-DF2553915EBA}"/>
              </a:ext>
            </a:extLst>
          </p:cNvPr>
          <p:cNvSpPr txBox="1"/>
          <p:nvPr/>
        </p:nvSpPr>
        <p:spPr>
          <a:xfrm>
            <a:off x="7790688" y="7047223"/>
            <a:ext cx="4862322" cy="646331"/>
          </a:xfrm>
          <a:prstGeom prst="rect">
            <a:avLst/>
          </a:prstGeom>
          <a:noFill/>
        </p:spPr>
        <p:txBody>
          <a:bodyPr wrap="square">
            <a:spAutoFit/>
          </a:bodyPr>
          <a:lstStyle/>
          <a:p>
            <a:r>
              <a:rPr lang="en-US" sz="1800" b="0" i="0" u="none" strike="noStrike" baseline="0" dirty="0">
                <a:solidFill>
                  <a:srgbClr val="131413"/>
                </a:solidFill>
                <a:latin typeface="Times-Roman"/>
              </a:rPr>
              <a:t>Cross section for different processes at energies of interest for SN neutrinos</a:t>
            </a:r>
            <a:endParaRPr lang="it-IT" dirty="0"/>
          </a:p>
        </p:txBody>
      </p:sp>
    </p:spTree>
    <p:extLst>
      <p:ext uri="{BB962C8B-B14F-4D97-AF65-F5344CB8AC3E}">
        <p14:creationId xmlns:p14="http://schemas.microsoft.com/office/powerpoint/2010/main" val="3239147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High-energy </a:t>
            </a:r>
            <a:r>
              <a:rPr lang="it-IT" sz="2800" b="1" dirty="0" err="1">
                <a:solidFill>
                  <a:schemeClr val="accent1"/>
                </a:solidFill>
              </a:rPr>
              <a:t>neutrinos</a:t>
            </a:r>
            <a:r>
              <a:rPr lang="it-IT" sz="2800" b="1" dirty="0">
                <a:solidFill>
                  <a:schemeClr val="accent1"/>
                </a:solidFill>
              </a:rPr>
              <a:t> </a:t>
            </a:r>
            <a:r>
              <a:rPr lang="it-IT" sz="2800" b="1" dirty="0" err="1">
                <a:solidFill>
                  <a:schemeClr val="accent1"/>
                </a:solidFill>
              </a:rPr>
              <a:t>form</a:t>
            </a:r>
            <a:r>
              <a:rPr lang="it-IT" sz="2800" b="1" dirty="0">
                <a:solidFill>
                  <a:schemeClr val="accent1"/>
                </a:solidFill>
              </a:rPr>
              <a:t> </a:t>
            </a:r>
            <a:r>
              <a:rPr lang="it-IT" sz="2800" b="1" dirty="0" err="1">
                <a:solidFill>
                  <a:schemeClr val="accent1"/>
                </a:solidFill>
              </a:rPr>
              <a:t>SNe</a:t>
            </a:r>
            <a:endParaRPr lang="it-IT" sz="2800" b="1" dirty="0">
              <a:solidFill>
                <a:schemeClr val="accent1"/>
              </a:solidFill>
            </a:endParaRPr>
          </a:p>
        </p:txBody>
      </p:sp>
      <p:sp>
        <p:nvSpPr>
          <p:cNvPr id="4" name="CasellaDiTesto 3">
            <a:extLst>
              <a:ext uri="{FF2B5EF4-FFF2-40B4-BE49-F238E27FC236}">
                <a16:creationId xmlns:a16="http://schemas.microsoft.com/office/drawing/2014/main" id="{969F914C-7FA5-97DD-FE82-64A0273EC24D}"/>
              </a:ext>
            </a:extLst>
          </p:cNvPr>
          <p:cNvSpPr txBox="1"/>
          <p:nvPr/>
        </p:nvSpPr>
        <p:spPr>
          <a:xfrm>
            <a:off x="0" y="6581001"/>
            <a:ext cx="10132219" cy="276999"/>
          </a:xfrm>
          <a:prstGeom prst="rect">
            <a:avLst/>
          </a:prstGeom>
          <a:noFill/>
        </p:spPr>
        <p:txBody>
          <a:bodyPr wrap="square">
            <a:spAutoFit/>
          </a:bodyPr>
          <a:lstStyle/>
          <a:p>
            <a:r>
              <a:rPr lang="en-US" sz="1200" b="1" dirty="0">
                <a:solidFill>
                  <a:schemeClr val="accent1"/>
                </a:solidFill>
              </a:rPr>
              <a:t>Prospects for extending the core-collapse supernova detection horizon using high-energy neutrinos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https://arxiv.org/pdf/2206.00450)</a:t>
            </a:r>
            <a:r>
              <a:rPr lang="en-US" sz="1200" dirty="0">
                <a:solidFill>
                  <a:schemeClr val="accent1"/>
                </a:solidFill>
                <a:hlinkClick r:id="rId2"/>
              </a:rPr>
              <a:t> </a:t>
            </a:r>
            <a:endParaRPr lang="it-IT" sz="1200" dirty="0">
              <a:solidFill>
                <a:schemeClr val="accent1"/>
              </a:solidFill>
            </a:endParaRPr>
          </a:p>
        </p:txBody>
      </p:sp>
      <p:sp>
        <p:nvSpPr>
          <p:cNvPr id="5" name="CasellaDiTesto 4">
            <a:extLst>
              <a:ext uri="{FF2B5EF4-FFF2-40B4-BE49-F238E27FC236}">
                <a16:creationId xmlns:a16="http://schemas.microsoft.com/office/drawing/2014/main" id="{9BC4AFF9-9B79-87CB-288A-E4FC21061373}"/>
              </a:ext>
            </a:extLst>
          </p:cNvPr>
          <p:cNvSpPr txBox="1"/>
          <p:nvPr/>
        </p:nvSpPr>
        <p:spPr>
          <a:xfrm>
            <a:off x="269080" y="652492"/>
            <a:ext cx="6130912" cy="2554545"/>
          </a:xfrm>
          <a:prstGeom prst="rect">
            <a:avLst/>
          </a:prstGeom>
          <a:noFill/>
        </p:spPr>
        <p:txBody>
          <a:bodyPr wrap="square">
            <a:spAutoFit/>
          </a:bodyPr>
          <a:lstStyle/>
          <a:p>
            <a:r>
              <a:rPr lang="en-US" sz="1600" dirty="0"/>
              <a:t>The core-collapse supernovae (</a:t>
            </a:r>
            <a:r>
              <a:rPr lang="en-US" sz="1600" dirty="0" err="1"/>
              <a:t>CCSNe</a:t>
            </a:r>
            <a:r>
              <a:rPr lang="en-US" sz="1600" dirty="0"/>
              <a:t>) explosion mechanism is driven by low energy (MeV) neutrinos, which release most of the system's gravitational binding energy.</a:t>
            </a:r>
          </a:p>
          <a:p>
            <a:r>
              <a:rPr lang="en-US" sz="1600" dirty="0">
                <a:solidFill>
                  <a:schemeClr val="accent1"/>
                </a:solidFill>
              </a:rPr>
              <a:t>In addition to MeV neutrinos, some </a:t>
            </a:r>
            <a:r>
              <a:rPr lang="en-US" sz="1600" dirty="0" err="1">
                <a:solidFill>
                  <a:schemeClr val="accent1"/>
                </a:solidFill>
              </a:rPr>
              <a:t>CCSNe</a:t>
            </a:r>
            <a:r>
              <a:rPr lang="en-US" sz="1600" dirty="0">
                <a:solidFill>
                  <a:schemeClr val="accent1"/>
                </a:solidFill>
              </a:rPr>
              <a:t> are good candidates for the production of high-energy (HE) neutrinos at GeV and higher due to dense circumstellar material (CSM), which provides target material for the ejecta to form shocks and accelerate protons with matter via hadronuclear (pp interaction) or photohadronic (</a:t>
            </a:r>
            <a:r>
              <a:rPr lang="en-US" sz="1600" dirty="0" err="1">
                <a:solidFill>
                  <a:schemeClr val="accent1"/>
                </a:solidFill>
              </a:rPr>
              <a:t>pγ</a:t>
            </a:r>
            <a:r>
              <a:rPr lang="en-US" sz="1600" dirty="0">
                <a:solidFill>
                  <a:schemeClr val="accent1"/>
                </a:solidFill>
              </a:rPr>
              <a:t>) mechanism</a:t>
            </a:r>
            <a:r>
              <a:rPr lang="en-US" sz="1600" dirty="0"/>
              <a:t>. While these neutrinos have yet to be observed, there are recent hints of HE neutrinos in connection with the SN 1987A (</a:t>
            </a:r>
            <a:r>
              <a:rPr lang="en-US" sz="1600" dirty="0" err="1">
                <a:hlinkClick r:id="rId3"/>
              </a:rPr>
              <a:t>Oyama</a:t>
            </a:r>
            <a:r>
              <a:rPr lang="en-US" sz="1600" dirty="0">
                <a:hlinkClick r:id="rId3"/>
              </a:rPr>
              <a:t> 2022</a:t>
            </a:r>
            <a:r>
              <a:rPr lang="en-US" sz="1600" dirty="0"/>
              <a:t>).</a:t>
            </a:r>
          </a:p>
        </p:txBody>
      </p:sp>
      <p:pic>
        <p:nvPicPr>
          <p:cNvPr id="7" name="Immagine 6" descr="Immagine che contiene schermata, cerchio, orologio, Policromia&#10;&#10;Descrizione generata automaticamente">
            <a:extLst>
              <a:ext uri="{FF2B5EF4-FFF2-40B4-BE49-F238E27FC236}">
                <a16:creationId xmlns:a16="http://schemas.microsoft.com/office/drawing/2014/main" id="{BEB00CCC-BEF2-6B6E-B63E-96A70A83AE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9992" y="269507"/>
            <a:ext cx="5792008" cy="3324689"/>
          </a:xfrm>
          <a:prstGeom prst="rect">
            <a:avLst/>
          </a:prstGeom>
        </p:spPr>
      </p:pic>
      <p:sp>
        <p:nvSpPr>
          <p:cNvPr id="9" name="CasellaDiTesto 8">
            <a:extLst>
              <a:ext uri="{FF2B5EF4-FFF2-40B4-BE49-F238E27FC236}">
                <a16:creationId xmlns:a16="http://schemas.microsoft.com/office/drawing/2014/main" id="{98054F9F-00AF-9DE0-FDD8-DB5B32A66ED1}"/>
              </a:ext>
            </a:extLst>
          </p:cNvPr>
          <p:cNvSpPr txBox="1"/>
          <p:nvPr/>
        </p:nvSpPr>
        <p:spPr>
          <a:xfrm>
            <a:off x="154781" y="3739857"/>
            <a:ext cx="11741944" cy="2308324"/>
          </a:xfrm>
          <a:prstGeom prst="rect">
            <a:avLst/>
          </a:prstGeom>
          <a:noFill/>
        </p:spPr>
        <p:txBody>
          <a:bodyPr wrap="square">
            <a:spAutoFit/>
          </a:bodyPr>
          <a:lstStyle/>
          <a:p>
            <a:pPr marL="285750" indent="-285750">
              <a:buFont typeface="Arial" panose="020B0604020202020204" pitchFamily="34" charset="0"/>
              <a:buChar char="•"/>
            </a:pPr>
            <a:r>
              <a:rPr lang="en-US" sz="1600" dirty="0"/>
              <a:t>Neutrino telescopes such as the </a:t>
            </a:r>
            <a:r>
              <a:rPr lang="en-US" sz="1600" dirty="0" err="1"/>
              <a:t>IceCube</a:t>
            </a:r>
            <a:r>
              <a:rPr lang="en-US" sz="1600" dirty="0"/>
              <a:t> Neutrino Observatory and KM3NeT observe the burst of MeV neutrinos from </a:t>
            </a:r>
            <a:r>
              <a:rPr lang="en-US" sz="1600" dirty="0" err="1"/>
              <a:t>CCSNe</a:t>
            </a:r>
            <a:r>
              <a:rPr lang="en-US" sz="1600" dirty="0"/>
              <a:t> as single-photon hits from interactions that occur near the photomultiplier tubes (PMTs). This makes the measurement quite sensitive to the high level of single photon noise due to, for example, the dark noise in the PMT or radioactivity of the PMT glass </a:t>
            </a:r>
            <a:r>
              <a:rPr lang="en-US" sz="1600" dirty="0">
                <a:sym typeface="Wingdings" panose="05000000000000000000" pitchFamily="2" charset="2"/>
              </a:rPr>
              <a:t> </a:t>
            </a:r>
            <a:r>
              <a:rPr lang="en-US" sz="1600" dirty="0"/>
              <a:t>This limits the ability for neutrino telescopes to observe faint signals from </a:t>
            </a:r>
            <a:r>
              <a:rPr lang="en-US" sz="1600" dirty="0" err="1"/>
              <a:t>CCSNe</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Despite the large size of the detector, at MeV energies </a:t>
            </a:r>
            <a:r>
              <a:rPr lang="en-US" sz="1600" dirty="0" err="1"/>
              <a:t>IceCube</a:t>
            </a:r>
            <a:r>
              <a:rPr lang="en-US" sz="1600" dirty="0"/>
              <a:t> has a detection horizon for </a:t>
            </a:r>
            <a:r>
              <a:rPr lang="en-US" sz="1600" dirty="0" err="1"/>
              <a:t>CCSNe</a:t>
            </a:r>
            <a:r>
              <a:rPr lang="en-US" sz="1600" dirty="0"/>
              <a:t> of ∼ 50 kpc, and KM3NeT has an expected reach of ∼ 50−60 kpc, in contrast to detectors with tighter PMT spacing like Super-K, which has nearly a double reach of ∼ 100 kpc (Ikeda et al. 2007). For next generation detectors like Hyper-K, the detection horizon for low energy neutrinos from </a:t>
            </a:r>
            <a:r>
              <a:rPr lang="en-US" sz="1600" dirty="0" err="1"/>
              <a:t>CCSNe</a:t>
            </a:r>
            <a:r>
              <a:rPr lang="en-US" sz="1600" dirty="0"/>
              <a:t> is expected to reach ∼ 1 </a:t>
            </a:r>
            <a:r>
              <a:rPr lang="en-US" sz="1600" dirty="0" err="1"/>
              <a:t>Mpc</a:t>
            </a:r>
            <a:r>
              <a:rPr lang="en-US" sz="1600" dirty="0"/>
              <a:t>.</a:t>
            </a:r>
          </a:p>
        </p:txBody>
      </p:sp>
    </p:spTree>
    <p:extLst>
      <p:ext uri="{BB962C8B-B14F-4D97-AF65-F5344CB8AC3E}">
        <p14:creationId xmlns:p14="http://schemas.microsoft.com/office/powerpoint/2010/main" val="91292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969F914C-7FA5-97DD-FE82-64A0273EC24D}"/>
              </a:ext>
            </a:extLst>
          </p:cNvPr>
          <p:cNvSpPr txBox="1"/>
          <p:nvPr/>
        </p:nvSpPr>
        <p:spPr>
          <a:xfrm>
            <a:off x="0" y="6581001"/>
            <a:ext cx="10132219" cy="276999"/>
          </a:xfrm>
          <a:prstGeom prst="rect">
            <a:avLst/>
          </a:prstGeom>
          <a:noFill/>
        </p:spPr>
        <p:txBody>
          <a:bodyPr wrap="square">
            <a:spAutoFit/>
          </a:bodyPr>
          <a:lstStyle/>
          <a:p>
            <a:r>
              <a:rPr lang="en-US" sz="1200" b="1" dirty="0">
                <a:solidFill>
                  <a:schemeClr val="accent1"/>
                </a:solidFill>
              </a:rPr>
              <a:t>Prospects for extending the core-collapse supernova detection horizon using high-energy neutrinos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https://arxiv.org/pdf/2206.00450)</a:t>
            </a:r>
            <a:r>
              <a:rPr lang="en-US" sz="1200" dirty="0">
                <a:solidFill>
                  <a:schemeClr val="accent1"/>
                </a:solidFill>
                <a:hlinkClick r:id="rId2"/>
              </a:rPr>
              <a:t> </a:t>
            </a:r>
            <a:endParaRPr lang="it-IT" sz="1200" dirty="0">
              <a:solidFill>
                <a:schemeClr val="accent1"/>
              </a:solidFill>
            </a:endParaRPr>
          </a:p>
        </p:txBody>
      </p:sp>
      <p:sp>
        <p:nvSpPr>
          <p:cNvPr id="5" name="CasellaDiTesto 4">
            <a:extLst>
              <a:ext uri="{FF2B5EF4-FFF2-40B4-BE49-F238E27FC236}">
                <a16:creationId xmlns:a16="http://schemas.microsoft.com/office/drawing/2014/main" id="{9BC4AFF9-9B79-87CB-288A-E4FC21061373}"/>
              </a:ext>
            </a:extLst>
          </p:cNvPr>
          <p:cNvSpPr txBox="1"/>
          <p:nvPr/>
        </p:nvSpPr>
        <p:spPr>
          <a:xfrm>
            <a:off x="269080" y="909548"/>
            <a:ext cx="11637170" cy="4278094"/>
          </a:xfrm>
          <a:prstGeom prst="rect">
            <a:avLst/>
          </a:prstGeom>
          <a:noFill/>
        </p:spPr>
        <p:txBody>
          <a:bodyPr wrap="square">
            <a:spAutoFit/>
          </a:bodyPr>
          <a:lstStyle/>
          <a:p>
            <a:r>
              <a:rPr lang="en-US" sz="1600" dirty="0">
                <a:solidFill>
                  <a:schemeClr val="accent1"/>
                </a:solidFill>
                <a:latin typeface="Neue Haas Grotesk Text Pro" panose="020B0504020202020204" pitchFamily="34" charset="0"/>
              </a:rPr>
              <a:t>The potential to extend the detection horizon past the </a:t>
            </a:r>
            <a:r>
              <a:rPr lang="en-US" sz="1600" dirty="0" err="1">
                <a:solidFill>
                  <a:schemeClr val="accent1"/>
                </a:solidFill>
                <a:latin typeface="Neue Haas Grotesk Text Pro" panose="020B0504020202020204" pitchFamily="34" charset="0"/>
              </a:rPr>
              <a:t>Magellanic</a:t>
            </a:r>
            <a:r>
              <a:rPr lang="en-US" sz="1600" dirty="0">
                <a:solidFill>
                  <a:schemeClr val="accent1"/>
                </a:solidFill>
                <a:latin typeface="Neue Haas Grotesk Text Pro" panose="020B0504020202020204" pitchFamily="34" charset="0"/>
              </a:rPr>
              <a:t> Clouds through detecting HE neutrinos has to be explored</a:t>
            </a:r>
            <a:r>
              <a:rPr lang="en-US" sz="1600" dirty="0">
                <a:latin typeface="Neue Haas Grotesk Text Pro" panose="020B0504020202020204" pitchFamily="34" charset="0"/>
              </a:rPr>
              <a:t>. </a:t>
            </a:r>
          </a:p>
          <a:p>
            <a:endParaRPr lang="en-US" sz="1600" dirty="0">
              <a:latin typeface="Neue Haas Grotesk Text Pro" panose="020B0504020202020204" pitchFamily="34" charset="0"/>
            </a:endParaRPr>
          </a:p>
          <a:p>
            <a:pPr marL="285750" indent="-285750">
              <a:buFont typeface="Arial" panose="020B0604020202020204" pitchFamily="34" charset="0"/>
              <a:buChar char="•"/>
            </a:pPr>
            <a:r>
              <a:rPr lang="en-US" sz="1600" dirty="0">
                <a:latin typeface="Neue Haas Grotesk Text Pro" panose="020B0504020202020204" pitchFamily="34" charset="0"/>
              </a:rPr>
              <a:t>To increase the number of observable supernovae, these neutrinos could give us an insight into the cosmic ray acceleration processes, which are inaccessible with the low-energy neutrinos produced through nuclear processes in supernovae. </a:t>
            </a:r>
          </a:p>
          <a:p>
            <a:endParaRPr lang="en-US" sz="1600" dirty="0">
              <a:latin typeface="Neue Haas Grotesk Text Pro" panose="020B0504020202020204" pitchFamily="34" charset="0"/>
            </a:endParaRPr>
          </a:p>
          <a:p>
            <a:pPr marL="285750" indent="-285750">
              <a:buFont typeface="Arial" panose="020B0604020202020204" pitchFamily="34" charset="0"/>
              <a:buChar char="•"/>
            </a:pPr>
            <a:r>
              <a:rPr lang="en-US" sz="1600" dirty="0">
                <a:latin typeface="Neue Haas Grotesk Text Pro" panose="020B0504020202020204" pitchFamily="34" charset="0"/>
              </a:rPr>
              <a:t>We consider two production mechanisms for HE neutrinos in </a:t>
            </a:r>
            <a:r>
              <a:rPr lang="en-US" sz="1600" dirty="0" err="1">
                <a:latin typeface="Neue Haas Grotesk Text Pro" panose="020B0504020202020204" pitchFamily="34" charset="0"/>
              </a:rPr>
              <a:t>CCSNe</a:t>
            </a:r>
            <a:r>
              <a:rPr lang="en-US" sz="1600" dirty="0">
                <a:latin typeface="Neue Haas Grotesk Text Pro" panose="020B0504020202020204" pitchFamily="34" charset="0"/>
              </a:rPr>
              <a:t>: one through </a:t>
            </a:r>
            <a:r>
              <a:rPr lang="en-US" sz="1600" dirty="0">
                <a:solidFill>
                  <a:schemeClr val="accent1"/>
                </a:solidFill>
                <a:latin typeface="Neue Haas Grotesk Text Pro" panose="020B0504020202020204" pitchFamily="34" charset="0"/>
              </a:rPr>
              <a:t>the interaction between supernova ejecta with CSM </a:t>
            </a:r>
            <a:r>
              <a:rPr lang="en-US" sz="1600" dirty="0">
                <a:latin typeface="Neue Haas Grotesk Text Pro" panose="020B0504020202020204" pitchFamily="34" charset="0"/>
              </a:rPr>
              <a:t>(</a:t>
            </a:r>
            <a:r>
              <a:rPr lang="en-US" sz="1600" dirty="0" err="1">
                <a:latin typeface="Neue Haas Grotesk Text Pro" panose="020B0504020202020204" pitchFamily="34" charset="0"/>
                <a:hlinkClick r:id="rId3">
                  <a:extLst>
                    <a:ext uri="{A12FA001-AC4F-418D-AE19-62706E023703}">
                      <ahyp:hlinkClr xmlns:ahyp="http://schemas.microsoft.com/office/drawing/2018/hyperlinkcolor" val="tx"/>
                    </a:ext>
                  </a:extLst>
                </a:hlinkClick>
              </a:rPr>
              <a:t>Murase</a:t>
            </a:r>
            <a:r>
              <a:rPr lang="en-US" sz="1600" dirty="0">
                <a:latin typeface="Neue Haas Grotesk Text Pro" panose="020B0504020202020204" pitchFamily="34" charset="0"/>
                <a:hlinkClick r:id="rId3">
                  <a:extLst>
                    <a:ext uri="{A12FA001-AC4F-418D-AE19-62706E023703}">
                      <ahyp:hlinkClr xmlns:ahyp="http://schemas.microsoft.com/office/drawing/2018/hyperlinkcolor" val="tx"/>
                    </a:ext>
                  </a:extLst>
                </a:hlinkClick>
              </a:rPr>
              <a:t> 2018</a:t>
            </a:r>
            <a:r>
              <a:rPr lang="en-US" sz="1600" dirty="0">
                <a:latin typeface="Neue Haas Grotesk Text Pro" panose="020B0504020202020204" pitchFamily="34" charset="0"/>
              </a:rPr>
              <a:t>) and the other through </a:t>
            </a:r>
            <a:r>
              <a:rPr lang="en-US" sz="1600" dirty="0">
                <a:solidFill>
                  <a:schemeClr val="accent1"/>
                </a:solidFill>
                <a:latin typeface="Neue Haas Grotesk Text Pro" panose="020B0504020202020204" pitchFamily="34" charset="0"/>
              </a:rPr>
              <a:t>relativistic choked jets </a:t>
            </a:r>
            <a:r>
              <a:rPr lang="en-US" sz="1600" dirty="0">
                <a:latin typeface="Neue Haas Grotesk Text Pro" panose="020B0504020202020204" pitchFamily="34" charset="0"/>
              </a:rPr>
              <a:t>(</a:t>
            </a:r>
            <a:r>
              <a:rPr lang="en-US" sz="1600" dirty="0">
                <a:latin typeface="Neue Haas Grotesk Text Pro" panose="020B0504020202020204" pitchFamily="34" charset="0"/>
                <a:hlinkClick r:id="rId4">
                  <a:extLst>
                    <a:ext uri="{A12FA001-AC4F-418D-AE19-62706E023703}">
                      <ahyp:hlinkClr xmlns:ahyp="http://schemas.microsoft.com/office/drawing/2018/hyperlinkcolor" val="tx"/>
                    </a:ext>
                  </a:extLst>
                </a:hlinkClick>
              </a:rPr>
              <a:t>Enberg et al. 2009</a:t>
            </a:r>
            <a:r>
              <a:rPr lang="en-US" sz="1600" dirty="0">
                <a:latin typeface="Neue Haas Grotesk Text Pro" panose="020B0504020202020204" pitchFamily="34" charset="0"/>
              </a:rPr>
              <a:t>).</a:t>
            </a:r>
          </a:p>
          <a:p>
            <a:pPr marL="285750" indent="-285750">
              <a:buFont typeface="Arial" panose="020B0604020202020204" pitchFamily="34" charset="0"/>
              <a:buChar char="•"/>
            </a:pPr>
            <a:endParaRPr lang="en-US" sz="1600" dirty="0">
              <a:latin typeface="Neue Haas Grotesk Text Pro" panose="020B0504020202020204" pitchFamily="34" charset="0"/>
            </a:endParaRPr>
          </a:p>
          <a:p>
            <a:pPr marL="800100" lvl="1" indent="-342900">
              <a:buFont typeface="+mj-lt"/>
              <a:buAutoNum type="arabicPeriod"/>
            </a:pPr>
            <a:r>
              <a:rPr lang="en-US" sz="1600" dirty="0">
                <a:latin typeface="Neue Haas Grotesk Text Pro" panose="020B0504020202020204" pitchFamily="34" charset="0"/>
              </a:rPr>
              <a:t>The CSM-ejecta model was first proposed in </a:t>
            </a:r>
            <a:r>
              <a:rPr lang="en-US" sz="1600" dirty="0" err="1">
                <a:latin typeface="Neue Haas Grotesk Text Pro" panose="020B0504020202020204" pitchFamily="34" charset="0"/>
              </a:rPr>
              <a:t>Murase</a:t>
            </a:r>
            <a:r>
              <a:rPr lang="en-US" sz="1600" dirty="0">
                <a:latin typeface="Neue Haas Grotesk Text Pro" panose="020B0504020202020204" pitchFamily="34" charset="0"/>
              </a:rPr>
              <a:t> et al. (2011) and predicted neutrino emission times between 0.1 day to 1-year post-core bounce. This model was recently extended: this HE neutrino flux can contribute to the flux of diffuse neutrinos found </a:t>
            </a:r>
            <a:r>
              <a:rPr lang="en-US" sz="1600" dirty="0">
                <a:latin typeface="Neue Haas Grotesk Text Pro" panose="020B0504020202020204" pitchFamily="34" charset="0"/>
                <a:hlinkClick r:id="rId5"/>
              </a:rPr>
              <a:t>by </a:t>
            </a:r>
            <a:r>
              <a:rPr lang="en-US" sz="1600" dirty="0" err="1">
                <a:latin typeface="Neue Haas Grotesk Text Pro" panose="020B0504020202020204" pitchFamily="34" charset="0"/>
                <a:hlinkClick r:id="rId5"/>
              </a:rPr>
              <a:t>IceCube</a:t>
            </a:r>
            <a:r>
              <a:rPr lang="en-US" sz="1600" dirty="0">
                <a:latin typeface="Neue Haas Grotesk Text Pro" panose="020B0504020202020204" pitchFamily="34" charset="0"/>
              </a:rPr>
              <a:t>. </a:t>
            </a:r>
          </a:p>
          <a:p>
            <a:pPr marL="800100" lvl="1" indent="-342900">
              <a:buFont typeface="+mj-lt"/>
              <a:buAutoNum type="arabicPeriod"/>
            </a:pPr>
            <a:endParaRPr lang="en-US" sz="1600" dirty="0">
              <a:latin typeface="Neue Haas Grotesk Text Pro" panose="020B0504020202020204" pitchFamily="34" charset="0"/>
            </a:endParaRPr>
          </a:p>
          <a:p>
            <a:pPr marL="800100" lvl="1" indent="-342900">
              <a:buFont typeface="+mj-lt"/>
              <a:buAutoNum type="arabicPeriod"/>
            </a:pPr>
            <a:r>
              <a:rPr lang="en-US" sz="1600" dirty="0">
                <a:latin typeface="Neue Haas Grotesk Text Pro" panose="020B0504020202020204" pitchFamily="34" charset="0"/>
              </a:rPr>
              <a:t>In the choked jet (CJ) scenario, the proposed progenitors are similar to gamma-ray bursts (GRBs), except the jets are slower and never break through the stellar envelope, leading to neutrinos without the counterpart gamma-ray emission.</a:t>
            </a:r>
          </a:p>
        </p:txBody>
      </p:sp>
      <p:sp>
        <p:nvSpPr>
          <p:cNvPr id="7" name="Titolo 1">
            <a:extLst>
              <a:ext uri="{FF2B5EF4-FFF2-40B4-BE49-F238E27FC236}">
                <a16:creationId xmlns:a16="http://schemas.microsoft.com/office/drawing/2014/main" id="{1C23F9BE-71C3-8230-2D11-F86038F93ABC}"/>
              </a:ext>
            </a:extLst>
          </p:cNvPr>
          <p:cNvSpPr txBox="1">
            <a:spLocks/>
          </p:cNvSpPr>
          <p:nvPr/>
        </p:nvSpPr>
        <p:spPr>
          <a:xfrm>
            <a:off x="0" y="0"/>
            <a:ext cx="9944100" cy="539015"/>
          </a:xfrm>
          <a:prstGeom prst="rect">
            <a:avLst/>
          </a:prstGeom>
          <a:solidFill>
            <a:schemeClr val="bg1">
              <a:lumMod val="85000"/>
            </a:schemeClr>
          </a:solidFill>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it-IT" sz="2800" b="1">
                <a:solidFill>
                  <a:schemeClr val="accent1"/>
                </a:solidFill>
              </a:rPr>
              <a:t> High-energy neutrinos form SNe: the CSM ejecta model and CJ scenario</a:t>
            </a:r>
            <a:endParaRPr lang="it-IT" sz="2800" b="1" dirty="0">
              <a:solidFill>
                <a:schemeClr val="accent1"/>
              </a:solidFill>
            </a:endParaRPr>
          </a:p>
        </p:txBody>
      </p:sp>
    </p:spTree>
    <p:extLst>
      <p:ext uri="{BB962C8B-B14F-4D97-AF65-F5344CB8AC3E}">
        <p14:creationId xmlns:p14="http://schemas.microsoft.com/office/powerpoint/2010/main" val="757928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9944100"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High-energy </a:t>
            </a:r>
            <a:r>
              <a:rPr lang="it-IT" sz="2800" b="1" dirty="0" err="1">
                <a:solidFill>
                  <a:schemeClr val="accent1"/>
                </a:solidFill>
              </a:rPr>
              <a:t>neutrinos</a:t>
            </a:r>
            <a:r>
              <a:rPr lang="it-IT" sz="2800" b="1" dirty="0">
                <a:solidFill>
                  <a:schemeClr val="accent1"/>
                </a:solidFill>
              </a:rPr>
              <a:t> </a:t>
            </a:r>
            <a:r>
              <a:rPr lang="it-IT" sz="2800" b="1" dirty="0" err="1">
                <a:solidFill>
                  <a:schemeClr val="accent1"/>
                </a:solidFill>
              </a:rPr>
              <a:t>form</a:t>
            </a:r>
            <a:r>
              <a:rPr lang="it-IT" sz="2800" b="1" dirty="0">
                <a:solidFill>
                  <a:schemeClr val="accent1"/>
                </a:solidFill>
              </a:rPr>
              <a:t> </a:t>
            </a:r>
            <a:r>
              <a:rPr lang="it-IT" sz="2800" b="1" dirty="0" err="1">
                <a:solidFill>
                  <a:schemeClr val="accent1"/>
                </a:solidFill>
              </a:rPr>
              <a:t>SNe</a:t>
            </a:r>
            <a:r>
              <a:rPr lang="it-IT" sz="2800" b="1" dirty="0">
                <a:solidFill>
                  <a:schemeClr val="accent1"/>
                </a:solidFill>
              </a:rPr>
              <a:t>: the CSM </a:t>
            </a:r>
            <a:r>
              <a:rPr lang="it-IT" sz="2800" b="1" dirty="0" err="1">
                <a:solidFill>
                  <a:schemeClr val="accent1"/>
                </a:solidFill>
              </a:rPr>
              <a:t>ejecta</a:t>
            </a:r>
            <a:r>
              <a:rPr lang="it-IT" sz="2800" b="1" dirty="0">
                <a:solidFill>
                  <a:schemeClr val="accent1"/>
                </a:solidFill>
              </a:rPr>
              <a:t> model and CJ scenario</a:t>
            </a:r>
          </a:p>
        </p:txBody>
      </p:sp>
      <p:sp>
        <p:nvSpPr>
          <p:cNvPr id="4" name="CasellaDiTesto 3">
            <a:extLst>
              <a:ext uri="{FF2B5EF4-FFF2-40B4-BE49-F238E27FC236}">
                <a16:creationId xmlns:a16="http://schemas.microsoft.com/office/drawing/2014/main" id="{969F914C-7FA5-97DD-FE82-64A0273EC24D}"/>
              </a:ext>
            </a:extLst>
          </p:cNvPr>
          <p:cNvSpPr txBox="1"/>
          <p:nvPr/>
        </p:nvSpPr>
        <p:spPr>
          <a:xfrm>
            <a:off x="0" y="6581001"/>
            <a:ext cx="10132219" cy="276999"/>
          </a:xfrm>
          <a:prstGeom prst="rect">
            <a:avLst/>
          </a:prstGeom>
          <a:noFill/>
        </p:spPr>
        <p:txBody>
          <a:bodyPr wrap="square">
            <a:spAutoFit/>
          </a:bodyPr>
          <a:lstStyle/>
          <a:p>
            <a:r>
              <a:rPr lang="en-US" sz="1200" b="1" dirty="0">
                <a:solidFill>
                  <a:schemeClr val="accent1"/>
                </a:solidFill>
              </a:rPr>
              <a:t>Prospects for extending the core-collapse supernova detection horizon using high-energy neutrinos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https://arxiv.org/pdf/2206.00450)</a:t>
            </a:r>
            <a:r>
              <a:rPr lang="en-US" sz="1200" dirty="0">
                <a:solidFill>
                  <a:schemeClr val="accent1"/>
                </a:solidFill>
                <a:hlinkClick r:id="rId2"/>
              </a:rPr>
              <a:t> </a:t>
            </a:r>
            <a:endParaRPr lang="it-IT" sz="1200" dirty="0">
              <a:solidFill>
                <a:schemeClr val="accent1"/>
              </a:solidFill>
            </a:endParaRPr>
          </a:p>
        </p:txBody>
      </p:sp>
      <p:sp>
        <p:nvSpPr>
          <p:cNvPr id="5" name="CasellaDiTesto 4">
            <a:extLst>
              <a:ext uri="{FF2B5EF4-FFF2-40B4-BE49-F238E27FC236}">
                <a16:creationId xmlns:a16="http://schemas.microsoft.com/office/drawing/2014/main" id="{9BC4AFF9-9B79-87CB-288A-E4FC21061373}"/>
              </a:ext>
            </a:extLst>
          </p:cNvPr>
          <p:cNvSpPr txBox="1"/>
          <p:nvPr/>
        </p:nvSpPr>
        <p:spPr>
          <a:xfrm>
            <a:off x="76200" y="1062890"/>
            <a:ext cx="6180535" cy="5509200"/>
          </a:xfrm>
          <a:prstGeom prst="rect">
            <a:avLst/>
          </a:prstGeom>
          <a:solidFill>
            <a:schemeClr val="accent6">
              <a:lumMod val="20000"/>
              <a:lumOff val="80000"/>
            </a:schemeClr>
          </a:solidFill>
        </p:spPr>
        <p:txBody>
          <a:bodyPr wrap="square">
            <a:spAutoFit/>
          </a:bodyPr>
          <a:lstStyle/>
          <a:p>
            <a:pPr algn="ctr"/>
            <a:r>
              <a:rPr lang="en-US" sz="1600" spc="300" dirty="0">
                <a:solidFill>
                  <a:schemeClr val="accent1"/>
                </a:solidFill>
              </a:rPr>
              <a:t>Supernovae that have experienced mass loss before the explosion due to, for example, stellar winds are surrounded by CSM</a:t>
            </a:r>
            <a:r>
              <a:rPr lang="en-US" sz="1600" spc="300" dirty="0"/>
              <a:t>. </a:t>
            </a:r>
          </a:p>
          <a:p>
            <a:pPr algn="ctr"/>
            <a:endParaRPr lang="en-US" sz="1600" dirty="0"/>
          </a:p>
          <a:p>
            <a:r>
              <a:rPr lang="en-US" sz="1600" dirty="0"/>
              <a:t>The type of supernovae is characterized by optical observations and are associated with different amounts of CSM. </a:t>
            </a:r>
            <a:br>
              <a:rPr lang="en-US" sz="1600" dirty="0"/>
            </a:br>
            <a:endParaRPr lang="en-US" sz="1600" dirty="0"/>
          </a:p>
          <a:p>
            <a:pPr marL="285750" indent="-285750">
              <a:buFont typeface="Arial" panose="020B0604020202020204" pitchFamily="34" charset="0"/>
              <a:buChar char="•"/>
            </a:pPr>
            <a:r>
              <a:rPr lang="en-US" sz="1600" b="1" dirty="0"/>
              <a:t>Type </a:t>
            </a:r>
            <a:r>
              <a:rPr lang="en-US" sz="1600" b="1" dirty="0" err="1"/>
              <a:t>IIn</a:t>
            </a:r>
            <a:r>
              <a:rPr lang="en-US" sz="1600" b="1" dirty="0"/>
              <a:t> and </a:t>
            </a:r>
            <a:r>
              <a:rPr lang="en-US" sz="1600" b="1" dirty="0" err="1"/>
              <a:t>IIp</a:t>
            </a:r>
            <a:r>
              <a:rPr lang="en-US" sz="1600" b="1" dirty="0"/>
              <a:t> are associated with having a significant amount of CSM </a:t>
            </a:r>
            <a:r>
              <a:rPr lang="en-US" sz="1600" dirty="0"/>
              <a:t>in the O(10^−3 − 10^−1 ) M⊙yr−1 making them good candidates for HE neutrino emission via Fermi shocks.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When the supernova explodes, the ejecta compresses the CSM, forming shocks. These shocks propagate in the CSM, creating an environment where charged particles are trapped and scattered. </a:t>
            </a:r>
            <a:br>
              <a:rPr lang="en-US" sz="1600" dirty="0"/>
            </a:br>
            <a:r>
              <a:rPr lang="en-US" sz="1600" dirty="0"/>
              <a:t>Via inelastic pp collisions, HE neutrinos are produced through processes like pp → π + → µ +νµ → e +</a:t>
            </a:r>
            <a:r>
              <a:rPr lang="en-US" sz="1600" dirty="0" err="1"/>
              <a:t>νeνµν</a:t>
            </a:r>
            <a:r>
              <a:rPr lang="en-US" sz="1600" dirty="0"/>
              <a:t>¯µ</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predicted neutrino flux depends on the </a:t>
            </a:r>
            <a:r>
              <a:rPr lang="en-US" sz="1600" dirty="0" err="1"/>
              <a:t>CCSNe</a:t>
            </a:r>
            <a:r>
              <a:rPr lang="en-US" sz="1600" dirty="0"/>
              <a:t> explosion parameters, including explosion energy, wind velocity, ejecta mass, and mass-loss rate (the reference distance for the model given in </a:t>
            </a:r>
            <a:r>
              <a:rPr lang="en-US" sz="1600" dirty="0" err="1"/>
              <a:t>Murase</a:t>
            </a:r>
            <a:r>
              <a:rPr lang="en-US" sz="1600" dirty="0"/>
              <a:t> (2018) is </a:t>
            </a:r>
            <a:r>
              <a:rPr lang="en-US" sz="1600" dirty="0" err="1"/>
              <a:t>dref</a:t>
            </a:r>
            <a:r>
              <a:rPr lang="en-US" sz="1600" dirty="0"/>
              <a:t> = 10 kpc).</a:t>
            </a:r>
          </a:p>
          <a:p>
            <a:pPr marL="285750" indent="-285750">
              <a:buFont typeface="Arial" panose="020B0604020202020204" pitchFamily="34" charset="0"/>
              <a:buChar char="•"/>
            </a:pPr>
            <a:endParaRPr lang="en-US" sz="1600" dirty="0"/>
          </a:p>
        </p:txBody>
      </p:sp>
      <p:sp>
        <p:nvSpPr>
          <p:cNvPr id="6" name="CasellaDiTesto 5">
            <a:extLst>
              <a:ext uri="{FF2B5EF4-FFF2-40B4-BE49-F238E27FC236}">
                <a16:creationId xmlns:a16="http://schemas.microsoft.com/office/drawing/2014/main" id="{020F1DFB-4728-B711-8CB3-482A5649BAF1}"/>
              </a:ext>
            </a:extLst>
          </p:cNvPr>
          <p:cNvSpPr txBox="1"/>
          <p:nvPr/>
        </p:nvSpPr>
        <p:spPr>
          <a:xfrm>
            <a:off x="6621064" y="1062890"/>
            <a:ext cx="5494736" cy="3293209"/>
          </a:xfrm>
          <a:prstGeom prst="rect">
            <a:avLst/>
          </a:prstGeom>
          <a:solidFill>
            <a:schemeClr val="accent6">
              <a:lumMod val="20000"/>
              <a:lumOff val="80000"/>
            </a:schemeClr>
          </a:solidFill>
        </p:spPr>
        <p:txBody>
          <a:bodyPr wrap="square">
            <a:spAutoFit/>
          </a:bodyPr>
          <a:lstStyle/>
          <a:p>
            <a:pPr algn="ctr"/>
            <a:r>
              <a:rPr lang="en-US" sz="1600" spc="300" dirty="0">
                <a:solidFill>
                  <a:schemeClr val="accent1"/>
                </a:solidFill>
              </a:rPr>
              <a:t>In the CJ scenario, a mildly relativistic jet in the collapsing star becomes trapped behind the optically-thick outer shell</a:t>
            </a:r>
            <a:r>
              <a:rPr lang="en-US" sz="1600" spc="300" dirty="0"/>
              <a:t>. </a:t>
            </a:r>
          </a:p>
          <a:p>
            <a:endParaRPr lang="en-US" sz="1600" dirty="0"/>
          </a:p>
          <a:p>
            <a:r>
              <a:rPr lang="en-US" sz="1600" dirty="0"/>
              <a:t>In contrast to gamma-ray bursts, where gamma rays produced in the jet can escape the star, only neutrinos escape the star in the CJ scenario. To predict the neutrino flux produced in CJ, Enberg et al. (2009) included the decay of charm mesons in addition to pion and kaon decay.</a:t>
            </a:r>
          </a:p>
          <a:p>
            <a:endParaRPr lang="en-US" sz="1600" dirty="0"/>
          </a:p>
          <a:p>
            <a:r>
              <a:rPr lang="en-US" sz="1600" b="1" dirty="0"/>
              <a:t>Type </a:t>
            </a:r>
            <a:r>
              <a:rPr lang="en-US" sz="1600" b="1" dirty="0" err="1"/>
              <a:t>Ib</a:t>
            </a:r>
            <a:r>
              <a:rPr lang="en-US" sz="1600" b="1" dirty="0"/>
              <a:t>/c and IIb are candidates for HE neutrino emission from CJ </a:t>
            </a:r>
            <a:r>
              <a:rPr lang="en-US" sz="1600" dirty="0"/>
              <a:t>(</a:t>
            </a:r>
            <a:r>
              <a:rPr lang="en-US" sz="1600" dirty="0" err="1"/>
              <a:t>Piran</a:t>
            </a:r>
            <a:r>
              <a:rPr lang="en-US" sz="1600" dirty="0"/>
              <a:t> et al. 2019).</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3872911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9944100"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Riassunto paper di </a:t>
            </a:r>
            <a:r>
              <a:rPr lang="it-IT" sz="2800" b="1" dirty="0" err="1">
                <a:solidFill>
                  <a:schemeClr val="accent1"/>
                </a:solidFill>
              </a:rPr>
              <a:t>icecube</a:t>
            </a:r>
            <a:r>
              <a:rPr lang="it-IT" sz="2800" b="1" dirty="0">
                <a:solidFill>
                  <a:schemeClr val="accent1"/>
                </a:solidFill>
              </a:rPr>
              <a:t> + Teresa </a:t>
            </a:r>
            <a:r>
              <a:rPr lang="it-IT" sz="2800" b="1" dirty="0" err="1">
                <a:solidFill>
                  <a:schemeClr val="accent1"/>
                </a:solidFill>
              </a:rPr>
              <a:t>montaruli</a:t>
            </a:r>
            <a:endParaRPr lang="it-IT" sz="2800" b="1" dirty="0">
              <a:solidFill>
                <a:schemeClr val="accent1"/>
              </a:solidFill>
            </a:endParaRPr>
          </a:p>
        </p:txBody>
      </p:sp>
      <p:sp>
        <p:nvSpPr>
          <p:cNvPr id="4" name="CasellaDiTesto 3">
            <a:extLst>
              <a:ext uri="{FF2B5EF4-FFF2-40B4-BE49-F238E27FC236}">
                <a16:creationId xmlns:a16="http://schemas.microsoft.com/office/drawing/2014/main" id="{969F914C-7FA5-97DD-FE82-64A0273EC24D}"/>
              </a:ext>
            </a:extLst>
          </p:cNvPr>
          <p:cNvSpPr txBox="1"/>
          <p:nvPr/>
        </p:nvSpPr>
        <p:spPr>
          <a:xfrm>
            <a:off x="0" y="6581001"/>
            <a:ext cx="10132219" cy="276999"/>
          </a:xfrm>
          <a:prstGeom prst="rect">
            <a:avLst/>
          </a:prstGeom>
          <a:noFill/>
        </p:spPr>
        <p:txBody>
          <a:bodyPr wrap="square">
            <a:spAutoFit/>
          </a:bodyPr>
          <a:lstStyle/>
          <a:p>
            <a:r>
              <a:rPr lang="en-US" sz="1200" b="1" dirty="0">
                <a:solidFill>
                  <a:schemeClr val="accent1"/>
                </a:solidFill>
              </a:rPr>
              <a:t>Prospects for extending the core-collapse supernova detection horizon using high-energy neutrinos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https://arxiv.org/pdf/2206.00450)</a:t>
            </a:r>
            <a:r>
              <a:rPr lang="en-US" sz="1200" dirty="0">
                <a:solidFill>
                  <a:schemeClr val="accent1"/>
                </a:solidFill>
                <a:hlinkClick r:id="rId2"/>
              </a:rPr>
              <a:t> </a:t>
            </a:r>
            <a:endParaRPr lang="it-IT" sz="1200" dirty="0">
              <a:solidFill>
                <a:schemeClr val="accent1"/>
              </a:solidFill>
            </a:endParaRPr>
          </a:p>
        </p:txBody>
      </p:sp>
    </p:spTree>
    <p:extLst>
      <p:ext uri="{BB962C8B-B14F-4D97-AF65-F5344CB8AC3E}">
        <p14:creationId xmlns:p14="http://schemas.microsoft.com/office/powerpoint/2010/main" val="339975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1" y="0"/>
            <a:ext cx="7010401"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High-energy </a:t>
            </a:r>
            <a:r>
              <a:rPr lang="it-IT" sz="2800" b="1" dirty="0" err="1">
                <a:solidFill>
                  <a:schemeClr val="accent1"/>
                </a:solidFill>
              </a:rPr>
              <a:t>neutrinos</a:t>
            </a:r>
            <a:r>
              <a:rPr lang="it-IT" sz="2800" b="1" dirty="0">
                <a:solidFill>
                  <a:schemeClr val="accent1"/>
                </a:solidFill>
              </a:rPr>
              <a:t> from </a:t>
            </a:r>
            <a:r>
              <a:rPr lang="it-IT" sz="2800" b="1" dirty="0" err="1">
                <a:solidFill>
                  <a:schemeClr val="accent1"/>
                </a:solidFill>
              </a:rPr>
              <a:t>nearby</a:t>
            </a:r>
            <a:r>
              <a:rPr lang="it-IT" sz="2800" b="1" dirty="0">
                <a:solidFill>
                  <a:schemeClr val="accent1"/>
                </a:solidFill>
              </a:rPr>
              <a:t> </a:t>
            </a:r>
            <a:r>
              <a:rPr lang="it-IT" sz="2800" b="1" dirty="0" err="1">
                <a:solidFill>
                  <a:schemeClr val="accent1"/>
                </a:solidFill>
              </a:rPr>
              <a:t>SNe</a:t>
            </a:r>
            <a:r>
              <a:rPr lang="it-IT" sz="2800" b="1" dirty="0">
                <a:solidFill>
                  <a:schemeClr val="accent1"/>
                </a:solidFill>
              </a:rPr>
              <a:t> (</a:t>
            </a:r>
            <a:r>
              <a:rPr lang="it-IT" sz="2800" b="1" dirty="0" err="1">
                <a:solidFill>
                  <a:schemeClr val="accent1"/>
                </a:solidFill>
              </a:rPr>
              <a:t>Murase</a:t>
            </a:r>
            <a:r>
              <a:rPr lang="it-IT" sz="2800" b="1" dirty="0">
                <a:solidFill>
                  <a:schemeClr val="accent1"/>
                </a:solidFill>
              </a:rPr>
              <a:t>)</a:t>
            </a:r>
          </a:p>
        </p:txBody>
      </p:sp>
      <p:sp>
        <p:nvSpPr>
          <p:cNvPr id="3" name="CasellaDiTesto 2">
            <a:extLst>
              <a:ext uri="{FF2B5EF4-FFF2-40B4-BE49-F238E27FC236}">
                <a16:creationId xmlns:a16="http://schemas.microsoft.com/office/drawing/2014/main" id="{5A144FA5-CC8E-EA2D-1507-0127394215DD}"/>
              </a:ext>
            </a:extLst>
          </p:cNvPr>
          <p:cNvSpPr txBox="1"/>
          <p:nvPr/>
        </p:nvSpPr>
        <p:spPr>
          <a:xfrm>
            <a:off x="0" y="6396335"/>
            <a:ext cx="11220450" cy="461665"/>
          </a:xfrm>
          <a:prstGeom prst="rect">
            <a:avLst/>
          </a:prstGeom>
          <a:noFill/>
        </p:spPr>
        <p:txBody>
          <a:bodyPr wrap="square">
            <a:spAutoFit/>
          </a:bodyPr>
          <a:lstStyle/>
          <a:p>
            <a:r>
              <a:rPr lang="en-US" sz="1200" b="1" dirty="0">
                <a:solidFill>
                  <a:schemeClr val="accent1"/>
                </a:solidFill>
              </a:rPr>
              <a:t>New prospects for detecting high-energy neutrinos from nearby supernovae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https://journals.aps.org/</a:t>
            </a:r>
            <a:r>
              <a:rPr lang="it-IT" sz="1200" dirty="0" err="1">
                <a:solidFill>
                  <a:schemeClr val="accent1"/>
                </a:solidFill>
                <a:latin typeface="Arial Nova Light" panose="020B0304020202020204" pitchFamily="34" charset="0"/>
                <a:hlinkClick r:id="rId2"/>
              </a:rPr>
              <a:t>prd</a:t>
            </a:r>
            <a:r>
              <a:rPr lang="it-IT" sz="1200" dirty="0">
                <a:solidFill>
                  <a:schemeClr val="accent1"/>
                </a:solidFill>
                <a:latin typeface="Arial Nova Light" panose="020B0304020202020204" pitchFamily="34" charset="0"/>
                <a:hlinkClick r:id="rId2"/>
              </a:rPr>
              <a:t>/abstract/10.1103/PhysRevD.97.081301</a:t>
            </a:r>
            <a:r>
              <a:rPr lang="it-IT" sz="1200" dirty="0">
                <a:solidFill>
                  <a:schemeClr val="accent1"/>
                </a:solidFill>
                <a:latin typeface="Arial Nova Light" panose="020B0304020202020204" pitchFamily="34" charset="0"/>
                <a:hlinkClick r:id="rId3"/>
              </a:rPr>
              <a:t>)</a:t>
            </a:r>
          </a:p>
          <a:p>
            <a:r>
              <a:rPr lang="en-US" sz="1200" b="1" dirty="0">
                <a:solidFill>
                  <a:schemeClr val="accent1"/>
                </a:solidFill>
                <a:hlinkClick r:id="rId3"/>
              </a:rPr>
              <a:t>Interacting supernovae as high-energy </a:t>
            </a:r>
            <a:r>
              <a:rPr lang="en-US" sz="1200" b="1" dirty="0" err="1">
                <a:solidFill>
                  <a:schemeClr val="accent1"/>
                </a:solidFill>
                <a:hlinkClick r:id="rId3"/>
              </a:rPr>
              <a:t>multimessenger</a:t>
            </a:r>
            <a:r>
              <a:rPr lang="en-US" sz="1200" b="1" dirty="0">
                <a:solidFill>
                  <a:schemeClr val="accent1"/>
                </a:solidFill>
                <a:hlinkClick r:id="rId3"/>
              </a:rPr>
              <a:t> transients </a:t>
            </a:r>
            <a:r>
              <a:rPr lang="en-US" sz="1200" b="1" dirty="0">
                <a:solidFill>
                  <a:schemeClr val="accent1"/>
                </a:solidFill>
              </a:rPr>
              <a:t> (</a:t>
            </a:r>
            <a:r>
              <a:rPr lang="en-US" sz="1200" u="sng" dirty="0">
                <a:solidFill>
                  <a:schemeClr val="accent1"/>
                </a:solidFill>
                <a:hlinkClick r:id="rId4"/>
              </a:rPr>
              <a:t>https://journals.aps.org/prd/abstract/10.1103/PhysRevD.109.103020</a:t>
            </a:r>
            <a:r>
              <a:rPr lang="en-US" sz="1200" b="1" dirty="0">
                <a:solidFill>
                  <a:schemeClr val="accent1"/>
                </a:solidFill>
              </a:rPr>
              <a:t>)</a:t>
            </a:r>
            <a:endParaRPr lang="it-IT" sz="1200" b="1" dirty="0">
              <a:solidFill>
                <a:schemeClr val="accent1"/>
              </a:solidFill>
            </a:endParaRPr>
          </a:p>
        </p:txBody>
      </p:sp>
      <p:sp>
        <p:nvSpPr>
          <p:cNvPr id="6" name="CasellaDiTesto 5">
            <a:extLst>
              <a:ext uri="{FF2B5EF4-FFF2-40B4-BE49-F238E27FC236}">
                <a16:creationId xmlns:a16="http://schemas.microsoft.com/office/drawing/2014/main" id="{0E6BC980-9418-F9EB-9A1E-B1B44D5C85F3}"/>
              </a:ext>
            </a:extLst>
          </p:cNvPr>
          <p:cNvSpPr txBox="1"/>
          <p:nvPr/>
        </p:nvSpPr>
        <p:spPr>
          <a:xfrm>
            <a:off x="5181599" y="797510"/>
            <a:ext cx="7010401" cy="5262979"/>
          </a:xfrm>
          <a:prstGeom prst="rect">
            <a:avLst/>
          </a:prstGeom>
          <a:noFill/>
        </p:spPr>
        <p:txBody>
          <a:bodyPr wrap="square">
            <a:spAutoFit/>
          </a:bodyPr>
          <a:lstStyle/>
          <a:p>
            <a:pPr marL="285750" indent="-285750" algn="l">
              <a:buFont typeface="Arial" panose="020B0604020202020204" pitchFamily="34" charset="0"/>
              <a:buChar char="•"/>
            </a:pPr>
            <a:r>
              <a:rPr lang="en-US" sz="1600" b="0" i="0" u="none" strike="noStrike" baseline="0" dirty="0">
                <a:solidFill>
                  <a:schemeClr val="accent1"/>
                </a:solidFill>
                <a:latin typeface="Neue Haas Grotesk Text Pro" panose="020B0504020202020204" pitchFamily="34" charset="0"/>
              </a:rPr>
              <a:t>SN remnants aged ∼ 10^3 − 10^4 </a:t>
            </a:r>
            <a:r>
              <a:rPr lang="en-US" sz="1600" b="0" i="0" u="none" strike="noStrike" baseline="0" dirty="0" err="1">
                <a:solidFill>
                  <a:schemeClr val="accent1"/>
                </a:solidFill>
                <a:latin typeface="Neue Haas Grotesk Text Pro" panose="020B0504020202020204" pitchFamily="34" charset="0"/>
              </a:rPr>
              <a:t>yr</a:t>
            </a:r>
            <a:r>
              <a:rPr lang="en-US" sz="1600" b="0" i="0" u="none" strike="noStrike" baseline="0" dirty="0">
                <a:solidFill>
                  <a:schemeClr val="accent1"/>
                </a:solidFill>
                <a:latin typeface="Neue Haas Grotesk Text Pro" panose="020B0504020202020204" pitchFamily="34" charset="0"/>
              </a:rPr>
              <a:t> are established as efficient particle accelerators</a:t>
            </a:r>
            <a:r>
              <a:rPr lang="en-US" sz="1600" dirty="0">
                <a:solidFill>
                  <a:schemeClr val="accent1"/>
                </a:solidFill>
                <a:latin typeface="Neue Haas Grotesk Text Pro" panose="020B0504020202020204" pitchFamily="34" charset="0"/>
              </a:rPr>
              <a:t>: </a:t>
            </a:r>
            <a:r>
              <a:rPr lang="en-US" sz="1600" dirty="0">
                <a:latin typeface="Neue Haas Grotesk Text Pro" panose="020B0504020202020204" pitchFamily="34" charset="0"/>
              </a:rPr>
              <a:t>they generate </a:t>
            </a:r>
            <a:r>
              <a:rPr lang="en-US" sz="1600" b="0" i="0" u="none" strike="noStrike" baseline="0" dirty="0">
                <a:latin typeface="Neue Haas Grotesk Text Pro" panose="020B0504020202020204" pitchFamily="34" charset="0"/>
              </a:rPr>
              <a:t>GeV-</a:t>
            </a:r>
            <a:r>
              <a:rPr lang="en-US" sz="1600" b="0" i="0" u="none" strike="noStrike" baseline="0" dirty="0" err="1">
                <a:latin typeface="Neue Haas Grotesk Text Pro" panose="020B0504020202020204" pitchFamily="34" charset="0"/>
              </a:rPr>
              <a:t>PeV</a:t>
            </a:r>
            <a:r>
              <a:rPr lang="en-US" sz="1600" b="0" i="0" u="none" strike="noStrike" baseline="0" dirty="0">
                <a:latin typeface="Neue Haas Grotesk Text Pro" panose="020B0504020202020204" pitchFamily="34" charset="0"/>
              </a:rPr>
              <a:t>  CRs that are accelerated at shocks via the Fermi mechanism.</a:t>
            </a:r>
          </a:p>
          <a:p>
            <a:pPr marL="285750" indent="-285750" algn="l">
              <a:buFont typeface="Arial" panose="020B0604020202020204" pitchFamily="34" charset="0"/>
              <a:buChar char="•"/>
            </a:pPr>
            <a:endParaRPr lang="it-IT" sz="1600" b="0" i="0" u="none" strike="noStrike" baseline="0" dirty="0">
              <a:latin typeface="Neue Haas Grotesk Text Pro" panose="020B0504020202020204" pitchFamily="34" charset="0"/>
            </a:endParaRPr>
          </a:p>
          <a:p>
            <a:pPr algn="l"/>
            <a:endParaRPr lang="it-IT" sz="1600" dirty="0">
              <a:latin typeface="Neue Haas Grotesk Text Pro" panose="020B0504020202020204" pitchFamily="34" charset="0"/>
            </a:endParaRPr>
          </a:p>
          <a:p>
            <a:pPr marL="285750" indent="-285750" algn="l">
              <a:buFont typeface="Arial" panose="020B0604020202020204" pitchFamily="34" charset="0"/>
              <a:buChar char="•"/>
            </a:pPr>
            <a:r>
              <a:rPr lang="en-US" sz="1600" b="0" i="0" u="none" strike="noStrike" baseline="0" dirty="0">
                <a:latin typeface="Neue Haas Grotesk Text Pro" panose="020B0504020202020204" pitchFamily="34" charset="0"/>
              </a:rPr>
              <a:t>Optical observations of various types of extragalactic </a:t>
            </a:r>
            <a:r>
              <a:rPr lang="en-US" sz="1600" b="0" i="0" u="none" strike="noStrike" baseline="0" dirty="0" err="1">
                <a:latin typeface="Neue Haas Grotesk Text Pro" panose="020B0504020202020204" pitchFamily="34" charset="0"/>
              </a:rPr>
              <a:t>SNe</a:t>
            </a:r>
            <a:r>
              <a:rPr lang="en-US" sz="1600" b="0" i="0" u="none" strike="noStrike" baseline="0" dirty="0">
                <a:latin typeface="Neue Haas Grotesk Text Pro" panose="020B0504020202020204" pitchFamily="34" charset="0"/>
              </a:rPr>
              <a:t> have provided evidence that a SN progenitor commonly experiences a significant mass</a:t>
            </a:r>
            <a:r>
              <a:rPr lang="it-IT" sz="1600" b="0" i="0" u="none" strike="noStrike" baseline="0" dirty="0">
                <a:latin typeface="Neue Haas Grotesk Text Pro" panose="020B0504020202020204" pitchFamily="34" charset="0"/>
              </a:rPr>
              <a:t> </a:t>
            </a:r>
            <a:r>
              <a:rPr lang="en-US" sz="1600" b="0" i="0" u="none" strike="noStrike" baseline="0" dirty="0">
                <a:latin typeface="Neue Haas Grotesk Text Pro" panose="020B0504020202020204" pitchFamily="34" charset="0"/>
              </a:rPr>
              <a:t>loss a short time before the explosion. </a:t>
            </a:r>
            <a:r>
              <a:rPr lang="en-US" sz="1600" b="0" i="0" u="none" strike="noStrike" baseline="0" dirty="0">
                <a:latin typeface="Neue Haas Grotesk Text Pro" panose="020B0504020202020204" pitchFamily="34" charset="0"/>
                <a:sym typeface="Wingdings" panose="05000000000000000000" pitchFamily="2" charset="2"/>
              </a:rPr>
              <a:t> </a:t>
            </a:r>
            <a:r>
              <a:rPr lang="en-US" sz="1600" b="0" i="0" u="none" strike="noStrike" baseline="0" dirty="0">
                <a:solidFill>
                  <a:schemeClr val="accent1"/>
                </a:solidFill>
                <a:latin typeface="Neue Haas Grotesk Text Pro" panose="020B0504020202020204" pitchFamily="34" charset="0"/>
              </a:rPr>
              <a:t>As a result, shock interactions with a dense circumstellar material (CSM) should occur, leading to efficient production of </a:t>
            </a:r>
            <a:r>
              <a:rPr lang="it-IT" sz="1600" b="0" i="0" u="none" strike="noStrike" baseline="0" dirty="0" err="1">
                <a:solidFill>
                  <a:schemeClr val="accent1"/>
                </a:solidFill>
                <a:latin typeface="Neue Haas Grotesk Text Pro" panose="020B0504020202020204" pitchFamily="34" charset="0"/>
              </a:rPr>
              <a:t>neutrinos</a:t>
            </a:r>
            <a:r>
              <a:rPr lang="it-IT" sz="1600" b="0" i="0" u="none" strike="noStrike" baseline="0" dirty="0">
                <a:solidFill>
                  <a:schemeClr val="accent1"/>
                </a:solidFill>
                <a:latin typeface="Neue Haas Grotesk Text Pro" panose="020B0504020202020204" pitchFamily="34" charset="0"/>
              </a:rPr>
              <a:t>.</a:t>
            </a:r>
          </a:p>
          <a:p>
            <a:pPr marL="285750" indent="-285750" algn="l">
              <a:buFont typeface="Arial" panose="020B0604020202020204" pitchFamily="34" charset="0"/>
              <a:buChar char="•"/>
            </a:pPr>
            <a:endParaRPr lang="it-IT" sz="1600" b="0" i="0" u="none" strike="noStrike" baseline="0" dirty="0">
              <a:solidFill>
                <a:schemeClr val="accent1"/>
              </a:solidFill>
              <a:latin typeface="Neue Haas Grotesk Text Pro" panose="020B0504020202020204" pitchFamily="34" charset="0"/>
            </a:endParaRPr>
          </a:p>
          <a:p>
            <a:pPr marL="285750" indent="-285750" algn="l">
              <a:buFont typeface="Arial" panose="020B0604020202020204" pitchFamily="34" charset="0"/>
              <a:buChar char="•"/>
            </a:pPr>
            <a:endParaRPr lang="it-IT" sz="1600" dirty="0">
              <a:latin typeface="Neue Haas Grotesk Text Pro" panose="020B0504020202020204" pitchFamily="34" charset="0"/>
            </a:endParaRPr>
          </a:p>
          <a:p>
            <a:pPr marL="285750" indent="-285750" algn="l">
              <a:buFont typeface="Arial" panose="020B0604020202020204" pitchFamily="34" charset="0"/>
              <a:buChar char="•"/>
            </a:pPr>
            <a:r>
              <a:rPr lang="en-US" sz="1600" b="1" i="0" u="none" strike="noStrike" baseline="0" dirty="0">
                <a:solidFill>
                  <a:schemeClr val="accent1"/>
                </a:solidFill>
                <a:latin typeface="Neue Haas Grotesk Text Pro" panose="020B0504020202020204" pitchFamily="34" charset="0"/>
              </a:rPr>
              <a:t>A new time-dependent calculations of high-energy neutrino emission from nearby </a:t>
            </a:r>
            <a:r>
              <a:rPr lang="en-US" sz="1600" b="1" i="0" u="none" strike="noStrike" baseline="0" dirty="0" err="1">
                <a:solidFill>
                  <a:schemeClr val="accent1"/>
                </a:solidFill>
                <a:latin typeface="Neue Haas Grotesk Text Pro" panose="020B0504020202020204" pitchFamily="34" charset="0"/>
              </a:rPr>
              <a:t>SNe</a:t>
            </a:r>
            <a:r>
              <a:rPr lang="en-US" sz="1600" b="1" i="0" u="none" strike="noStrike" baseline="0" dirty="0">
                <a:solidFill>
                  <a:schemeClr val="accent1"/>
                </a:solidFill>
                <a:latin typeface="Neue Haas Grotesk Text Pro" panose="020B0504020202020204" pitchFamily="34" charset="0"/>
              </a:rPr>
              <a:t> with dense CSM interactions, lead to a detailed high-energy neutrino light curves from different </a:t>
            </a:r>
            <a:r>
              <a:rPr lang="it-IT" sz="1600" b="1" i="0" u="none" strike="noStrike" baseline="0" dirty="0">
                <a:solidFill>
                  <a:schemeClr val="accent1"/>
                </a:solidFill>
                <a:latin typeface="Neue Haas Grotesk Text Pro" panose="020B0504020202020204" pitchFamily="34" charset="0"/>
              </a:rPr>
              <a:t>classes of </a:t>
            </a:r>
            <a:r>
              <a:rPr lang="it-IT" sz="1600" b="1" i="0" u="none" strike="noStrike" baseline="0" dirty="0" err="1">
                <a:solidFill>
                  <a:schemeClr val="accent1"/>
                </a:solidFill>
                <a:latin typeface="Neue Haas Grotesk Text Pro" panose="020B0504020202020204" pitchFamily="34" charset="0"/>
              </a:rPr>
              <a:t>SNe</a:t>
            </a:r>
            <a:r>
              <a:rPr lang="it-IT" sz="1600" b="1" i="0" u="none" strike="noStrike" baseline="0" dirty="0">
                <a:solidFill>
                  <a:schemeClr val="accent1"/>
                </a:solidFill>
                <a:latin typeface="Neue Haas Grotesk Text Pro" panose="020B0504020202020204" pitchFamily="34" charset="0"/>
              </a:rPr>
              <a:t>.</a:t>
            </a:r>
          </a:p>
          <a:p>
            <a:pPr algn="l"/>
            <a:endParaRPr lang="it-IT" sz="1600" dirty="0">
              <a:latin typeface="Neue Haas Grotesk Text Pro" panose="020B0504020202020204" pitchFamily="34" charset="0"/>
            </a:endParaRPr>
          </a:p>
          <a:p>
            <a:pPr algn="l"/>
            <a:endParaRPr lang="it-IT" sz="1600" dirty="0">
              <a:latin typeface="Neue Haas Grotesk Text Pro" panose="020B0504020202020204" pitchFamily="34" charset="0"/>
            </a:endParaRPr>
          </a:p>
          <a:p>
            <a:pPr marL="285750" indent="-285750" algn="l">
              <a:buFont typeface="Arial" panose="020B0604020202020204" pitchFamily="34" charset="0"/>
              <a:buChar char="•"/>
            </a:pPr>
            <a:r>
              <a:rPr lang="en-US" sz="1600" b="1" i="0" u="none" strike="noStrike" baseline="0" dirty="0">
                <a:latin typeface="Neue Haas Grotesk Text Pro" panose="020B0504020202020204" pitchFamily="34" charset="0"/>
              </a:rPr>
              <a:t>∼ 0.1 − 10 days after detections of MeV neutrinos and gravitational waves, a high-statistics </a:t>
            </a:r>
            <a:r>
              <a:rPr lang="en-US" sz="1600" b="1" i="0" u="none" strike="noStrike" baseline="0" dirty="0" err="1">
                <a:latin typeface="Neue Haas Grotesk Text Pro" panose="020B0504020202020204" pitchFamily="34" charset="0"/>
              </a:rPr>
              <a:t>TeV</a:t>
            </a:r>
            <a:r>
              <a:rPr lang="en-US" sz="1600" b="1" i="0" u="none" strike="noStrike" baseline="0" dirty="0">
                <a:latin typeface="Neue Haas Grotesk Text Pro" panose="020B0504020202020204" pitchFamily="34" charset="0"/>
              </a:rPr>
              <a:t> neutrino signal in </a:t>
            </a:r>
            <a:r>
              <a:rPr lang="en-US" sz="1600" b="1" i="0" u="none" strike="noStrike" baseline="0" dirty="0" err="1">
                <a:latin typeface="Neue Haas Grotesk Text Pro" panose="020B0504020202020204" pitchFamily="34" charset="0"/>
              </a:rPr>
              <a:t>IceCube</a:t>
            </a:r>
            <a:r>
              <a:rPr lang="en-US" sz="1600" b="1" i="0" u="none" strike="noStrike" baseline="0" dirty="0">
                <a:latin typeface="Neue Haas Grotesk Text Pro" panose="020B0504020202020204" pitchFamily="34" charset="0"/>
              </a:rPr>
              <a:t> and KM3Net is expected even for an ordinary Galactic SN. </a:t>
            </a:r>
          </a:p>
        </p:txBody>
      </p:sp>
      <p:sp>
        <p:nvSpPr>
          <p:cNvPr id="4" name="CasellaDiTesto 3">
            <a:extLst>
              <a:ext uri="{FF2B5EF4-FFF2-40B4-BE49-F238E27FC236}">
                <a16:creationId xmlns:a16="http://schemas.microsoft.com/office/drawing/2014/main" id="{B0D0331C-82B6-D780-2F24-B18120CF80BB}"/>
              </a:ext>
            </a:extLst>
          </p:cNvPr>
          <p:cNvSpPr txBox="1"/>
          <p:nvPr/>
        </p:nvSpPr>
        <p:spPr>
          <a:xfrm>
            <a:off x="239623" y="2151726"/>
            <a:ext cx="4875301" cy="2308324"/>
          </a:xfrm>
          <a:prstGeom prst="rect">
            <a:avLst/>
          </a:prstGeom>
          <a:solidFill>
            <a:schemeClr val="accent4">
              <a:lumMod val="20000"/>
              <a:lumOff val="80000"/>
            </a:schemeClr>
          </a:solidFill>
        </p:spPr>
        <p:txBody>
          <a:bodyPr wrap="square" rtlCol="0">
            <a:spAutoFit/>
          </a:bodyPr>
          <a:lstStyle/>
          <a:p>
            <a:pPr algn="l"/>
            <a:r>
              <a:rPr lang="en-US" sz="1600" b="0" i="0" u="none" strike="noStrike" baseline="0" dirty="0">
                <a:latin typeface="Neue Haas Grotesk Text Pro" panose="020B0504020202020204" pitchFamily="34" charset="0"/>
              </a:rPr>
              <a:t>Multiwavelength observations have revealed that dense, confined circumstellar material (CCSM)</a:t>
            </a:r>
          </a:p>
          <a:p>
            <a:pPr algn="l"/>
            <a:r>
              <a:rPr lang="en-US" sz="1600" b="0" i="0" u="none" strike="noStrike" baseline="0" dirty="0">
                <a:latin typeface="Neue Haas Grotesk Text Pro" panose="020B0504020202020204" pitchFamily="34" charset="0"/>
              </a:rPr>
              <a:t>commonly exists in the vicinity of supernova (SN) progenitors, suggesting </a:t>
            </a:r>
            <a:r>
              <a:rPr lang="en-US" sz="1600" b="1" i="0" u="none" strike="noStrike" baseline="0" dirty="0">
                <a:latin typeface="Neue Haas Grotesk Text Pro" panose="020B0504020202020204" pitchFamily="34" charset="0"/>
              </a:rPr>
              <a:t>enhanced mass losses</a:t>
            </a:r>
          </a:p>
          <a:p>
            <a:pPr algn="l"/>
            <a:r>
              <a:rPr lang="en-US" sz="1600" b="1" i="0" u="none" strike="noStrike" baseline="0" dirty="0">
                <a:latin typeface="Neue Haas Grotesk Text Pro" panose="020B0504020202020204" pitchFamily="34" charset="0"/>
              </a:rPr>
              <a:t>years to centuries before their core collapse</a:t>
            </a:r>
            <a:r>
              <a:rPr lang="en-US" sz="1600" b="0" i="0" u="none" strike="noStrike" baseline="0" dirty="0">
                <a:latin typeface="Neue Haas Grotesk Text Pro" panose="020B0504020202020204" pitchFamily="34" charset="0"/>
              </a:rPr>
              <a:t>. Interacting </a:t>
            </a:r>
            <a:r>
              <a:rPr lang="en-US" sz="1600" b="0" i="0" u="none" strike="noStrike" baseline="0" dirty="0" err="1">
                <a:latin typeface="Neue Haas Grotesk Text Pro" panose="020B0504020202020204" pitchFamily="34" charset="0"/>
              </a:rPr>
              <a:t>SNe</a:t>
            </a:r>
            <a:r>
              <a:rPr lang="en-US" sz="1600" b="0" i="0" u="none" strike="noStrike" baseline="0" dirty="0">
                <a:latin typeface="Neue Haas Grotesk Text Pro" panose="020B0504020202020204" pitchFamily="34" charset="0"/>
              </a:rPr>
              <a:t>, which are powered or aided by interaction with the CCSM, are considered to be promising high-energy </a:t>
            </a:r>
            <a:r>
              <a:rPr lang="en-US" sz="1600" b="0" i="0" u="none" strike="noStrike" baseline="0" dirty="0" err="1">
                <a:latin typeface="Neue Haas Grotesk Text Pro" panose="020B0504020202020204" pitchFamily="34" charset="0"/>
              </a:rPr>
              <a:t>multimessenger</a:t>
            </a:r>
            <a:r>
              <a:rPr lang="en-US" sz="1600" b="0" i="0" u="none" strike="noStrike" baseline="0" dirty="0">
                <a:latin typeface="Neue Haas Grotesk Text Pro" panose="020B0504020202020204" pitchFamily="34" charset="0"/>
              </a:rPr>
              <a:t> transient</a:t>
            </a:r>
          </a:p>
          <a:p>
            <a:pPr algn="l"/>
            <a:r>
              <a:rPr lang="it-IT" sz="1600" b="0" i="0" u="none" strike="noStrike" baseline="0" dirty="0">
                <a:latin typeface="Neue Haas Grotesk Text Pro" panose="020B0504020202020204" pitchFamily="34" charset="0"/>
              </a:rPr>
              <a:t>sources.</a:t>
            </a:r>
            <a:endParaRPr lang="it-IT" sz="1600" dirty="0">
              <a:latin typeface="Neue Haas Grotesk Text Pro" panose="020B0504020202020204" pitchFamily="34" charset="0"/>
            </a:endParaRPr>
          </a:p>
        </p:txBody>
      </p:sp>
    </p:spTree>
    <p:extLst>
      <p:ext uri="{BB962C8B-B14F-4D97-AF65-F5344CB8AC3E}">
        <p14:creationId xmlns:p14="http://schemas.microsoft.com/office/powerpoint/2010/main" val="3259376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1" y="0"/>
            <a:ext cx="6981826"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High-energy </a:t>
            </a:r>
            <a:r>
              <a:rPr lang="it-IT" sz="2800" b="1" dirty="0" err="1">
                <a:solidFill>
                  <a:schemeClr val="accent1"/>
                </a:solidFill>
              </a:rPr>
              <a:t>neutrinos</a:t>
            </a:r>
            <a:r>
              <a:rPr lang="it-IT" sz="2800" b="1" dirty="0">
                <a:solidFill>
                  <a:schemeClr val="accent1"/>
                </a:solidFill>
              </a:rPr>
              <a:t> from </a:t>
            </a:r>
            <a:r>
              <a:rPr lang="it-IT" sz="2800" b="1" dirty="0" err="1">
                <a:solidFill>
                  <a:schemeClr val="accent1"/>
                </a:solidFill>
              </a:rPr>
              <a:t>nearby</a:t>
            </a:r>
            <a:r>
              <a:rPr lang="it-IT" sz="2800" b="1" dirty="0">
                <a:solidFill>
                  <a:schemeClr val="accent1"/>
                </a:solidFill>
              </a:rPr>
              <a:t> </a:t>
            </a:r>
            <a:r>
              <a:rPr lang="it-IT" sz="2800" b="1" dirty="0" err="1">
                <a:solidFill>
                  <a:schemeClr val="accent1"/>
                </a:solidFill>
              </a:rPr>
              <a:t>SNe</a:t>
            </a:r>
            <a:r>
              <a:rPr lang="it-IT" sz="2800" b="1" dirty="0">
                <a:solidFill>
                  <a:schemeClr val="accent1"/>
                </a:solidFill>
              </a:rPr>
              <a:t> (</a:t>
            </a:r>
            <a:r>
              <a:rPr lang="it-IT" sz="2800" b="1" dirty="0" err="1">
                <a:solidFill>
                  <a:schemeClr val="accent1"/>
                </a:solidFill>
              </a:rPr>
              <a:t>Murase</a:t>
            </a:r>
            <a:r>
              <a:rPr lang="it-IT" sz="2800" b="1" dirty="0">
                <a:solidFill>
                  <a:schemeClr val="accent1"/>
                </a:solidFill>
              </a:rPr>
              <a:t>)</a:t>
            </a:r>
          </a:p>
        </p:txBody>
      </p:sp>
      <p:sp>
        <p:nvSpPr>
          <p:cNvPr id="3" name="CasellaDiTesto 2">
            <a:extLst>
              <a:ext uri="{FF2B5EF4-FFF2-40B4-BE49-F238E27FC236}">
                <a16:creationId xmlns:a16="http://schemas.microsoft.com/office/drawing/2014/main" id="{5A144FA5-CC8E-EA2D-1507-0127394215DD}"/>
              </a:ext>
            </a:extLst>
          </p:cNvPr>
          <p:cNvSpPr txBox="1"/>
          <p:nvPr/>
        </p:nvSpPr>
        <p:spPr>
          <a:xfrm>
            <a:off x="0" y="6581001"/>
            <a:ext cx="11220450" cy="276999"/>
          </a:xfrm>
          <a:prstGeom prst="rect">
            <a:avLst/>
          </a:prstGeom>
          <a:noFill/>
        </p:spPr>
        <p:txBody>
          <a:bodyPr wrap="square">
            <a:spAutoFit/>
          </a:bodyPr>
          <a:lstStyle/>
          <a:p>
            <a:r>
              <a:rPr lang="en-US" sz="1200" b="1" dirty="0">
                <a:solidFill>
                  <a:schemeClr val="accent1"/>
                </a:solidFill>
              </a:rPr>
              <a:t>New prospects for detecting high-energy neutrinos from nearby supernovae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https://journals.aps.org/</a:t>
            </a:r>
            <a:r>
              <a:rPr lang="it-IT" sz="1200" dirty="0" err="1">
                <a:solidFill>
                  <a:schemeClr val="accent1"/>
                </a:solidFill>
                <a:latin typeface="Arial Nova Light" panose="020B0304020202020204" pitchFamily="34" charset="0"/>
                <a:hlinkClick r:id="rId2"/>
              </a:rPr>
              <a:t>prd</a:t>
            </a:r>
            <a:r>
              <a:rPr lang="it-IT" sz="1200" dirty="0">
                <a:solidFill>
                  <a:schemeClr val="accent1"/>
                </a:solidFill>
                <a:latin typeface="Arial Nova Light" panose="020B0304020202020204" pitchFamily="34" charset="0"/>
                <a:hlinkClick r:id="rId2"/>
              </a:rPr>
              <a:t>/abstract/10.1103/PhysRevD.97.081301</a:t>
            </a:r>
            <a:r>
              <a:rPr lang="it-IT" sz="1200" dirty="0">
                <a:solidFill>
                  <a:schemeClr val="accent1"/>
                </a:solidFill>
                <a:latin typeface="Arial Nova Light" panose="020B0304020202020204" pitchFamily="34" charset="0"/>
                <a:hlinkClick r:id="rId3"/>
              </a:rPr>
              <a:t>)</a:t>
            </a:r>
            <a:r>
              <a:rPr lang="en-US" sz="1200" dirty="0">
                <a:solidFill>
                  <a:schemeClr val="accent1"/>
                </a:solidFill>
                <a:hlinkClick r:id="rId3"/>
              </a:rPr>
              <a:t> </a:t>
            </a:r>
            <a:endParaRPr lang="it-IT" sz="1200" dirty="0">
              <a:solidFill>
                <a:schemeClr val="accent1"/>
              </a:solidFill>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E6BC980-9418-F9EB-9A1E-B1B44D5C85F3}"/>
                  </a:ext>
                </a:extLst>
              </p:cNvPr>
              <p:cNvSpPr txBox="1"/>
              <p:nvPr/>
            </p:nvSpPr>
            <p:spPr>
              <a:xfrm>
                <a:off x="345282" y="616535"/>
                <a:ext cx="6636543" cy="6334298"/>
              </a:xfrm>
              <a:prstGeom prst="rect">
                <a:avLst/>
              </a:prstGeom>
              <a:noFill/>
            </p:spPr>
            <p:txBody>
              <a:bodyPr wrap="square">
                <a:spAutoFit/>
              </a:bodyPr>
              <a:lstStyle/>
              <a:p>
                <a:r>
                  <a:rPr lang="it-IT" sz="1600" dirty="0"/>
                  <a:t>Recent </a:t>
                </a:r>
                <a:r>
                  <a:rPr lang="it-IT" sz="1600" dirty="0" err="1"/>
                  <a:t>observations</a:t>
                </a:r>
                <a:r>
                  <a:rPr lang="it-IT" sz="1600" dirty="0"/>
                  <a:t> </a:t>
                </a:r>
                <a:r>
                  <a:rPr lang="it-IT" sz="1600" dirty="0" err="1"/>
                  <a:t>revealed</a:t>
                </a:r>
                <a:r>
                  <a:rPr lang="it-IT" sz="1600" dirty="0"/>
                  <a:t> </a:t>
                </a:r>
                <a:r>
                  <a:rPr lang="it-IT" sz="1600" dirty="0" err="1"/>
                  <a:t>significant</a:t>
                </a:r>
                <a:r>
                  <a:rPr lang="it-IT" sz="1600" dirty="0"/>
                  <a:t> mass </a:t>
                </a:r>
                <a:r>
                  <a:rPr lang="it-IT" sz="1600" dirty="0" err="1"/>
                  <a:t>ejections</a:t>
                </a:r>
                <a:r>
                  <a:rPr lang="it-IT" sz="1600" dirty="0"/>
                  <a:t>  0.1-10 </a:t>
                </a:r>
                <a:r>
                  <a:rPr lang="it-IT" sz="1600" dirty="0" err="1"/>
                  <a:t>yr</a:t>
                </a:r>
                <a:r>
                  <a:rPr lang="it-IT" sz="1600" dirty="0"/>
                  <a:t> </a:t>
                </a:r>
                <a:r>
                  <a:rPr lang="it-IT" sz="1600" dirty="0" err="1"/>
                  <a:t>before</a:t>
                </a:r>
                <a:r>
                  <a:rPr lang="it-IT" sz="1600" dirty="0"/>
                  <a:t> the </a:t>
                </a:r>
                <a:r>
                  <a:rPr lang="it-IT" sz="1600" dirty="0" err="1"/>
                  <a:t>collapse</a:t>
                </a:r>
                <a:r>
                  <a:rPr lang="it-IT" sz="1600" dirty="0"/>
                  <a:t> </a:t>
                </a:r>
                <a:r>
                  <a:rPr lang="it-IT" sz="1600" dirty="0">
                    <a:sym typeface="Wingdings" panose="05000000000000000000" pitchFamily="2" charset="2"/>
                  </a:rPr>
                  <a:t></a:t>
                </a:r>
                <a:r>
                  <a:rPr lang="it-IT" sz="1600" dirty="0"/>
                  <a:t> </a:t>
                </a:r>
                <a:r>
                  <a:rPr lang="it-IT" sz="1600" b="1" dirty="0"/>
                  <a:t>dense CSM are common in </a:t>
                </a:r>
                <a:r>
                  <a:rPr lang="it-IT" sz="1600" b="1" dirty="0" err="1"/>
                  <a:t>different</a:t>
                </a:r>
                <a:r>
                  <a:rPr lang="it-IT" sz="1600" b="1" dirty="0"/>
                  <a:t> </a:t>
                </a:r>
                <a:r>
                  <a:rPr lang="it-IT" sz="1600" b="1" dirty="0" err="1"/>
                  <a:t>type</a:t>
                </a:r>
                <a:r>
                  <a:rPr lang="it-IT" sz="1600" b="1" dirty="0"/>
                  <a:t> of SN</a:t>
                </a:r>
                <a:r>
                  <a:rPr lang="it-IT" sz="1600" dirty="0"/>
                  <a:t>.  </a:t>
                </a:r>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err="1"/>
                  <a:t>Let’s</a:t>
                </a:r>
                <a:r>
                  <a:rPr lang="it-IT" sz="1600" dirty="0"/>
                  <a:t> </a:t>
                </a:r>
                <a:r>
                  <a:rPr lang="it-IT" sz="1600" dirty="0" err="1"/>
                  <a:t>consider</a:t>
                </a:r>
                <a:r>
                  <a:rPr lang="it-IT" sz="1600" dirty="0"/>
                  <a:t> SN </a:t>
                </a:r>
                <a:r>
                  <a:rPr lang="it-IT" sz="1600" dirty="0" err="1"/>
                  <a:t>explosion</a:t>
                </a:r>
                <a:r>
                  <a:rPr lang="it-IT" sz="1600" dirty="0"/>
                  <a:t> with a </a:t>
                </a:r>
                <a:r>
                  <a:rPr lang="it-IT" sz="1600" dirty="0" err="1"/>
                  <a:t>kinetic</a:t>
                </a:r>
                <a:r>
                  <a:rPr lang="it-IT" sz="1600" dirty="0"/>
                  <a:t> energy of </a:t>
                </a:r>
                <a14:m>
                  <m:oMath xmlns:m="http://schemas.openxmlformats.org/officeDocument/2006/math">
                    <m:sSup>
                      <m:sSupPr>
                        <m:ctrlPr>
                          <a:rPr lang="it-IT" sz="1600" b="0" i="1" smtClean="0">
                            <a:latin typeface="Cambria Math" panose="02040503050406030204" pitchFamily="18" charset="0"/>
                          </a:rPr>
                        </m:ctrlPr>
                      </m:sSupPr>
                      <m:e>
                        <m:r>
                          <a:rPr lang="it-IT" sz="1600" b="0" i="1" smtClean="0">
                            <a:latin typeface="Cambria Math" panose="02040503050406030204" pitchFamily="18" charset="0"/>
                          </a:rPr>
                          <m:t>10</m:t>
                        </m:r>
                      </m:e>
                      <m:sup>
                        <m:r>
                          <a:rPr lang="it-IT" sz="1600" b="0" i="1" smtClean="0">
                            <a:latin typeface="Cambria Math" panose="02040503050406030204" pitchFamily="18" charset="0"/>
                          </a:rPr>
                          <m:t>51</m:t>
                        </m:r>
                      </m:sup>
                    </m:sSup>
                    <m:r>
                      <a:rPr lang="it-IT" sz="1600" b="0" i="1" smtClean="0">
                        <a:latin typeface="Cambria Math" panose="02040503050406030204" pitchFamily="18" charset="0"/>
                      </a:rPr>
                      <m:t>𝑒𝑟𝑔</m:t>
                    </m:r>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b="0" i="1" smtClean="0">
                            <a:latin typeface="Cambria Math" panose="02040503050406030204" pitchFamily="18" charset="0"/>
                          </a:rPr>
                          <m:t>  </m:t>
                        </m:r>
                        <m:r>
                          <m:rPr>
                            <m:sty m:val="p"/>
                          </m:rPr>
                          <a:rPr lang="el-GR" sz="1600" i="1">
                            <a:latin typeface="Cambria Math" panose="02040503050406030204" pitchFamily="18" charset="0"/>
                          </a:rPr>
                          <m:t>ε</m:t>
                        </m:r>
                      </m:e>
                      <m:sub>
                        <m:r>
                          <a:rPr lang="it-IT" sz="1600" i="1">
                            <a:latin typeface="Cambria Math" panose="02040503050406030204" pitchFamily="18" charset="0"/>
                          </a:rPr>
                          <m:t>𝑒𝑗</m:t>
                        </m:r>
                        <m:r>
                          <a:rPr lang="it-IT" sz="1600" i="1">
                            <a:latin typeface="Cambria Math" panose="02040503050406030204" pitchFamily="18" charset="0"/>
                          </a:rPr>
                          <m:t>,51</m:t>
                        </m:r>
                      </m:sub>
                    </m:sSub>
                  </m:oMath>
                </a14:m>
                <a:endParaRPr lang="it-IT" sz="1600" dirty="0"/>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a:t>The SN </a:t>
                </a:r>
                <a:r>
                  <a:rPr lang="it-IT" sz="1600" dirty="0" err="1"/>
                  <a:t>ejecta</a:t>
                </a:r>
                <a:r>
                  <a:rPr lang="it-IT" sz="1600" dirty="0"/>
                  <a:t> with a mass of 10 solar masses, </a:t>
                </a:r>
                <a14:m>
                  <m:oMath xmlns:m="http://schemas.openxmlformats.org/officeDocument/2006/math">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𝑀</m:t>
                        </m:r>
                      </m:e>
                      <m:sub>
                        <m:r>
                          <a:rPr lang="it-IT" sz="1600" i="1">
                            <a:latin typeface="Cambria Math" panose="02040503050406030204" pitchFamily="18" charset="0"/>
                          </a:rPr>
                          <m:t>𝑒𝑗</m:t>
                        </m:r>
                        <m:r>
                          <a:rPr lang="it-IT" sz="1600" i="1">
                            <a:latin typeface="Cambria Math" panose="02040503050406030204" pitchFamily="18" charset="0"/>
                          </a:rPr>
                          <m:t>,1</m:t>
                        </m:r>
                      </m:sub>
                    </m:sSub>
                  </m:oMath>
                </a14:m>
                <a:r>
                  <a:rPr lang="it-IT" sz="1600" dirty="0"/>
                  <a:t>, start to </a:t>
                </a:r>
                <a:r>
                  <a:rPr lang="it-IT" sz="1600" dirty="0" err="1"/>
                  <a:t>interact</a:t>
                </a:r>
                <a:r>
                  <a:rPr lang="it-IT" sz="1600" dirty="0"/>
                  <a:t> with a CSM with a </a:t>
                </a:r>
                <a:r>
                  <a:rPr lang="it-IT" sz="1600" dirty="0" err="1"/>
                  <a:t>density</a:t>
                </a:r>
                <a:r>
                  <a:rPr lang="it-IT" sz="1600" dirty="0"/>
                  <a:t> </a:t>
                </a:r>
                <a:r>
                  <a:rPr lang="it-IT" sz="1600" dirty="0" err="1"/>
                  <a:t>profile</a:t>
                </a:r>
                <a:r>
                  <a:rPr lang="it-IT" sz="1600" dirty="0"/>
                  <a:t> following </a:t>
                </a:r>
                <a14:m>
                  <m:oMath xmlns:m="http://schemas.openxmlformats.org/officeDocument/2006/math">
                    <m:sSub>
                      <m:sSubPr>
                        <m:ctrlPr>
                          <a:rPr lang="it-IT" sz="1600" i="1" smtClean="0">
                            <a:latin typeface="Cambria Math" panose="02040503050406030204" pitchFamily="18" charset="0"/>
                          </a:rPr>
                        </m:ctrlPr>
                      </m:sSubPr>
                      <m:e>
                        <m:r>
                          <m:rPr>
                            <m:sty m:val="p"/>
                          </m:rPr>
                          <a:rPr lang="el-GR" sz="1600" i="1" smtClean="0">
                            <a:latin typeface="Cambria Math" panose="02040503050406030204" pitchFamily="18" charset="0"/>
                          </a:rPr>
                          <m:t>ρ</m:t>
                        </m:r>
                      </m:e>
                      <m:sub>
                        <m:r>
                          <a:rPr lang="it-IT" sz="1600" b="0" i="1" smtClean="0">
                            <a:latin typeface="Cambria Math" panose="02040503050406030204" pitchFamily="18" charset="0"/>
                          </a:rPr>
                          <m:t>𝐶𝑆</m:t>
                        </m:r>
                      </m:sub>
                    </m:sSub>
                    <m:r>
                      <a:rPr lang="it-IT" sz="1600" b="0" i="1" smtClean="0">
                        <a:latin typeface="Cambria Math" panose="02040503050406030204" pitchFamily="18" charset="0"/>
                      </a:rPr>
                      <m:t>=</m:t>
                    </m:r>
                    <m:r>
                      <a:rPr lang="it-IT" sz="1600" b="0" i="1" smtClean="0">
                        <a:latin typeface="Cambria Math" panose="02040503050406030204" pitchFamily="18" charset="0"/>
                      </a:rPr>
                      <m:t>𝐷</m:t>
                    </m:r>
                    <m:sSup>
                      <m:sSupPr>
                        <m:ctrlPr>
                          <a:rPr lang="it-IT" sz="1600" b="0" i="1" smtClean="0">
                            <a:latin typeface="Cambria Math" panose="02040503050406030204" pitchFamily="18" charset="0"/>
                          </a:rPr>
                        </m:ctrlPr>
                      </m:sSupPr>
                      <m:e>
                        <m:r>
                          <a:rPr lang="it-IT" sz="1600" b="0" i="1" smtClean="0">
                            <a:latin typeface="Cambria Math" panose="02040503050406030204" pitchFamily="18" charset="0"/>
                          </a:rPr>
                          <m:t>𝑟</m:t>
                        </m:r>
                      </m:e>
                      <m:sup>
                        <m:r>
                          <a:rPr lang="it-IT" sz="1600" b="0" i="1" smtClean="0">
                            <a:latin typeface="Cambria Math" panose="02040503050406030204" pitchFamily="18" charset="0"/>
                          </a:rPr>
                          <m:t>−</m:t>
                        </m:r>
                        <m:r>
                          <a:rPr lang="it-IT" sz="1600" b="0" i="1" smtClean="0">
                            <a:latin typeface="Cambria Math" panose="02040503050406030204" pitchFamily="18" charset="0"/>
                          </a:rPr>
                          <m:t>𝑤</m:t>
                        </m:r>
                      </m:sup>
                    </m:sSup>
                  </m:oMath>
                </a14:m>
                <a:r>
                  <a:rPr lang="it-IT" sz="1600" dirty="0"/>
                  <a:t>, </a:t>
                </a:r>
                <a:r>
                  <a:rPr lang="it-IT" sz="1600" dirty="0" err="1"/>
                  <a:t>where</a:t>
                </a:r>
                <a:r>
                  <a:rPr lang="it-IT" sz="1600" dirty="0"/>
                  <a:t> w </a:t>
                </a:r>
                <a:r>
                  <a:rPr lang="it-IT" sz="1600" dirty="0" err="1"/>
                  <a:t>is</a:t>
                </a:r>
                <a:r>
                  <a:rPr lang="it-IT" sz="1600" dirty="0"/>
                  <a:t> the wind </a:t>
                </a:r>
                <a:r>
                  <a:rPr lang="it-IT" sz="1600" dirty="0" err="1"/>
                  <a:t>profile</a:t>
                </a:r>
                <a:r>
                  <a:rPr lang="it-IT" sz="1600" dirty="0"/>
                  <a:t>. </a:t>
                </a:r>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a:t>In the wind case, the </a:t>
                </a:r>
                <a:r>
                  <a:rPr lang="it-IT" sz="1600" dirty="0" err="1"/>
                  <a:t>density</a:t>
                </a:r>
                <a:r>
                  <a:rPr lang="it-IT" sz="1600" dirty="0"/>
                  <a:t> </a:t>
                </a:r>
                <a14:m>
                  <m:oMath xmlns:m="http://schemas.openxmlformats.org/officeDocument/2006/math">
                    <m:r>
                      <a:rPr lang="it-IT" sz="1600" i="1" dirty="0" smtClean="0">
                        <a:latin typeface="Cambria Math" panose="02040503050406030204" pitchFamily="18" charset="0"/>
                      </a:rPr>
                      <m:t>𝐷</m:t>
                    </m:r>
                    <m:r>
                      <a:rPr lang="it-IT" sz="1600" b="0" i="1" dirty="0" smtClean="0">
                        <a:latin typeface="Cambria Math" panose="02040503050406030204" pitchFamily="18" charset="0"/>
                      </a:rPr>
                      <m:t> (</m:t>
                    </m:r>
                    <m:r>
                      <a:rPr lang="it-IT" sz="1600" b="0" i="1" dirty="0" smtClean="0">
                        <a:latin typeface="Cambria Math" panose="02040503050406030204" pitchFamily="18" charset="0"/>
                        <a:ea typeface="Cambria Math" panose="02040503050406030204" pitchFamily="18" charset="0"/>
                      </a:rPr>
                      <m:t>∝</m:t>
                    </m:r>
                    <m:sSub>
                      <m:sSubPr>
                        <m:ctrlPr>
                          <a:rPr lang="it-IT" sz="1600" i="1" dirty="0" smtClean="0">
                            <a:latin typeface="Cambria Math" panose="02040503050406030204" pitchFamily="18" charset="0"/>
                          </a:rPr>
                        </m:ctrlPr>
                      </m:sSubPr>
                      <m:e>
                        <m:r>
                          <a:rPr lang="it-IT" sz="1600" b="0" i="1" dirty="0" smtClean="0">
                            <a:latin typeface="Cambria Math" panose="02040503050406030204" pitchFamily="18" charset="0"/>
                          </a:rPr>
                          <m:t>𝐷</m:t>
                        </m:r>
                      </m:e>
                      <m:sub>
                        <m:r>
                          <a:rPr lang="it-IT" sz="1600" b="0" i="1" dirty="0" smtClean="0">
                            <a:latin typeface="Cambria Math" panose="02040503050406030204" pitchFamily="18" charset="0"/>
                          </a:rPr>
                          <m:t>∗</m:t>
                        </m:r>
                      </m:sub>
                    </m:sSub>
                  </m:oMath>
                </a14:m>
                <a:r>
                  <a:rPr lang="it-IT" sz="1600" dirty="0"/>
                  <a:t> in </a:t>
                </a:r>
                <a:r>
                  <a:rPr lang="it-IT" sz="1600" dirty="0" err="1"/>
                  <a:t>table</a:t>
                </a:r>
                <a:r>
                  <a:rPr lang="it-IT" sz="1600" dirty="0"/>
                  <a:t> 1) </a:t>
                </a:r>
                <a:r>
                  <a:rPr lang="it-IT" sz="1600" dirty="0" err="1"/>
                  <a:t>is</a:t>
                </a:r>
                <a:r>
                  <a:rPr lang="it-IT" sz="1600" dirty="0"/>
                  <a:t> </a:t>
                </a:r>
                <a:r>
                  <a:rPr lang="it-IT" sz="1600" dirty="0" err="1"/>
                  <a:t>related</a:t>
                </a:r>
                <a:r>
                  <a:rPr lang="it-IT" sz="1600" dirty="0"/>
                  <a:t> to the mass </a:t>
                </a:r>
                <a:r>
                  <a:rPr lang="it-IT" sz="1600" dirty="0" err="1"/>
                  <a:t>loss</a:t>
                </a:r>
                <a:r>
                  <a:rPr lang="it-IT" sz="1600" dirty="0"/>
                  <a:t> rate </a:t>
                </a:r>
                <a14:m>
                  <m:oMath xmlns:m="http://schemas.openxmlformats.org/officeDocument/2006/math">
                    <m:sSub>
                      <m:sSubPr>
                        <m:ctrlPr>
                          <a:rPr lang="it-IT" sz="1600" i="1" smtClean="0">
                            <a:latin typeface="Cambria Math" panose="02040503050406030204" pitchFamily="18" charset="0"/>
                          </a:rPr>
                        </m:ctrlPr>
                      </m:sSubPr>
                      <m:e>
                        <m:acc>
                          <m:accPr>
                            <m:chr m:val="̇"/>
                            <m:ctrlPr>
                              <a:rPr lang="it-IT" sz="1600" i="1" smtClean="0">
                                <a:latin typeface="Cambria Math" panose="02040503050406030204" pitchFamily="18" charset="0"/>
                              </a:rPr>
                            </m:ctrlPr>
                          </m:accPr>
                          <m:e>
                            <m:r>
                              <a:rPr lang="it-IT" sz="1600" b="0" i="1" smtClean="0">
                                <a:latin typeface="Cambria Math" panose="02040503050406030204" pitchFamily="18" charset="0"/>
                              </a:rPr>
                              <m:t>𝑀</m:t>
                            </m:r>
                          </m:e>
                        </m:acc>
                      </m:e>
                      <m:sub>
                        <m:r>
                          <a:rPr lang="it-IT" sz="1600" b="0" i="1" smtClean="0">
                            <a:latin typeface="Cambria Math" panose="02040503050406030204" pitchFamily="18" charset="0"/>
                          </a:rPr>
                          <m:t>𝑤</m:t>
                        </m:r>
                      </m:sub>
                    </m:sSub>
                  </m:oMath>
                </a14:m>
                <a:r>
                  <a:rPr lang="it-IT" sz="1600" dirty="0"/>
                  <a:t> and the wind </a:t>
                </a:r>
                <a:r>
                  <a:rPr lang="it-IT" sz="1600" dirty="0" err="1"/>
                  <a:t>velocity</a:t>
                </a:r>
                <a:r>
                  <a:rPr lang="it-IT" sz="1600" dirty="0"/>
                  <a:t> </a:t>
                </a:r>
                <a14:m>
                  <m:oMath xmlns:m="http://schemas.openxmlformats.org/officeDocument/2006/math">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𝑉</m:t>
                        </m:r>
                      </m:e>
                      <m:sub>
                        <m:r>
                          <a:rPr lang="it-IT" sz="1600" b="0" i="1" smtClean="0">
                            <a:latin typeface="Cambria Math" panose="02040503050406030204" pitchFamily="18" charset="0"/>
                          </a:rPr>
                          <m:t>𝑤</m:t>
                        </m:r>
                      </m:sub>
                    </m:sSub>
                    <m:r>
                      <a:rPr lang="it-IT" sz="1600" b="0" i="1" smtClean="0">
                        <a:latin typeface="Cambria Math" panose="02040503050406030204" pitchFamily="18" charset="0"/>
                      </a:rPr>
                      <m:t>.</m:t>
                    </m:r>
                  </m:oMath>
                </a14:m>
                <a:endParaRPr lang="it-IT" sz="1600" dirty="0"/>
              </a:p>
              <a:p>
                <a:pPr marL="285750" indent="-285750">
                  <a:buFont typeface="Arial" panose="020B0604020202020204" pitchFamily="34" charset="0"/>
                  <a:buChar char="•"/>
                </a:pPr>
                <a:endParaRPr lang="it-IT" sz="1600" dirty="0"/>
              </a:p>
              <a:p>
                <a:pPr lvl="1"/>
                <a:r>
                  <a:rPr lang="it-IT" sz="1600" dirty="0">
                    <a:sym typeface="Wingdings" panose="05000000000000000000" pitchFamily="2" charset="2"/>
                  </a:rPr>
                  <a:t></a:t>
                </a:r>
                <a:r>
                  <a:rPr lang="it-IT" sz="1600" dirty="0" err="1"/>
                  <a:t>Differently</a:t>
                </a:r>
                <a:r>
                  <a:rPr lang="it-IT" sz="1600" dirty="0"/>
                  <a:t> from what </a:t>
                </a:r>
                <a:r>
                  <a:rPr lang="it-IT" sz="1600" dirty="0" err="1"/>
                  <a:t>happens</a:t>
                </a:r>
                <a:r>
                  <a:rPr lang="it-IT" sz="1600" dirty="0"/>
                  <a:t> inside the star, </a:t>
                </a:r>
                <a:r>
                  <a:rPr lang="it-IT" sz="1600" dirty="0" err="1"/>
                  <a:t>as</a:t>
                </a:r>
                <a:r>
                  <a:rPr lang="it-IT" sz="1600" dirty="0"/>
                  <a:t> the CSM </a:t>
                </a:r>
                <a:r>
                  <a:rPr lang="it-IT" sz="1600" dirty="0" err="1"/>
                  <a:t>is</a:t>
                </a:r>
                <a:r>
                  <a:rPr lang="it-IT" sz="1600" dirty="0"/>
                  <a:t> </a:t>
                </a:r>
                <a:r>
                  <a:rPr lang="it-IT" sz="1600" dirty="0" err="1"/>
                  <a:t>not</a:t>
                </a:r>
                <a:r>
                  <a:rPr lang="it-IT" sz="1600" dirty="0"/>
                  <a:t> </a:t>
                </a:r>
                <a:r>
                  <a:rPr lang="it-IT" sz="1600" dirty="0" err="1"/>
                  <a:t>too</a:t>
                </a:r>
                <a:r>
                  <a:rPr lang="it-IT" sz="1600" dirty="0"/>
                  <a:t> dense, the shock can be </a:t>
                </a:r>
                <a:r>
                  <a:rPr lang="it-IT" sz="1600" dirty="0" err="1"/>
                  <a:t>collisionsless</a:t>
                </a:r>
                <a:r>
                  <a:rPr lang="it-IT" sz="1600" dirty="0"/>
                  <a:t>  and </a:t>
                </a:r>
                <a:r>
                  <a:rPr lang="it-IT" sz="1600" dirty="0" err="1"/>
                  <a:t>mediated</a:t>
                </a:r>
                <a:r>
                  <a:rPr lang="it-IT" sz="1600" dirty="0"/>
                  <a:t> by plasma </a:t>
                </a:r>
                <a:r>
                  <a:rPr lang="it-IT" sz="1600" dirty="0" err="1"/>
                  <a:t>instabilities</a:t>
                </a:r>
                <a:r>
                  <a:rPr lang="it-IT" sz="1600" dirty="0"/>
                  <a:t>.</a:t>
                </a:r>
                <a:br>
                  <a:rPr lang="it-IT" sz="1600" dirty="0"/>
                </a:br>
                <a:r>
                  <a:rPr lang="en-US" sz="1600" dirty="0">
                    <a:solidFill>
                      <a:schemeClr val="tx1"/>
                    </a:solidFill>
                  </a:rPr>
                  <a:t>The condition whereby the shock </a:t>
                </a:r>
                <a:r>
                  <a:rPr lang="en-US" sz="1600" dirty="0"/>
                  <a:t>propagate </a:t>
                </a:r>
                <a:r>
                  <a:rPr lang="en-US" sz="1600" dirty="0" err="1">
                    <a:solidFill>
                      <a:schemeClr val="tx1"/>
                    </a:solidFill>
                  </a:rPr>
                  <a:t>collisionless</a:t>
                </a:r>
                <a:r>
                  <a:rPr lang="en-US" sz="1600" dirty="0">
                    <a:solidFill>
                      <a:schemeClr val="tx1"/>
                    </a:solidFill>
                  </a:rPr>
                  <a:t> within the CSM occurs simultaneously with the condition whereby the photons breakout from the CSM : </a:t>
                </a:r>
                <a:br>
                  <a:rPr lang="en-US" sz="1600" dirty="0">
                    <a:solidFill>
                      <a:schemeClr val="tx1"/>
                    </a:solidFill>
                  </a:rPr>
                </a:br>
                <a:r>
                  <a:rPr lang="en-US" sz="1600" dirty="0">
                    <a:solidFill>
                      <a:schemeClr val="accent1"/>
                    </a:solidFill>
                  </a:rPr>
                  <a:t>t</a:t>
                </a:r>
                <a14:m>
                  <m:oMath xmlns:m="http://schemas.openxmlformats.org/officeDocument/2006/math">
                    <m:r>
                      <a:rPr lang="en-US" sz="1600" i="1" smtClean="0">
                        <a:solidFill>
                          <a:schemeClr val="accent1"/>
                        </a:solidFill>
                        <a:latin typeface="Cambria Math" panose="02040503050406030204" pitchFamily="18" charset="0"/>
                      </a:rPr>
                      <m:t>≥</m:t>
                    </m:r>
                    <m:sSub>
                      <m:sSubPr>
                        <m:ctrlPr>
                          <a:rPr lang="en-US" sz="1600" i="1" smtClean="0">
                            <a:solidFill>
                              <a:schemeClr val="accent1"/>
                            </a:solidFill>
                            <a:latin typeface="Cambria Math" panose="02040503050406030204" pitchFamily="18" charset="0"/>
                          </a:rPr>
                        </m:ctrlPr>
                      </m:sSubPr>
                      <m:e>
                        <m:r>
                          <a:rPr lang="it-IT" sz="1600" b="0" i="1" smtClean="0">
                            <a:solidFill>
                              <a:schemeClr val="accent1"/>
                            </a:solidFill>
                            <a:latin typeface="Cambria Math" panose="02040503050406030204" pitchFamily="18" charset="0"/>
                          </a:rPr>
                          <m:t>𝑡</m:t>
                        </m:r>
                      </m:e>
                      <m:sub>
                        <m:r>
                          <a:rPr lang="it-IT" sz="1600" b="0" i="1" smtClean="0">
                            <a:solidFill>
                              <a:schemeClr val="accent1"/>
                            </a:solidFill>
                            <a:latin typeface="Cambria Math" panose="02040503050406030204" pitchFamily="18" charset="0"/>
                          </a:rPr>
                          <m:t>𝑏𝑜</m:t>
                        </m:r>
                      </m:sub>
                    </m:sSub>
                  </m:oMath>
                </a14:m>
                <a:endParaRPr lang="it-IT" sz="1600" b="0" dirty="0">
                  <a:solidFill>
                    <a:schemeClr val="tx1"/>
                  </a:solidFill>
                </a:endParaRPr>
              </a:p>
              <a:p>
                <a:pPr lvl="1"/>
                <a:endParaRPr lang="it-IT" sz="1600" dirty="0">
                  <a:sym typeface="Wingdings" panose="05000000000000000000" pitchFamily="2" charset="2"/>
                </a:endParaRPr>
              </a:p>
              <a:p>
                <a:pPr lvl="1"/>
                <a:r>
                  <a:rPr lang="it-IT" sz="1600" dirty="0">
                    <a:sym typeface="Wingdings" panose="05000000000000000000" pitchFamily="2" charset="2"/>
                  </a:rPr>
                  <a:t></a:t>
                </a:r>
                <a:r>
                  <a:rPr lang="it-IT" sz="1600" dirty="0" err="1">
                    <a:sym typeface="Wingdings" panose="05000000000000000000" pitchFamily="2" charset="2"/>
                  </a:rPr>
                  <a:t>Moreover</a:t>
                </a:r>
                <a:r>
                  <a:rPr lang="it-IT" sz="1600" dirty="0">
                    <a:sym typeface="Wingdings" panose="05000000000000000000" pitchFamily="2" charset="2"/>
                  </a:rPr>
                  <a:t>, </a:t>
                </a:r>
                <a:r>
                  <a:rPr lang="it-IT" sz="1600" dirty="0" err="1">
                    <a:sym typeface="Wingdings" panose="05000000000000000000" pitchFamily="2" charset="2"/>
                  </a:rPr>
                  <a:t>if</a:t>
                </a:r>
                <a:r>
                  <a:rPr lang="it-IT" sz="1600" dirty="0">
                    <a:sym typeface="Wingdings" panose="05000000000000000000" pitchFamily="2" charset="2"/>
                  </a:rPr>
                  <a:t> we </a:t>
                </a:r>
                <a:r>
                  <a:rPr lang="it-IT" sz="1600" dirty="0" err="1">
                    <a:sym typeface="Wingdings" panose="05000000000000000000" pitchFamily="2" charset="2"/>
                  </a:rPr>
                  <a:t>consider</a:t>
                </a:r>
                <a:r>
                  <a:rPr lang="it-IT" sz="1600" dirty="0">
                    <a:sym typeface="Wingdings" panose="05000000000000000000" pitchFamily="2" charset="2"/>
                  </a:rPr>
                  <a:t> the CR </a:t>
                </a:r>
                <a:r>
                  <a:rPr lang="it-IT" sz="1600" dirty="0" err="1">
                    <a:sym typeface="Wingdings" panose="05000000000000000000" pitchFamily="2" charset="2"/>
                  </a:rPr>
                  <a:t>acceleration</a:t>
                </a:r>
                <a:r>
                  <a:rPr lang="it-IT" sz="1600" dirty="0">
                    <a:sym typeface="Wingdings" panose="05000000000000000000" pitchFamily="2" charset="2"/>
                  </a:rPr>
                  <a:t> </a:t>
                </a:r>
                <a:r>
                  <a:rPr lang="it-IT" sz="1600" dirty="0" err="1">
                    <a:sym typeface="Wingdings" panose="05000000000000000000" pitchFamily="2" charset="2"/>
                  </a:rPr>
                  <a:t>during</a:t>
                </a:r>
                <a:r>
                  <a:rPr lang="it-IT" sz="1600" dirty="0">
                    <a:sym typeface="Wingdings" panose="05000000000000000000" pitchFamily="2" charset="2"/>
                  </a:rPr>
                  <a:t> CSM interaction we can </a:t>
                </a:r>
                <a:r>
                  <a:rPr lang="it-IT" sz="1600" dirty="0" err="1">
                    <a:sym typeface="Wingdings" panose="05000000000000000000" pitchFamily="2" charset="2"/>
                  </a:rPr>
                  <a:t>consider</a:t>
                </a:r>
                <a:r>
                  <a:rPr lang="it-IT" sz="1600" dirty="0">
                    <a:sym typeface="Wingdings" panose="05000000000000000000" pitchFamily="2" charset="2"/>
                  </a:rPr>
                  <a:t> </a:t>
                </a:r>
                <a:r>
                  <a:rPr lang="en-US" sz="1600" dirty="0">
                    <a:solidFill>
                      <a:schemeClr val="tx1"/>
                    </a:solidFill>
                  </a:rPr>
                  <a:t>: t</a:t>
                </a:r>
                <a14:m>
                  <m:oMath xmlns:m="http://schemas.openxmlformats.org/officeDocument/2006/math">
                    <m:r>
                      <a:rPr lang="en-US" sz="1600" i="1" smtClean="0">
                        <a:solidFill>
                          <a:schemeClr val="tx1"/>
                        </a:solidFill>
                        <a:latin typeface="Cambria Math" panose="02040503050406030204" pitchFamily="18" charset="0"/>
                      </a:rPr>
                      <m:t>≥</m:t>
                    </m:r>
                    <m:sSub>
                      <m:sSubPr>
                        <m:ctrlPr>
                          <a:rPr lang="en-US" sz="1600" i="1" smtClean="0">
                            <a:solidFill>
                              <a:schemeClr val="tx1"/>
                            </a:solidFill>
                            <a:latin typeface="Cambria Math" panose="02040503050406030204" pitchFamily="18" charset="0"/>
                          </a:rPr>
                        </m:ctrlPr>
                      </m:sSubPr>
                      <m:e>
                        <m:r>
                          <a:rPr lang="it-IT" sz="1600" b="0" i="1" smtClean="0">
                            <a:solidFill>
                              <a:schemeClr val="tx1"/>
                            </a:solidFill>
                            <a:latin typeface="Cambria Math" panose="02040503050406030204" pitchFamily="18" charset="0"/>
                          </a:rPr>
                          <m:t>𝑡</m:t>
                        </m:r>
                      </m:e>
                      <m:sub>
                        <m:r>
                          <a:rPr lang="it-IT" sz="1600" b="0" i="1" smtClean="0">
                            <a:solidFill>
                              <a:schemeClr val="tx1"/>
                            </a:solidFill>
                            <a:latin typeface="Cambria Math" panose="02040503050406030204" pitchFamily="18" charset="0"/>
                          </a:rPr>
                          <m:t>∗</m:t>
                        </m:r>
                      </m:sub>
                    </m:sSub>
                  </m:oMath>
                </a14:m>
                <a:r>
                  <a:rPr lang="it-IT" sz="1600" dirty="0"/>
                  <a:t>≈ </a:t>
                </a:r>
                <a14:m>
                  <m:oMath xmlns:m="http://schemas.openxmlformats.org/officeDocument/2006/math">
                    <m:sSub>
                      <m:sSubPr>
                        <m:ctrlPr>
                          <a:rPr lang="it-IT" sz="1600" i="1" dirty="0">
                            <a:latin typeface="Cambria Math" panose="02040503050406030204" pitchFamily="18" charset="0"/>
                          </a:rPr>
                        </m:ctrlPr>
                      </m:sSubPr>
                      <m:e>
                        <m:r>
                          <a:rPr lang="it-IT" sz="1600" b="0" i="1" dirty="0" smtClean="0">
                            <a:latin typeface="Cambria Math" panose="02040503050406030204" pitchFamily="18" charset="0"/>
                          </a:rPr>
                          <m:t>(</m:t>
                        </m:r>
                        <m:r>
                          <a:rPr lang="it-IT" sz="1600" i="1" dirty="0">
                            <a:latin typeface="Cambria Math" panose="02040503050406030204" pitchFamily="18" charset="0"/>
                          </a:rPr>
                          <m:t>𝐷</m:t>
                        </m:r>
                      </m:e>
                      <m:sub>
                        <m:r>
                          <a:rPr lang="it-IT" sz="1600" i="1" dirty="0">
                            <a:latin typeface="Cambria Math" panose="02040503050406030204" pitchFamily="18" charset="0"/>
                          </a:rPr>
                          <m:t>∗</m:t>
                        </m:r>
                      </m:sub>
                    </m:sSub>
                    <m:r>
                      <a:rPr lang="it-IT" sz="1600" b="0" i="1" dirty="0" smtClean="0">
                        <a:latin typeface="Cambria Math" panose="02040503050406030204" pitchFamily="18" charset="0"/>
                      </a:rPr>
                      <m:t>,</m:t>
                    </m:r>
                  </m:oMath>
                </a14:m>
                <a:r>
                  <a:rPr lang="it-IT" sz="1600" dirty="0"/>
                  <a:t> </a:t>
                </a:r>
                <a14:m>
                  <m:oMath xmlns:m="http://schemas.openxmlformats.org/officeDocument/2006/math">
                    <m:sSub>
                      <m:sSubPr>
                        <m:ctrlPr>
                          <a:rPr lang="it-IT" sz="1600" i="1">
                            <a:latin typeface="Cambria Math" panose="02040503050406030204" pitchFamily="18" charset="0"/>
                          </a:rPr>
                        </m:ctrlPr>
                      </m:sSubPr>
                      <m:e>
                        <m:r>
                          <m:rPr>
                            <m:sty m:val="p"/>
                          </m:rPr>
                          <a:rPr lang="el-GR" sz="1600" i="1">
                            <a:latin typeface="Cambria Math" panose="02040503050406030204" pitchFamily="18" charset="0"/>
                          </a:rPr>
                          <m:t>ε</m:t>
                        </m:r>
                      </m:e>
                      <m:sub>
                        <m:r>
                          <a:rPr lang="it-IT" sz="1600" i="1">
                            <a:latin typeface="Cambria Math" panose="02040503050406030204" pitchFamily="18" charset="0"/>
                          </a:rPr>
                          <m:t>𝑒𝑗</m:t>
                        </m:r>
                        <m:r>
                          <a:rPr lang="it-IT" sz="1600" i="1">
                            <a:latin typeface="Cambria Math" panose="02040503050406030204" pitchFamily="18" charset="0"/>
                          </a:rPr>
                          <m:t>,51</m:t>
                        </m:r>
                      </m:sub>
                    </m:sSub>
                    <m:r>
                      <a:rPr lang="it-IT" sz="1600" b="0" i="0" smtClean="0">
                        <a:latin typeface="Cambria Math" panose="02040503050406030204" pitchFamily="18" charset="0"/>
                      </a:rPr>
                      <m:t>, </m:t>
                    </m:r>
                    <m:sSub>
                      <m:sSubPr>
                        <m:ctrlPr>
                          <a:rPr lang="it-IT" sz="1600" i="1">
                            <a:latin typeface="Cambria Math" panose="02040503050406030204" pitchFamily="18" charset="0"/>
                          </a:rPr>
                        </m:ctrlPr>
                      </m:sSubPr>
                      <m:e>
                        <m:r>
                          <a:rPr lang="it-IT" sz="1600" i="1">
                            <a:latin typeface="Cambria Math" panose="02040503050406030204" pitchFamily="18" charset="0"/>
                          </a:rPr>
                          <m:t>𝑀</m:t>
                        </m:r>
                      </m:e>
                      <m:sub>
                        <m:r>
                          <a:rPr lang="it-IT" sz="1600" i="1">
                            <a:latin typeface="Cambria Math" panose="02040503050406030204" pitchFamily="18" charset="0"/>
                          </a:rPr>
                          <m:t>𝑒𝑗</m:t>
                        </m:r>
                        <m:r>
                          <a:rPr lang="it-IT" sz="1600" i="1">
                            <a:latin typeface="Cambria Math" panose="02040503050406030204" pitchFamily="18" charset="0"/>
                          </a:rPr>
                          <m:t>,1</m:t>
                        </m:r>
                      </m:sub>
                    </m:sSub>
                  </m:oMath>
                </a14:m>
                <a:r>
                  <a:rPr lang="it-IT" sz="1600" dirty="0"/>
                  <a:t>, </a:t>
                </a:r>
                <a14:m>
                  <m:oMath xmlns:m="http://schemas.openxmlformats.org/officeDocument/2006/math">
                    <m:sSub>
                      <m:sSubPr>
                        <m:ctrlPr>
                          <a:rPr lang="it-IT" sz="1600" i="1" dirty="0">
                            <a:latin typeface="Cambria Math" panose="02040503050406030204" pitchFamily="18" charset="0"/>
                          </a:rPr>
                        </m:ctrlPr>
                      </m:sSubPr>
                      <m:e>
                        <m:r>
                          <a:rPr lang="it-IT" sz="1600" b="0" i="1" dirty="0" smtClean="0">
                            <a:latin typeface="Cambria Math" panose="02040503050406030204" pitchFamily="18" charset="0"/>
                          </a:rPr>
                          <m:t>𝑅</m:t>
                        </m:r>
                      </m:e>
                      <m:sub>
                        <m:r>
                          <a:rPr lang="it-IT" sz="1600" i="1" dirty="0">
                            <a:latin typeface="Cambria Math" panose="02040503050406030204" pitchFamily="18" charset="0"/>
                          </a:rPr>
                          <m:t>∗</m:t>
                        </m:r>
                      </m:sub>
                    </m:sSub>
                    <m:r>
                      <a:rPr lang="it-IT" sz="1600" b="0" i="1" dirty="0" smtClean="0">
                        <a:latin typeface="Cambria Math" panose="02040503050406030204" pitchFamily="18" charset="0"/>
                      </a:rPr>
                      <m:t>)</m:t>
                    </m:r>
                  </m:oMath>
                </a14:m>
                <a:r>
                  <a:rPr lang="it-IT" sz="1600" dirty="0"/>
                  <a:t> where </a:t>
                </a:r>
                <a14:m>
                  <m:oMath xmlns:m="http://schemas.openxmlformats.org/officeDocument/2006/math">
                    <m:sSub>
                      <m:sSubPr>
                        <m:ctrlPr>
                          <a:rPr lang="it-IT" sz="1600" i="1" dirty="0">
                            <a:latin typeface="Cambria Math" panose="02040503050406030204" pitchFamily="18" charset="0"/>
                          </a:rPr>
                        </m:ctrlPr>
                      </m:sSubPr>
                      <m:e>
                        <m:r>
                          <a:rPr lang="it-IT" sz="1600" i="1" dirty="0">
                            <a:latin typeface="Cambria Math" panose="02040503050406030204" pitchFamily="18" charset="0"/>
                          </a:rPr>
                          <m:t>𝑅</m:t>
                        </m:r>
                      </m:e>
                      <m:sub>
                        <m:r>
                          <a:rPr lang="it-IT" sz="1600" i="1" dirty="0">
                            <a:latin typeface="Cambria Math" panose="02040503050406030204" pitchFamily="18" charset="0"/>
                          </a:rPr>
                          <m:t>∗</m:t>
                        </m:r>
                      </m:sub>
                    </m:sSub>
                  </m:oMath>
                </a14:m>
                <a:r>
                  <a:rPr lang="it-IT" sz="1600" dirty="0"/>
                  <a:t> </a:t>
                </a:r>
                <a:r>
                  <a:rPr lang="it-IT" sz="1600" dirty="0" err="1"/>
                  <a:t>is</a:t>
                </a:r>
                <a:r>
                  <a:rPr lang="it-IT" sz="1600" dirty="0"/>
                  <a:t> the shock </a:t>
                </a:r>
                <a:r>
                  <a:rPr lang="it-IT" sz="1600" dirty="0" err="1"/>
                  <a:t>radus</a:t>
                </a:r>
                <a:r>
                  <a:rPr lang="it-IT" sz="1600" dirty="0"/>
                  <a:t> </a:t>
                </a:r>
                <a:r>
                  <a:rPr lang="it-IT" sz="1600" dirty="0" err="1"/>
                  <a:t>estmated</a:t>
                </a:r>
                <a:r>
                  <a:rPr lang="it-IT" sz="1600" dirty="0"/>
                  <a:t> </a:t>
                </a:r>
                <a:r>
                  <a:rPr lang="it-IT" sz="1600" dirty="0" err="1"/>
                  <a:t>at</a:t>
                </a:r>
                <a:r>
                  <a:rPr lang="it-IT" sz="1600" dirty="0"/>
                  <a:t> </a:t>
                </a: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𝑡</m:t>
                        </m:r>
                      </m:e>
                      <m:sub>
                        <m:r>
                          <a:rPr lang="it-IT" sz="1600" i="1">
                            <a:latin typeface="Cambria Math" panose="02040503050406030204" pitchFamily="18" charset="0"/>
                          </a:rPr>
                          <m:t>∗</m:t>
                        </m:r>
                      </m:sub>
                    </m:sSub>
                  </m:oMath>
                </a14:m>
                <a:r>
                  <a:rPr lang="it-IT" sz="1600" dirty="0"/>
                  <a:t> </a:t>
                </a:r>
                <a:r>
                  <a:rPr lang="it-IT" sz="1600" dirty="0" err="1"/>
                  <a:t>at</a:t>
                </a:r>
                <a:r>
                  <a:rPr lang="it-IT" sz="1600" dirty="0"/>
                  <a:t>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𝑉</m:t>
                        </m:r>
                      </m:e>
                      <m:sub>
                        <m:r>
                          <a:rPr lang="it-IT" sz="1600" b="0" i="1" smtClean="0">
                            <a:latin typeface="Cambria Math" panose="02040503050406030204" pitchFamily="18" charset="0"/>
                          </a:rPr>
                          <m:t>𝑠</m:t>
                        </m:r>
                      </m:sub>
                    </m:sSub>
                    <m:r>
                      <a:rPr lang="it-IT" sz="1600" b="0" i="1" smtClean="0">
                        <a:latin typeface="Cambria Math" panose="02040503050406030204" pitchFamily="18" charset="0"/>
                      </a:rPr>
                      <m:t>&lt; </m:t>
                    </m:r>
                    <m:sSub>
                      <m:sSubPr>
                        <m:ctrlPr>
                          <a:rPr lang="it-IT" sz="1600" i="1">
                            <a:latin typeface="Cambria Math" panose="02040503050406030204" pitchFamily="18" charset="0"/>
                          </a:rPr>
                        </m:ctrlPr>
                      </m:sSubPr>
                      <m:e>
                        <m:r>
                          <a:rPr lang="it-IT" sz="1600" i="1">
                            <a:latin typeface="Cambria Math" panose="02040503050406030204" pitchFamily="18" charset="0"/>
                          </a:rPr>
                          <m:t>𝑉</m:t>
                        </m:r>
                      </m:e>
                      <m:sub>
                        <m:r>
                          <a:rPr lang="it-IT" sz="1600" i="1">
                            <a:latin typeface="Cambria Math" panose="02040503050406030204" pitchFamily="18" charset="0"/>
                          </a:rPr>
                          <m:t>𝑠</m:t>
                        </m:r>
                        <m:r>
                          <a:rPr lang="it-IT" sz="1600" b="0" i="1" smtClean="0">
                            <a:latin typeface="Cambria Math" panose="02040503050406030204" pitchFamily="18" charset="0"/>
                          </a:rPr>
                          <m:t>,</m:t>
                        </m:r>
                        <m:r>
                          <a:rPr lang="it-IT" sz="1600" b="0" i="1" smtClean="0">
                            <a:latin typeface="Cambria Math" panose="02040503050406030204" pitchFamily="18" charset="0"/>
                          </a:rPr>
                          <m:t>𝑚𝑎𝑥</m:t>
                        </m:r>
                      </m:sub>
                    </m:sSub>
                  </m:oMath>
                </a14:m>
                <a:r>
                  <a:rPr lang="it-IT" sz="1600" dirty="0"/>
                  <a:t> (shock </a:t>
                </a:r>
                <a:r>
                  <a:rPr lang="it-IT" sz="1600" dirty="0" err="1"/>
                  <a:t>velocity</a:t>
                </a:r>
                <a:r>
                  <a:rPr lang="it-IT" sz="1600" dirty="0"/>
                  <a:t>)</a:t>
                </a:r>
                <a:br>
                  <a:rPr lang="it-IT" sz="1600" dirty="0"/>
                </a:br>
                <a:br>
                  <a:rPr lang="it-IT" sz="1600" dirty="0"/>
                </a:br>
                <a:r>
                  <a:rPr lang="it-IT" sz="1600" dirty="0"/>
                  <a:t>     </a:t>
                </a:r>
              </a:p>
            </p:txBody>
          </p:sp>
        </mc:Choice>
        <mc:Fallback xmlns="">
          <p:sp>
            <p:nvSpPr>
              <p:cNvPr id="6" name="CasellaDiTesto 5">
                <a:extLst>
                  <a:ext uri="{FF2B5EF4-FFF2-40B4-BE49-F238E27FC236}">
                    <a16:creationId xmlns:a16="http://schemas.microsoft.com/office/drawing/2014/main" id="{0E6BC980-9418-F9EB-9A1E-B1B44D5C85F3}"/>
                  </a:ext>
                </a:extLst>
              </p:cNvPr>
              <p:cNvSpPr txBox="1">
                <a:spLocks noRot="1" noChangeAspect="1" noMove="1" noResize="1" noEditPoints="1" noAdjustHandles="1" noChangeArrowheads="1" noChangeShapeType="1" noTextEdit="1"/>
              </p:cNvSpPr>
              <p:nvPr/>
            </p:nvSpPr>
            <p:spPr>
              <a:xfrm>
                <a:off x="345282" y="616535"/>
                <a:ext cx="6636543" cy="6334298"/>
              </a:xfrm>
              <a:prstGeom prst="rect">
                <a:avLst/>
              </a:prstGeom>
              <a:blipFill>
                <a:blip r:embed="rId4"/>
                <a:stretch>
                  <a:fillRect l="-551" t="-289" r="-827" b="-2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3D446845-1741-D392-E46F-79DC33F87564}"/>
                  </a:ext>
                </a:extLst>
              </p:cNvPr>
              <p:cNvSpPr txBox="1"/>
              <p:nvPr/>
            </p:nvSpPr>
            <p:spPr>
              <a:xfrm>
                <a:off x="7248524" y="3783684"/>
                <a:ext cx="4598193" cy="1815882"/>
              </a:xfrm>
              <a:prstGeom prst="rect">
                <a:avLst/>
              </a:prstGeom>
              <a:solidFill>
                <a:schemeClr val="accent4">
                  <a:lumMod val="20000"/>
                  <a:lumOff val="80000"/>
                </a:schemeClr>
              </a:solidFill>
            </p:spPr>
            <p:txBody>
              <a:bodyPr wrap="square">
                <a:spAutoFit/>
              </a:bodyPr>
              <a:lstStyle/>
              <a:p>
                <a:r>
                  <a:rPr lang="it-IT" sz="1600" dirty="0" err="1"/>
                  <a:t>Considering</a:t>
                </a:r>
                <a:r>
                  <a:rPr lang="it-IT" sz="1600" dirty="0"/>
                  <a:t> </a:t>
                </a:r>
                <a:r>
                  <a:rPr lang="it-IT" sz="1600" dirty="0" err="1"/>
                  <a:t>these</a:t>
                </a:r>
                <a:r>
                  <a:rPr lang="it-IT" sz="1600" dirty="0"/>
                  <a:t> 2 </a:t>
                </a:r>
                <a:r>
                  <a:rPr lang="it-IT" sz="1600" dirty="0" err="1"/>
                  <a:t>condition</a:t>
                </a:r>
                <a:r>
                  <a:rPr lang="it-IT" sz="1600" dirty="0"/>
                  <a:t>, the ONSET time of CR </a:t>
                </a:r>
                <a:r>
                  <a:rPr lang="it-IT" sz="1600" dirty="0" err="1"/>
                  <a:t>acceleration</a:t>
                </a:r>
                <a:r>
                  <a:rPr lang="it-IT" sz="1600" dirty="0"/>
                  <a:t> </a:t>
                </a:r>
                <a:r>
                  <a:rPr lang="it-IT" sz="1600" dirty="0" err="1"/>
                  <a:t>is</a:t>
                </a:r>
                <a:r>
                  <a:rPr lang="it-IT" sz="1600" dirty="0"/>
                  <a:t> given by </a:t>
                </a:r>
                <a:br>
                  <a:rPr lang="it-IT" sz="1600" dirty="0"/>
                </a:b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𝑡</m:t>
                        </m:r>
                      </m:e>
                      <m:sub>
                        <m:r>
                          <a:rPr lang="it-IT" sz="1600" b="0" i="1" smtClean="0">
                            <a:latin typeface="Cambria Math" panose="02040503050406030204" pitchFamily="18" charset="0"/>
                          </a:rPr>
                          <m:t>𝑜𝑛𝑠𝑒𝑡</m:t>
                        </m:r>
                      </m:sub>
                    </m:sSub>
                    <m:r>
                      <a:rPr lang="it-IT" sz="1600" b="0" i="1" smtClean="0">
                        <a:latin typeface="Cambria Math" panose="02040503050406030204" pitchFamily="18" charset="0"/>
                      </a:rPr>
                      <m:t> </m:t>
                    </m:r>
                  </m:oMath>
                </a14:m>
                <a:r>
                  <a:rPr lang="it-IT" sz="1600" dirty="0"/>
                  <a:t>≈ max [</a:t>
                </a: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𝑡</m:t>
                        </m:r>
                      </m:e>
                      <m:sub>
                        <m:r>
                          <a:rPr lang="it-IT" sz="1600" i="1">
                            <a:latin typeface="Cambria Math" panose="02040503050406030204" pitchFamily="18" charset="0"/>
                          </a:rPr>
                          <m:t>𝑏𝑜</m:t>
                        </m:r>
                      </m:sub>
                    </m:sSub>
                  </m:oMath>
                </a14:m>
                <a:r>
                  <a:rPr lang="it-IT" sz="1600" dirty="0"/>
                  <a:t>, </a:t>
                </a: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𝑡</m:t>
                        </m:r>
                      </m:e>
                      <m:sub>
                        <m:r>
                          <a:rPr lang="it-IT" sz="1600" i="1">
                            <a:latin typeface="Cambria Math" panose="02040503050406030204" pitchFamily="18" charset="0"/>
                          </a:rPr>
                          <m:t>∗</m:t>
                        </m:r>
                      </m:sub>
                    </m:sSub>
                  </m:oMath>
                </a14:m>
                <a:r>
                  <a:rPr lang="it-IT" sz="1600" dirty="0"/>
                  <a:t>]</a:t>
                </a:r>
              </a:p>
              <a:p>
                <a:endParaRPr lang="it-IT" sz="1600" dirty="0"/>
              </a:p>
              <a:p>
                <a:r>
                  <a:rPr lang="it-IT" sz="1600" b="1" dirty="0">
                    <a:solidFill>
                      <a:schemeClr val="accent1"/>
                    </a:solidFill>
                  </a:rPr>
                  <a:t> BUT in </a:t>
                </a:r>
                <a:r>
                  <a:rPr lang="it-IT" sz="1600" b="1" dirty="0" err="1">
                    <a:solidFill>
                      <a:schemeClr val="accent1"/>
                    </a:solidFill>
                  </a:rPr>
                  <a:t>most</a:t>
                </a:r>
                <a:r>
                  <a:rPr lang="it-IT" sz="1600" b="1" dirty="0">
                    <a:solidFill>
                      <a:schemeClr val="accent1"/>
                    </a:solidFill>
                  </a:rPr>
                  <a:t> </a:t>
                </a:r>
                <a:r>
                  <a:rPr lang="it-IT" sz="1600" b="1" dirty="0" err="1">
                    <a:solidFill>
                      <a:schemeClr val="accent1"/>
                    </a:solidFill>
                  </a:rPr>
                  <a:t>cases</a:t>
                </a:r>
                <a:r>
                  <a:rPr lang="it-IT" sz="1600" b="1" dirty="0">
                    <a:solidFill>
                      <a:schemeClr val="accent1"/>
                    </a:solidFill>
                  </a:rPr>
                  <a:t> for SN II-P </a:t>
                </a:r>
                <a14:m>
                  <m:oMath xmlns:m="http://schemas.openxmlformats.org/officeDocument/2006/math">
                    <m:sSub>
                      <m:sSubPr>
                        <m:ctrlPr>
                          <a:rPr lang="en-US" sz="1600" b="1" i="1" smtClean="0">
                            <a:solidFill>
                              <a:schemeClr val="accent1"/>
                            </a:solidFill>
                            <a:latin typeface="Cambria Math" panose="02040503050406030204" pitchFamily="18" charset="0"/>
                          </a:rPr>
                        </m:ctrlPr>
                      </m:sSubPr>
                      <m:e>
                        <m:r>
                          <a:rPr lang="it-IT" sz="1600" b="1" i="1">
                            <a:solidFill>
                              <a:schemeClr val="accent1"/>
                            </a:solidFill>
                            <a:latin typeface="Cambria Math" panose="02040503050406030204" pitchFamily="18" charset="0"/>
                          </a:rPr>
                          <m:t>𝒕</m:t>
                        </m:r>
                      </m:e>
                      <m:sub>
                        <m:r>
                          <a:rPr lang="it-IT" sz="1600" b="1" i="1" smtClean="0">
                            <a:solidFill>
                              <a:schemeClr val="accent1"/>
                            </a:solidFill>
                            <a:latin typeface="Cambria Math" panose="02040503050406030204" pitchFamily="18" charset="0"/>
                          </a:rPr>
                          <m:t>𝒐𝒏𝒔𝒆𝒕</m:t>
                        </m:r>
                      </m:sub>
                    </m:sSub>
                    <m:r>
                      <a:rPr lang="it-IT" sz="1600" b="1" i="1" smtClean="0">
                        <a:solidFill>
                          <a:schemeClr val="accent1"/>
                        </a:solidFill>
                        <a:latin typeface="Cambria Math" panose="02040503050406030204" pitchFamily="18" charset="0"/>
                      </a:rPr>
                      <m:t> </m:t>
                    </m:r>
                    <m:r>
                      <a:rPr lang="it-IT" sz="1600" b="1" dirty="0">
                        <a:solidFill>
                          <a:schemeClr val="accent1"/>
                        </a:solidFill>
                        <a:latin typeface="Cambria Math" panose="02040503050406030204" pitchFamily="18" charset="0"/>
                        <a:ea typeface="Cambria Math" panose="02040503050406030204" pitchFamily="18" charset="0"/>
                      </a:rPr>
                      <m:t>∼</m:t>
                    </m:r>
                  </m:oMath>
                </a14:m>
                <a:r>
                  <a:rPr lang="it-IT" sz="1600" b="1" dirty="0">
                    <a:solidFill>
                      <a:schemeClr val="accent1"/>
                    </a:solidFill>
                  </a:rPr>
                  <a:t> </a:t>
                </a:r>
                <a14:m>
                  <m:oMath xmlns:m="http://schemas.openxmlformats.org/officeDocument/2006/math">
                    <m:sSub>
                      <m:sSubPr>
                        <m:ctrlPr>
                          <a:rPr lang="en-US" sz="1600" b="1" i="1">
                            <a:solidFill>
                              <a:schemeClr val="accent1"/>
                            </a:solidFill>
                            <a:latin typeface="Cambria Math" panose="02040503050406030204" pitchFamily="18" charset="0"/>
                          </a:rPr>
                        </m:ctrlPr>
                      </m:sSubPr>
                      <m:e>
                        <m:r>
                          <a:rPr lang="it-IT" sz="1600" b="1" i="1">
                            <a:solidFill>
                              <a:schemeClr val="accent1"/>
                            </a:solidFill>
                            <a:latin typeface="Cambria Math" panose="02040503050406030204" pitchFamily="18" charset="0"/>
                          </a:rPr>
                          <m:t>𝒕</m:t>
                        </m:r>
                      </m:e>
                      <m:sub>
                        <m:r>
                          <a:rPr lang="it-IT" sz="1600" b="1" i="1">
                            <a:solidFill>
                              <a:schemeClr val="accent1"/>
                            </a:solidFill>
                            <a:latin typeface="Cambria Math" panose="02040503050406030204" pitchFamily="18" charset="0"/>
                          </a:rPr>
                          <m:t>𝒃𝒐</m:t>
                        </m:r>
                      </m:sub>
                    </m:sSub>
                  </m:oMath>
                </a14:m>
                <a:r>
                  <a:rPr lang="it-IT" sz="1600" b="1" dirty="0">
                    <a:solidFill>
                      <a:schemeClr val="accent1"/>
                    </a:solidFill>
                  </a:rPr>
                  <a:t> </a:t>
                </a:r>
                <a:r>
                  <a:rPr lang="it-IT" sz="1600" b="1" dirty="0" err="1">
                    <a:solidFill>
                      <a:schemeClr val="accent1"/>
                    </a:solidFill>
                  </a:rPr>
                  <a:t>while</a:t>
                </a:r>
                <a:r>
                  <a:rPr lang="it-IT" sz="1600" b="1" dirty="0">
                    <a:solidFill>
                      <a:schemeClr val="accent1"/>
                    </a:solidFill>
                  </a:rPr>
                  <a:t> for SN II-n </a:t>
                </a:r>
                <a14:m>
                  <m:oMath xmlns:m="http://schemas.openxmlformats.org/officeDocument/2006/math">
                    <m:sSub>
                      <m:sSubPr>
                        <m:ctrlPr>
                          <a:rPr lang="en-US" sz="1600" b="1" i="1">
                            <a:solidFill>
                              <a:schemeClr val="accent1"/>
                            </a:solidFill>
                            <a:latin typeface="Cambria Math" panose="02040503050406030204" pitchFamily="18" charset="0"/>
                          </a:rPr>
                        </m:ctrlPr>
                      </m:sSubPr>
                      <m:e>
                        <m:r>
                          <a:rPr lang="it-IT" sz="1600" b="1" i="1">
                            <a:solidFill>
                              <a:schemeClr val="accent1"/>
                            </a:solidFill>
                            <a:latin typeface="Cambria Math" panose="02040503050406030204" pitchFamily="18" charset="0"/>
                          </a:rPr>
                          <m:t>𝒕</m:t>
                        </m:r>
                      </m:e>
                      <m:sub>
                        <m:r>
                          <a:rPr lang="it-IT" sz="1600" b="1" i="1">
                            <a:solidFill>
                              <a:schemeClr val="accent1"/>
                            </a:solidFill>
                            <a:latin typeface="Cambria Math" panose="02040503050406030204" pitchFamily="18" charset="0"/>
                          </a:rPr>
                          <m:t>𝒐𝒏𝒔𝒆𝒕</m:t>
                        </m:r>
                      </m:sub>
                    </m:sSub>
                    <m:r>
                      <a:rPr lang="it-IT" sz="1600" b="1">
                        <a:solidFill>
                          <a:schemeClr val="accent1"/>
                        </a:solidFill>
                        <a:latin typeface="Cambria Math" panose="02040503050406030204" pitchFamily="18" charset="0"/>
                      </a:rPr>
                      <m:t>∼</m:t>
                    </m:r>
                    <m:sSub>
                      <m:sSubPr>
                        <m:ctrlPr>
                          <a:rPr lang="en-US" sz="1600" b="1" i="1">
                            <a:solidFill>
                              <a:schemeClr val="accent1"/>
                            </a:solidFill>
                            <a:latin typeface="Cambria Math" panose="02040503050406030204" pitchFamily="18" charset="0"/>
                          </a:rPr>
                        </m:ctrlPr>
                      </m:sSubPr>
                      <m:e>
                        <m:r>
                          <a:rPr lang="it-IT" sz="1600" b="1" i="1">
                            <a:solidFill>
                              <a:schemeClr val="accent1"/>
                            </a:solidFill>
                            <a:latin typeface="Cambria Math" panose="02040503050406030204" pitchFamily="18" charset="0"/>
                          </a:rPr>
                          <m:t>𝒕</m:t>
                        </m:r>
                      </m:e>
                      <m:sub>
                        <m:r>
                          <a:rPr lang="it-IT" sz="1600" b="1" i="1">
                            <a:solidFill>
                              <a:schemeClr val="accent1"/>
                            </a:solidFill>
                            <a:latin typeface="Cambria Math" panose="02040503050406030204" pitchFamily="18" charset="0"/>
                          </a:rPr>
                          <m:t>∗</m:t>
                        </m:r>
                      </m:sub>
                    </m:sSub>
                  </m:oMath>
                </a14:m>
                <a:endParaRPr lang="it-IT" sz="1600" b="1" dirty="0">
                  <a:solidFill>
                    <a:schemeClr val="accent1"/>
                  </a:solidFill>
                </a:endParaRPr>
              </a:p>
              <a:p>
                <a:endParaRPr lang="it-IT" sz="1600" dirty="0"/>
              </a:p>
            </p:txBody>
          </p:sp>
        </mc:Choice>
        <mc:Fallback xmlns="">
          <p:sp>
            <p:nvSpPr>
              <p:cNvPr id="5" name="CasellaDiTesto 4">
                <a:extLst>
                  <a:ext uri="{FF2B5EF4-FFF2-40B4-BE49-F238E27FC236}">
                    <a16:creationId xmlns:a16="http://schemas.microsoft.com/office/drawing/2014/main" id="{3D446845-1741-D392-E46F-79DC33F87564}"/>
                  </a:ext>
                </a:extLst>
              </p:cNvPr>
              <p:cNvSpPr txBox="1">
                <a:spLocks noRot="1" noChangeAspect="1" noMove="1" noResize="1" noEditPoints="1" noAdjustHandles="1" noChangeArrowheads="1" noChangeShapeType="1" noTextEdit="1"/>
              </p:cNvSpPr>
              <p:nvPr/>
            </p:nvSpPr>
            <p:spPr>
              <a:xfrm>
                <a:off x="7248524" y="3783684"/>
                <a:ext cx="4598193" cy="1815882"/>
              </a:xfrm>
              <a:prstGeom prst="rect">
                <a:avLst/>
              </a:prstGeom>
              <a:blipFill>
                <a:blip r:embed="rId5"/>
                <a:stretch>
                  <a:fillRect l="-663" t="-1007" r="-531"/>
                </a:stretch>
              </a:blipFill>
            </p:spPr>
            <p:txBody>
              <a:bodyPr/>
              <a:lstStyle/>
              <a:p>
                <a:r>
                  <a:rPr lang="it-IT">
                    <a:noFill/>
                  </a:rPr>
                  <a:t> </a:t>
                </a:r>
              </a:p>
            </p:txBody>
          </p:sp>
        </mc:Fallback>
      </mc:AlternateContent>
      <p:pic>
        <p:nvPicPr>
          <p:cNvPr id="9" name="Immagine 8">
            <a:extLst>
              <a:ext uri="{FF2B5EF4-FFF2-40B4-BE49-F238E27FC236}">
                <a16:creationId xmlns:a16="http://schemas.microsoft.com/office/drawing/2014/main" id="{2DEC2125-0F1E-9C3F-B61D-892AAA4A1453}"/>
              </a:ext>
            </a:extLst>
          </p:cNvPr>
          <p:cNvPicPr>
            <a:picLocks noChangeAspect="1"/>
          </p:cNvPicPr>
          <p:nvPr/>
        </p:nvPicPr>
        <p:blipFill>
          <a:blip r:embed="rId6"/>
          <a:stretch>
            <a:fillRect/>
          </a:stretch>
        </p:blipFill>
        <p:spPr>
          <a:xfrm>
            <a:off x="7167088" y="251645"/>
            <a:ext cx="4548661" cy="2877204"/>
          </a:xfrm>
          <a:prstGeom prst="rect">
            <a:avLst/>
          </a:prstGeom>
          <a:ln w="28575">
            <a:solidFill>
              <a:schemeClr val="accent1"/>
            </a:solidFill>
          </a:ln>
        </p:spPr>
      </p:pic>
    </p:spTree>
    <p:extLst>
      <p:ext uri="{BB962C8B-B14F-4D97-AF65-F5344CB8AC3E}">
        <p14:creationId xmlns:p14="http://schemas.microsoft.com/office/powerpoint/2010/main" val="3503446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1" y="0"/>
            <a:ext cx="7010401"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High-energy </a:t>
            </a:r>
            <a:r>
              <a:rPr lang="it-IT" sz="2800" b="1" dirty="0" err="1">
                <a:solidFill>
                  <a:schemeClr val="accent1"/>
                </a:solidFill>
              </a:rPr>
              <a:t>neutrinos</a:t>
            </a:r>
            <a:r>
              <a:rPr lang="it-IT" sz="2800" b="1" dirty="0">
                <a:solidFill>
                  <a:schemeClr val="accent1"/>
                </a:solidFill>
              </a:rPr>
              <a:t> from </a:t>
            </a:r>
            <a:r>
              <a:rPr lang="it-IT" sz="2800" b="1" dirty="0" err="1">
                <a:solidFill>
                  <a:schemeClr val="accent1"/>
                </a:solidFill>
              </a:rPr>
              <a:t>nearby</a:t>
            </a:r>
            <a:r>
              <a:rPr lang="it-IT" sz="2800" b="1" dirty="0">
                <a:solidFill>
                  <a:schemeClr val="accent1"/>
                </a:solidFill>
              </a:rPr>
              <a:t> </a:t>
            </a:r>
            <a:r>
              <a:rPr lang="it-IT" sz="2800" b="1" dirty="0" err="1">
                <a:solidFill>
                  <a:schemeClr val="accent1"/>
                </a:solidFill>
              </a:rPr>
              <a:t>SNe</a:t>
            </a:r>
            <a:r>
              <a:rPr lang="it-IT" sz="2800" b="1" dirty="0">
                <a:solidFill>
                  <a:schemeClr val="accent1"/>
                </a:solidFill>
              </a:rPr>
              <a:t> (</a:t>
            </a:r>
            <a:r>
              <a:rPr lang="it-IT" sz="2800" b="1" dirty="0" err="1">
                <a:solidFill>
                  <a:schemeClr val="accent1"/>
                </a:solidFill>
              </a:rPr>
              <a:t>Murase</a:t>
            </a:r>
            <a:r>
              <a:rPr lang="it-IT" sz="2800" b="1" dirty="0">
                <a:solidFill>
                  <a:schemeClr val="accent1"/>
                </a:solidFill>
              </a:rPr>
              <a:t>)</a:t>
            </a:r>
          </a:p>
        </p:txBody>
      </p:sp>
      <p:sp>
        <p:nvSpPr>
          <p:cNvPr id="3" name="CasellaDiTesto 2">
            <a:extLst>
              <a:ext uri="{FF2B5EF4-FFF2-40B4-BE49-F238E27FC236}">
                <a16:creationId xmlns:a16="http://schemas.microsoft.com/office/drawing/2014/main" id="{5A144FA5-CC8E-EA2D-1507-0127394215DD}"/>
              </a:ext>
            </a:extLst>
          </p:cNvPr>
          <p:cNvSpPr txBox="1"/>
          <p:nvPr/>
        </p:nvSpPr>
        <p:spPr>
          <a:xfrm>
            <a:off x="0" y="6581001"/>
            <a:ext cx="11220450" cy="276999"/>
          </a:xfrm>
          <a:prstGeom prst="rect">
            <a:avLst/>
          </a:prstGeom>
          <a:noFill/>
        </p:spPr>
        <p:txBody>
          <a:bodyPr wrap="square">
            <a:spAutoFit/>
          </a:bodyPr>
          <a:lstStyle/>
          <a:p>
            <a:r>
              <a:rPr lang="en-US" sz="1200" b="1" dirty="0">
                <a:solidFill>
                  <a:schemeClr val="accent1"/>
                </a:solidFill>
              </a:rPr>
              <a:t>New prospects for detecting high-energy neutrinos from nearby supernovae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https://journals.aps.org/</a:t>
            </a:r>
            <a:r>
              <a:rPr lang="it-IT" sz="1200" dirty="0" err="1">
                <a:solidFill>
                  <a:schemeClr val="accent1"/>
                </a:solidFill>
                <a:latin typeface="Arial Nova Light" panose="020B0304020202020204" pitchFamily="34" charset="0"/>
                <a:hlinkClick r:id="rId2"/>
              </a:rPr>
              <a:t>prd</a:t>
            </a:r>
            <a:r>
              <a:rPr lang="it-IT" sz="1200" dirty="0">
                <a:solidFill>
                  <a:schemeClr val="accent1"/>
                </a:solidFill>
                <a:latin typeface="Arial Nova Light" panose="020B0304020202020204" pitchFamily="34" charset="0"/>
                <a:hlinkClick r:id="rId2"/>
              </a:rPr>
              <a:t>/abstract/10.1103/PhysRevD.97.081301</a:t>
            </a:r>
            <a:r>
              <a:rPr lang="it-IT" sz="1200" dirty="0">
                <a:solidFill>
                  <a:schemeClr val="accent1"/>
                </a:solidFill>
                <a:latin typeface="Arial Nova Light" panose="020B0304020202020204" pitchFamily="34" charset="0"/>
                <a:hlinkClick r:id="rId3"/>
              </a:rPr>
              <a:t>)</a:t>
            </a:r>
            <a:r>
              <a:rPr lang="en-US" sz="1200" dirty="0">
                <a:solidFill>
                  <a:schemeClr val="accent1"/>
                </a:solidFill>
                <a:hlinkClick r:id="rId3"/>
              </a:rPr>
              <a:t> </a:t>
            </a:r>
            <a:endParaRPr lang="it-IT" sz="1200" dirty="0">
              <a:solidFill>
                <a:schemeClr val="accent1"/>
              </a:solidFill>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E6BC980-9418-F9EB-9A1E-B1B44D5C85F3}"/>
                  </a:ext>
                </a:extLst>
              </p:cNvPr>
              <p:cNvSpPr txBox="1"/>
              <p:nvPr/>
            </p:nvSpPr>
            <p:spPr>
              <a:xfrm>
                <a:off x="331451" y="1321385"/>
                <a:ext cx="6116974" cy="5016758"/>
              </a:xfrm>
              <a:prstGeom prst="rect">
                <a:avLst/>
              </a:prstGeom>
              <a:noFill/>
            </p:spPr>
            <p:txBody>
              <a:bodyPr wrap="square">
                <a:spAutoFit/>
              </a:bodyPr>
              <a:lstStyle/>
              <a:p>
                <a:r>
                  <a:rPr lang="en-US" sz="1600" b="1" dirty="0" err="1">
                    <a:solidFill>
                      <a:schemeClr val="accent1"/>
                    </a:solidFill>
                  </a:rPr>
                  <a:t>TeV</a:t>
                </a:r>
                <a:r>
                  <a:rPr lang="en-US" sz="1600" b="1" dirty="0">
                    <a:solidFill>
                      <a:schemeClr val="accent1"/>
                    </a:solidFill>
                  </a:rPr>
                  <a:t> neutrino light curves for various types of </a:t>
                </a:r>
                <a:r>
                  <a:rPr lang="en-US" sz="1600" b="1" dirty="0" err="1">
                    <a:solidFill>
                      <a:schemeClr val="accent1"/>
                    </a:solidFill>
                  </a:rPr>
                  <a:t>SNe</a:t>
                </a:r>
                <a:r>
                  <a:rPr lang="en-US" sz="1600" b="1" dirty="0"/>
                  <a:t>. </a:t>
                </a:r>
                <a:br>
                  <a:rPr lang="en-US" sz="1600" dirty="0"/>
                </a:br>
                <a:br>
                  <a:rPr lang="en-US" sz="1600" dirty="0"/>
                </a:br>
                <a:r>
                  <a:rPr lang="en-US" sz="1600" dirty="0"/>
                  <a:t>A core-collapse SN event with a MeV neutrino luminosity of </a:t>
                </a:r>
                <a14:m>
                  <m:oMath xmlns:m="http://schemas.openxmlformats.org/officeDocument/2006/math">
                    <m:sSub>
                      <m:sSubPr>
                        <m:ctrlPr>
                          <a:rPr lang="en-US" sz="1600" i="1" smtClean="0">
                            <a:latin typeface="Cambria Math" panose="02040503050406030204" pitchFamily="18" charset="0"/>
                          </a:rPr>
                        </m:ctrlPr>
                      </m:sSubPr>
                      <m:e>
                        <m:r>
                          <a:rPr lang="it-IT" sz="1600" b="0" i="1" smtClean="0">
                            <a:latin typeface="Cambria Math" panose="02040503050406030204" pitchFamily="18" charset="0"/>
                          </a:rPr>
                          <m:t>𝐿</m:t>
                        </m:r>
                      </m:e>
                      <m:sub>
                        <m:r>
                          <m:rPr>
                            <m:sty m:val="p"/>
                          </m:rPr>
                          <a:rPr lang="el-GR" sz="1600" i="1" smtClean="0">
                            <a:latin typeface="Cambria Math" panose="02040503050406030204" pitchFamily="18" charset="0"/>
                          </a:rPr>
                          <m:t>ν</m:t>
                        </m:r>
                      </m:sub>
                    </m:sSub>
                  </m:oMath>
                </a14:m>
                <a:r>
                  <a:rPr lang="en-US" sz="1600" dirty="0"/>
                  <a:t> ∼ a few ×10^53 erg s^−1 will be accompanied by high-energy neutrino emission with a luminosity of </a:t>
                </a: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𝐿</m:t>
                        </m:r>
                      </m:e>
                      <m:sub>
                        <m:r>
                          <m:rPr>
                            <m:sty m:val="p"/>
                          </m:rPr>
                          <a:rPr lang="el-GR" sz="1600" i="1">
                            <a:latin typeface="Cambria Math" panose="02040503050406030204" pitchFamily="18" charset="0"/>
                          </a:rPr>
                          <m:t>ν</m:t>
                        </m:r>
                      </m:sub>
                    </m:sSub>
                    <m:r>
                      <a:rPr lang="el-GR" sz="1600" i="1">
                        <a:latin typeface="Cambria Math" panose="02040503050406030204" pitchFamily="18" charset="0"/>
                      </a:rPr>
                      <m:t> </m:t>
                    </m:r>
                  </m:oMath>
                </a14:m>
                <a:r>
                  <a:rPr lang="en-US" sz="1600" dirty="0"/>
                  <a:t>∼ 10^37−10^42 erg s^−1.</a:t>
                </a:r>
              </a:p>
              <a:p>
                <a:endParaRPr lang="en-US" sz="1600" dirty="0"/>
              </a:p>
              <a:p>
                <a:r>
                  <a:rPr lang="en-US" sz="1600" dirty="0"/>
                  <a:t>In the plot the neutrino luminosity is expressed as </a:t>
                </a:r>
                <a14:m>
                  <m:oMath xmlns:m="http://schemas.openxmlformats.org/officeDocument/2006/math">
                    <m:sSub>
                      <m:sSubPr>
                        <m:ctrlPr>
                          <a:rPr lang="en-US" sz="1600" i="1" smtClean="0">
                            <a:latin typeface="Cambria Math" panose="02040503050406030204" pitchFamily="18" charset="0"/>
                          </a:rPr>
                        </m:ctrlPr>
                      </m:sSubPr>
                      <m:e>
                        <m:r>
                          <a:rPr lang="it-IT" sz="1600" b="0" i="1" smtClean="0">
                            <a:latin typeface="Cambria Math" panose="02040503050406030204" pitchFamily="18" charset="0"/>
                          </a:rPr>
                          <m:t>𝐸</m:t>
                        </m:r>
                      </m:e>
                      <m:sub>
                        <m:r>
                          <m:rPr>
                            <m:sty m:val="p"/>
                          </m:rPr>
                          <a:rPr lang="el-GR" sz="1600" i="1" smtClean="0">
                            <a:latin typeface="Cambria Math" panose="02040503050406030204" pitchFamily="18" charset="0"/>
                          </a:rPr>
                          <m:t>ν</m:t>
                        </m:r>
                      </m:sub>
                    </m:sSub>
                  </m:oMath>
                </a14:m>
                <a:r>
                  <a:rPr lang="en-US" sz="1600" dirty="0"/>
                  <a:t> </a:t>
                </a: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𝐿</m:t>
                        </m:r>
                      </m:e>
                      <m:sub>
                        <m:r>
                          <m:rPr>
                            <m:sty m:val="p"/>
                          </m:rPr>
                          <a:rPr lang="el-GR" sz="1600" i="1">
                            <a:latin typeface="Cambria Math" panose="02040503050406030204" pitchFamily="18" charset="0"/>
                          </a:rPr>
                          <m:t>ν</m:t>
                        </m:r>
                      </m:sub>
                    </m:sSub>
                  </m:oMath>
                </a14:m>
                <a:r>
                  <a:rPr lang="en-US" sz="1600" dirty="0"/>
                  <a:t> as </a:t>
                </a: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𝐿</m:t>
                        </m:r>
                      </m:e>
                      <m:sub>
                        <m:r>
                          <m:rPr>
                            <m:sty m:val="p"/>
                          </m:rPr>
                          <a:rPr lang="el-GR" sz="1600" i="1">
                            <a:latin typeface="Cambria Math" panose="02040503050406030204" pitchFamily="18" charset="0"/>
                          </a:rPr>
                          <m:t>ν</m:t>
                        </m:r>
                      </m:sub>
                    </m:sSub>
                  </m:oMath>
                </a14:m>
                <a:r>
                  <a:rPr lang="en-US" sz="1600" dirty="0"/>
                  <a:t> is the differential neutrino luminosity (</a:t>
                </a:r>
                <a:r>
                  <a:rPr lang="en-US" sz="1600" dirty="0" err="1"/>
                  <a:t>vedi</a:t>
                </a:r>
                <a:r>
                  <a:rPr lang="en-US" sz="1600" dirty="0"/>
                  <a:t> mail di </a:t>
                </a:r>
                <a:r>
                  <a:rPr lang="en-US" sz="1600" dirty="0" err="1"/>
                  <a:t>murase</a:t>
                </a:r>
                <a:r>
                  <a:rPr lang="en-US" sz="1600" dirty="0"/>
                  <a:t>).</a:t>
                </a:r>
              </a:p>
              <a:p>
                <a:pPr algn="l"/>
                <a:endParaRPr lang="en-US" sz="1600" dirty="0"/>
              </a:p>
              <a:p>
                <a:pPr algn="l"/>
                <a:endParaRPr lang="en-US" sz="1600" dirty="0"/>
              </a:p>
              <a:p>
                <a:pPr marL="285750" indent="-285750" algn="l">
                  <a:buFont typeface="Arial" panose="020B0604020202020204" pitchFamily="34" charset="0"/>
                  <a:buChar char="•"/>
                </a:pPr>
                <a:r>
                  <a:rPr lang="en-US" sz="1600" dirty="0"/>
                  <a:t>The slope changes for </a:t>
                </a:r>
                <a:r>
                  <a:rPr lang="en-US" sz="1600" dirty="0" err="1"/>
                  <a:t>SNe</a:t>
                </a:r>
                <a:r>
                  <a:rPr lang="en-US" sz="1600" dirty="0"/>
                  <a:t> II-P at ∼ 4 × 10^5 s and for </a:t>
                </a:r>
                <a:r>
                  <a:rPr lang="en-US" sz="1600" dirty="0" err="1"/>
                  <a:t>SNe</a:t>
                </a:r>
                <a:r>
                  <a:rPr lang="en-US" sz="1600" dirty="0"/>
                  <a:t> IIL/IIb at ∼ 10^4 s. For these types of </a:t>
                </a:r>
                <a:r>
                  <a:rPr lang="en-US" sz="1600" dirty="0" err="1"/>
                  <a:t>SNe</a:t>
                </a:r>
                <a:r>
                  <a:rPr lang="en-US" sz="1600" dirty="0"/>
                  <a:t> with D∗ ∼ 10^(−4)−10^(−2), the best time window for high-energy neutrino observations is ∼ 0.1 − 1 day. </a:t>
                </a:r>
              </a:p>
              <a:p>
                <a:pPr marL="285750" indent="-285750" algn="l">
                  <a:buFont typeface="Arial" panose="020B0604020202020204" pitchFamily="34" charset="0"/>
                  <a:buChar char="•"/>
                </a:pPr>
                <a:endParaRPr lang="en-US" sz="1600" dirty="0"/>
              </a:p>
              <a:p>
                <a:pPr marL="285750" indent="-285750" algn="l">
                  <a:buFont typeface="Arial" panose="020B0604020202020204" pitchFamily="34" charset="0"/>
                  <a:buChar char="•"/>
                </a:pPr>
                <a:r>
                  <a:rPr lang="en-US" sz="1600" dirty="0"/>
                  <a:t>For </a:t>
                </a:r>
                <a:r>
                  <a:rPr lang="en-US" sz="1600" dirty="0" err="1"/>
                  <a:t>SNe</a:t>
                </a:r>
                <a:r>
                  <a:rPr lang="en-US" sz="1600" dirty="0"/>
                  <a:t> </a:t>
                </a:r>
                <a:r>
                  <a:rPr lang="en-US" sz="1600" dirty="0" err="1"/>
                  <a:t>IIn</a:t>
                </a:r>
                <a:r>
                  <a:rPr lang="en-US" sz="1600" dirty="0"/>
                  <a:t> with D∗ ∼ 10^(−1) − 10, to observe high-energy neutrino the best time window is ∼ 0.1 − 1 yr.</a:t>
                </a:r>
              </a:p>
              <a:p>
                <a:pPr marL="285750" indent="-285750" algn="l">
                  <a:buFont typeface="Arial" panose="020B0604020202020204" pitchFamily="34" charset="0"/>
                  <a:buChar char="•"/>
                </a:pPr>
                <a:endParaRPr lang="en-US" sz="1600" dirty="0"/>
              </a:p>
              <a:p>
                <a:pPr algn="l"/>
                <a:r>
                  <a:rPr lang="en-US" sz="1600" dirty="0"/>
                  <a:t>Appropriate time window depends on SN types and the time-dependent model is critical.</a:t>
                </a:r>
              </a:p>
            </p:txBody>
          </p:sp>
        </mc:Choice>
        <mc:Fallback xmlns="">
          <p:sp>
            <p:nvSpPr>
              <p:cNvPr id="6" name="CasellaDiTesto 5">
                <a:extLst>
                  <a:ext uri="{FF2B5EF4-FFF2-40B4-BE49-F238E27FC236}">
                    <a16:creationId xmlns:a16="http://schemas.microsoft.com/office/drawing/2014/main" id="{0E6BC980-9418-F9EB-9A1E-B1B44D5C85F3}"/>
                  </a:ext>
                </a:extLst>
              </p:cNvPr>
              <p:cNvSpPr txBox="1">
                <a:spLocks noRot="1" noChangeAspect="1" noMove="1" noResize="1" noEditPoints="1" noAdjustHandles="1" noChangeArrowheads="1" noChangeShapeType="1" noTextEdit="1"/>
              </p:cNvSpPr>
              <p:nvPr/>
            </p:nvSpPr>
            <p:spPr>
              <a:xfrm>
                <a:off x="331451" y="1321385"/>
                <a:ext cx="6116974" cy="5016758"/>
              </a:xfrm>
              <a:prstGeom prst="rect">
                <a:avLst/>
              </a:prstGeom>
              <a:blipFill>
                <a:blip r:embed="rId4"/>
                <a:stretch>
                  <a:fillRect l="-498" t="-365" r="-1096" b="-608"/>
                </a:stretch>
              </a:blipFill>
            </p:spPr>
            <p:txBody>
              <a:bodyPr/>
              <a:lstStyle/>
              <a:p>
                <a:r>
                  <a:rPr lang="it-IT">
                    <a:noFill/>
                  </a:rPr>
                  <a:t> </a:t>
                </a:r>
              </a:p>
            </p:txBody>
          </p:sp>
        </mc:Fallback>
      </mc:AlternateContent>
      <p:pic>
        <p:nvPicPr>
          <p:cNvPr id="8" name="Immagine 7">
            <a:extLst>
              <a:ext uri="{FF2B5EF4-FFF2-40B4-BE49-F238E27FC236}">
                <a16:creationId xmlns:a16="http://schemas.microsoft.com/office/drawing/2014/main" id="{61D301B7-3D98-C0D6-D503-FFD27A8241AB}"/>
              </a:ext>
            </a:extLst>
          </p:cNvPr>
          <p:cNvPicPr>
            <a:picLocks noChangeAspect="1"/>
          </p:cNvPicPr>
          <p:nvPr/>
        </p:nvPicPr>
        <p:blipFill>
          <a:blip r:embed="rId5"/>
          <a:stretch>
            <a:fillRect/>
          </a:stretch>
        </p:blipFill>
        <p:spPr>
          <a:xfrm>
            <a:off x="6725824" y="1013331"/>
            <a:ext cx="5466176" cy="3671035"/>
          </a:xfrm>
          <a:prstGeom prst="rect">
            <a:avLst/>
          </a:prstGeom>
        </p:spPr>
      </p:pic>
      <p:sp>
        <p:nvSpPr>
          <p:cNvPr id="10" name="CasellaDiTesto 9">
            <a:extLst>
              <a:ext uri="{FF2B5EF4-FFF2-40B4-BE49-F238E27FC236}">
                <a16:creationId xmlns:a16="http://schemas.microsoft.com/office/drawing/2014/main" id="{76B28694-A157-A289-30FF-4BA358BDCA23}"/>
              </a:ext>
            </a:extLst>
          </p:cNvPr>
          <p:cNvSpPr txBox="1"/>
          <p:nvPr/>
        </p:nvSpPr>
        <p:spPr>
          <a:xfrm>
            <a:off x="7381875" y="4550346"/>
            <a:ext cx="4724400" cy="2123658"/>
          </a:xfrm>
          <a:prstGeom prst="rect">
            <a:avLst/>
          </a:prstGeom>
          <a:noFill/>
        </p:spPr>
        <p:txBody>
          <a:bodyPr wrap="square">
            <a:spAutoFit/>
          </a:bodyPr>
          <a:lstStyle/>
          <a:p>
            <a:pPr algn="l"/>
            <a:r>
              <a:rPr lang="en-US" sz="1200" dirty="0"/>
              <a:t>P</a:t>
            </a:r>
            <a:r>
              <a:rPr lang="en-US" sz="1200" b="0" i="0" u="none" strike="noStrike" baseline="0" dirty="0"/>
              <a:t>redictions of neutrino “light curves” (at E = 1 </a:t>
            </a:r>
            <a:r>
              <a:rPr lang="en-US" sz="1200" b="0" i="0" u="none" strike="noStrike" baseline="0" dirty="0" err="1"/>
              <a:t>TeV</a:t>
            </a:r>
            <a:r>
              <a:rPr lang="en-US" sz="1200" b="0" i="0" u="none" strike="noStrike" baseline="0" dirty="0"/>
              <a:t>) for various types of </a:t>
            </a:r>
            <a:r>
              <a:rPr lang="en-US" sz="1200" b="0" i="0" u="none" strike="noStrike" baseline="0" dirty="0" err="1"/>
              <a:t>SNe</a:t>
            </a:r>
            <a:r>
              <a:rPr lang="en-US" sz="1200" b="0" i="0" u="none" strike="noStrike" baseline="0" dirty="0"/>
              <a:t>. The slow decline implies the importance of late-time emissions.</a:t>
            </a:r>
          </a:p>
          <a:p>
            <a:pPr algn="l"/>
            <a:endParaRPr lang="en-US" sz="1200" dirty="0"/>
          </a:p>
          <a:p>
            <a:pPr algn="l"/>
            <a:r>
              <a:rPr lang="en-US" sz="1200" dirty="0"/>
              <a:t>For </a:t>
            </a:r>
            <a:r>
              <a:rPr lang="en-US" sz="1200" dirty="0" err="1"/>
              <a:t>SNe</a:t>
            </a:r>
            <a:r>
              <a:rPr lang="en-US" sz="1200" dirty="0"/>
              <a:t> II-P, the thick (thin) curve represents the case</a:t>
            </a:r>
          </a:p>
          <a:p>
            <a:pPr algn="l"/>
            <a:r>
              <a:rPr lang="en-US" sz="1200" dirty="0"/>
              <a:t>with (without) an enhanced CSM.</a:t>
            </a:r>
          </a:p>
          <a:p>
            <a:pPr algn="l"/>
            <a:endParaRPr lang="en-US" sz="1200" dirty="0"/>
          </a:p>
          <a:p>
            <a:pPr algn="l"/>
            <a:r>
              <a:rPr lang="en-US" sz="1200" b="0" i="0" u="none" strike="noStrike" baseline="0" dirty="0">
                <a:latin typeface="CMR10"/>
              </a:rPr>
              <a:t>It is assumed that a CR spectrum to be </a:t>
            </a:r>
            <a:r>
              <a:rPr lang="en-US" sz="1200" b="0" i="0" u="none" strike="noStrike" baseline="0" dirty="0" err="1">
                <a:latin typeface="CMMI10"/>
              </a:rPr>
              <a:t>dN</a:t>
            </a:r>
            <a:r>
              <a:rPr lang="en-US" sz="1200" b="0" i="0" u="none" strike="noStrike" baseline="0" dirty="0" err="1">
                <a:latin typeface="CMR7"/>
              </a:rPr>
              <a:t>cr</a:t>
            </a:r>
            <a:r>
              <a:rPr lang="en-US" sz="1200" b="0" i="0" u="none" strike="noStrike" baseline="0" dirty="0">
                <a:latin typeface="CMMI10"/>
              </a:rPr>
              <a:t>/</a:t>
            </a:r>
            <a:r>
              <a:rPr lang="en-US" sz="1200" b="0" i="0" u="none" strike="noStrike" baseline="0" dirty="0" err="1">
                <a:latin typeface="CMMI10"/>
              </a:rPr>
              <a:t>dp</a:t>
            </a:r>
            <a:r>
              <a:rPr lang="en-US" sz="1200" b="0" i="0" u="none" strike="noStrike" baseline="0" dirty="0">
                <a:latin typeface="CMMI10"/>
              </a:rPr>
              <a:t> </a:t>
            </a:r>
            <a:r>
              <a:rPr lang="en-US" sz="1200" b="0" i="0" u="none" strike="noStrike" baseline="0" dirty="0">
                <a:latin typeface="CMSY10"/>
              </a:rPr>
              <a:t>∝ </a:t>
            </a:r>
            <a:r>
              <a:rPr lang="en-US" sz="1200" b="0" i="0" u="none" strike="noStrike" baseline="0" dirty="0">
                <a:latin typeface="CMMI10"/>
              </a:rPr>
              <a:t>p^(</a:t>
            </a:r>
            <a:r>
              <a:rPr lang="en-US" sz="1200" b="0" i="0" u="none" strike="noStrike" baseline="0" dirty="0">
                <a:latin typeface="CMSY7"/>
              </a:rPr>
              <a:t>−</a:t>
            </a:r>
            <a:r>
              <a:rPr lang="en-US" sz="1200" b="0" i="0" u="none" strike="noStrike" baseline="0" dirty="0">
                <a:latin typeface="CMMI7"/>
              </a:rPr>
              <a:t>s) </a:t>
            </a:r>
            <a:r>
              <a:rPr lang="en-US" sz="1200" b="0" i="0" u="none" strike="noStrike" baseline="0" dirty="0">
                <a:latin typeface="CMR10"/>
              </a:rPr>
              <a:t>with</a:t>
            </a:r>
          </a:p>
          <a:p>
            <a:pPr algn="l"/>
            <a:r>
              <a:rPr lang="en-US" sz="1200" b="0" i="0" u="none" strike="noStrike" baseline="0" dirty="0">
                <a:latin typeface="CMMI10"/>
              </a:rPr>
              <a:t>s </a:t>
            </a:r>
            <a:r>
              <a:rPr lang="en-US" sz="1200" b="0" i="0" u="none" strike="noStrike" baseline="0" dirty="0">
                <a:latin typeface="CMSY10"/>
              </a:rPr>
              <a:t>∼ </a:t>
            </a:r>
            <a:r>
              <a:rPr lang="en-US" sz="1200" b="0" i="0" u="none" strike="noStrike" baseline="0" dirty="0">
                <a:latin typeface="CMR10"/>
              </a:rPr>
              <a:t>2</a:t>
            </a:r>
            <a:r>
              <a:rPr lang="en-US" sz="1200" b="0" i="0" u="none" strike="noStrike" baseline="0" dirty="0">
                <a:latin typeface="CMMI10"/>
              </a:rPr>
              <a:t>.</a:t>
            </a:r>
            <a:r>
              <a:rPr lang="en-US" sz="1200" b="0" i="0" u="none" strike="noStrike" baseline="0" dirty="0">
                <a:latin typeface="CMR10"/>
              </a:rPr>
              <a:t>0 </a:t>
            </a:r>
            <a:r>
              <a:rPr lang="en-US" sz="1200" b="0" i="0" u="none" strike="noStrike" baseline="0" dirty="0">
                <a:latin typeface="CMSY10"/>
              </a:rPr>
              <a:t>− </a:t>
            </a:r>
            <a:r>
              <a:rPr lang="en-US" sz="1200" b="0" i="0" u="none" strike="noStrike" baseline="0" dirty="0">
                <a:latin typeface="CMR10"/>
              </a:rPr>
              <a:t>2</a:t>
            </a:r>
            <a:r>
              <a:rPr lang="en-US" sz="1200" b="0" i="0" u="none" strike="noStrike" baseline="0" dirty="0">
                <a:latin typeface="CMMI10"/>
              </a:rPr>
              <a:t>.</a:t>
            </a:r>
            <a:r>
              <a:rPr lang="en-US" sz="1200" b="0" i="0" u="none" strike="noStrike" baseline="0" dirty="0">
                <a:latin typeface="CMR10"/>
              </a:rPr>
              <a:t>2, where </a:t>
            </a:r>
            <a:r>
              <a:rPr lang="en-US" sz="1200" b="0" i="0" u="none" strike="noStrike" baseline="0" dirty="0">
                <a:latin typeface="CMMI10"/>
              </a:rPr>
              <a:t>p </a:t>
            </a:r>
            <a:r>
              <a:rPr lang="en-US" sz="1200" b="0" i="0" u="none" strike="noStrike" baseline="0" dirty="0">
                <a:latin typeface="CMR10"/>
              </a:rPr>
              <a:t>is the proton momentum.</a:t>
            </a:r>
            <a:br>
              <a:rPr lang="en-US" sz="1200" b="0" i="0" u="none" strike="noStrike" baseline="0" dirty="0">
                <a:latin typeface="CMR10"/>
              </a:rPr>
            </a:br>
            <a:r>
              <a:rPr lang="en-US" sz="1200" b="0" i="0" u="none" strike="noStrike" baseline="0" dirty="0">
                <a:latin typeface="CMR10"/>
              </a:rPr>
              <a:t>The typical neutrino energy for a CR proton with an energy Ep is </a:t>
            </a:r>
            <a:r>
              <a:rPr lang="en-US" sz="1200" b="0" i="0" u="none" strike="noStrike" baseline="0" dirty="0">
                <a:latin typeface="CMMI10"/>
              </a:rPr>
              <a:t>E</a:t>
            </a:r>
            <a:r>
              <a:rPr lang="en-US" sz="1200" b="0" i="0" u="none" strike="noStrike" baseline="0" dirty="0">
                <a:latin typeface="CMMI7"/>
              </a:rPr>
              <a:t> </a:t>
            </a:r>
            <a:r>
              <a:rPr lang="en-US" sz="1200" b="0" i="0" u="none" strike="noStrike" baseline="0" dirty="0">
                <a:latin typeface="CMSY10"/>
              </a:rPr>
              <a:t>∼</a:t>
            </a:r>
            <a:r>
              <a:rPr lang="it-IT" sz="1200" b="0" i="0" u="none" strike="noStrike" baseline="0" dirty="0">
                <a:latin typeface="CMR10"/>
              </a:rPr>
              <a:t>(0</a:t>
            </a:r>
            <a:r>
              <a:rPr lang="it-IT" sz="1200" b="0" i="0" u="none" strike="noStrike" baseline="0" dirty="0">
                <a:latin typeface="CMMI10"/>
              </a:rPr>
              <a:t>.</a:t>
            </a:r>
            <a:r>
              <a:rPr lang="it-IT" sz="1200" b="0" i="0" u="none" strike="noStrike" baseline="0" dirty="0">
                <a:latin typeface="CMR10"/>
              </a:rPr>
              <a:t>03 </a:t>
            </a:r>
            <a:r>
              <a:rPr lang="it-IT" sz="1200" b="0" i="0" u="none" strike="noStrike" baseline="0" dirty="0">
                <a:latin typeface="CMSY10"/>
              </a:rPr>
              <a:t>− </a:t>
            </a:r>
            <a:r>
              <a:rPr lang="it-IT" sz="1200" b="0" i="0" u="none" strike="noStrike" baseline="0" dirty="0">
                <a:latin typeface="CMR10"/>
              </a:rPr>
              <a:t>0</a:t>
            </a:r>
            <a:r>
              <a:rPr lang="it-IT" sz="1200" b="0" i="0" u="none" strike="noStrike" baseline="0" dirty="0">
                <a:latin typeface="CMMI10"/>
              </a:rPr>
              <a:t>.</a:t>
            </a:r>
            <a:r>
              <a:rPr lang="it-IT" sz="1200" b="0" i="0" u="none" strike="noStrike" baseline="0" dirty="0">
                <a:latin typeface="CMR10"/>
              </a:rPr>
              <a:t>05)</a:t>
            </a:r>
            <a:r>
              <a:rPr lang="it-IT" sz="1200" b="0" i="0" u="none" strike="noStrike" baseline="0" dirty="0" err="1">
                <a:latin typeface="CMMI10"/>
              </a:rPr>
              <a:t>E</a:t>
            </a:r>
            <a:r>
              <a:rPr lang="it-IT" sz="1200" b="0" i="0" u="none" strike="noStrike" baseline="0" dirty="0" err="1">
                <a:latin typeface="CMMI7"/>
              </a:rPr>
              <a:t>p</a:t>
            </a:r>
            <a:r>
              <a:rPr lang="it-IT" sz="1200" b="0" i="0" u="none" strike="noStrike" baseline="0" dirty="0">
                <a:latin typeface="CMMI7"/>
              </a:rPr>
              <a:t>.</a:t>
            </a:r>
            <a:endParaRPr lang="it-IT" sz="1200" b="0" i="0" u="none" strike="noStrike" baseline="0" dirty="0">
              <a:latin typeface="CMR10"/>
            </a:endParaRPr>
          </a:p>
          <a:p>
            <a:pPr algn="l"/>
            <a:endParaRPr lang="it-IT" sz="1200" dirty="0"/>
          </a:p>
        </p:txBody>
      </p:sp>
      <p:sp>
        <p:nvSpPr>
          <p:cNvPr id="9" name="CasellaDiTesto 8">
            <a:extLst>
              <a:ext uri="{FF2B5EF4-FFF2-40B4-BE49-F238E27FC236}">
                <a16:creationId xmlns:a16="http://schemas.microsoft.com/office/drawing/2014/main" id="{1B5E80DA-674A-CD82-0BA2-71F44360183A}"/>
              </a:ext>
            </a:extLst>
          </p:cNvPr>
          <p:cNvSpPr txBox="1"/>
          <p:nvPr/>
        </p:nvSpPr>
        <p:spPr>
          <a:xfrm>
            <a:off x="178301" y="539015"/>
            <a:ext cx="11730330" cy="584775"/>
          </a:xfrm>
          <a:prstGeom prst="rect">
            <a:avLst/>
          </a:prstGeom>
          <a:noFill/>
        </p:spPr>
        <p:txBody>
          <a:bodyPr wrap="square">
            <a:spAutoFit/>
          </a:bodyPr>
          <a:lstStyle/>
          <a:p>
            <a:r>
              <a:rPr lang="en-US" sz="1600" b="0" i="0" u="none" strike="noStrike" baseline="0" dirty="0"/>
              <a:t>High-energy CRs interact with CSM nucleons and produce </a:t>
            </a:r>
            <a:r>
              <a:rPr lang="en-US" sz="1600" dirty="0"/>
              <a:t>mostly </a:t>
            </a:r>
            <a:r>
              <a:rPr lang="en-US" sz="1600" dirty="0" err="1"/>
              <a:t>pions</a:t>
            </a:r>
            <a:r>
              <a:rPr lang="en-US" sz="1600" dirty="0"/>
              <a:t> </a:t>
            </a:r>
            <a:r>
              <a:rPr lang="en-US" sz="1600" b="0" i="0" u="none" strike="noStrike" baseline="0" dirty="0"/>
              <a:t>via inelastic pp collisions, and high-energy neutrinos are generated via decay processes. </a:t>
            </a:r>
          </a:p>
        </p:txBody>
      </p:sp>
      <p:sp>
        <p:nvSpPr>
          <p:cNvPr id="11" name="Freccia a destra 10">
            <a:extLst>
              <a:ext uri="{FF2B5EF4-FFF2-40B4-BE49-F238E27FC236}">
                <a16:creationId xmlns:a16="http://schemas.microsoft.com/office/drawing/2014/main" id="{44E0A979-D534-4ABA-8D25-F831FDC0449B}"/>
              </a:ext>
            </a:extLst>
          </p:cNvPr>
          <p:cNvSpPr/>
          <p:nvPr/>
        </p:nvSpPr>
        <p:spPr>
          <a:xfrm>
            <a:off x="4875627" y="1199584"/>
            <a:ext cx="590550" cy="4794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43639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1" y="0"/>
            <a:ext cx="7010401"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High-energy </a:t>
            </a:r>
            <a:r>
              <a:rPr lang="it-IT" sz="2800" b="1" dirty="0" err="1">
                <a:solidFill>
                  <a:schemeClr val="accent1"/>
                </a:solidFill>
              </a:rPr>
              <a:t>neutrinos</a:t>
            </a:r>
            <a:r>
              <a:rPr lang="it-IT" sz="2800" b="1" dirty="0">
                <a:solidFill>
                  <a:schemeClr val="accent1"/>
                </a:solidFill>
              </a:rPr>
              <a:t> from </a:t>
            </a:r>
            <a:r>
              <a:rPr lang="it-IT" sz="2800" b="1" dirty="0" err="1">
                <a:solidFill>
                  <a:schemeClr val="accent1"/>
                </a:solidFill>
              </a:rPr>
              <a:t>nearby</a:t>
            </a:r>
            <a:r>
              <a:rPr lang="it-IT" sz="2800" b="1" dirty="0">
                <a:solidFill>
                  <a:schemeClr val="accent1"/>
                </a:solidFill>
              </a:rPr>
              <a:t> </a:t>
            </a:r>
            <a:r>
              <a:rPr lang="it-IT" sz="2800" b="1" dirty="0" err="1">
                <a:solidFill>
                  <a:schemeClr val="accent1"/>
                </a:solidFill>
              </a:rPr>
              <a:t>SNe</a:t>
            </a:r>
            <a:r>
              <a:rPr lang="it-IT" sz="2800" b="1" dirty="0">
                <a:solidFill>
                  <a:schemeClr val="accent1"/>
                </a:solidFill>
              </a:rPr>
              <a:t> (</a:t>
            </a:r>
            <a:r>
              <a:rPr lang="it-IT" sz="2800" b="1" dirty="0" err="1">
                <a:solidFill>
                  <a:schemeClr val="accent1"/>
                </a:solidFill>
              </a:rPr>
              <a:t>Murase</a:t>
            </a:r>
            <a:r>
              <a:rPr lang="it-IT" sz="2800" b="1" dirty="0">
                <a:solidFill>
                  <a:schemeClr val="accent1"/>
                </a:solidFill>
              </a:rPr>
              <a:t>)</a:t>
            </a:r>
          </a:p>
        </p:txBody>
      </p:sp>
      <p:sp>
        <p:nvSpPr>
          <p:cNvPr id="3" name="CasellaDiTesto 2">
            <a:extLst>
              <a:ext uri="{FF2B5EF4-FFF2-40B4-BE49-F238E27FC236}">
                <a16:creationId xmlns:a16="http://schemas.microsoft.com/office/drawing/2014/main" id="{5A144FA5-CC8E-EA2D-1507-0127394215DD}"/>
              </a:ext>
            </a:extLst>
          </p:cNvPr>
          <p:cNvSpPr txBox="1"/>
          <p:nvPr/>
        </p:nvSpPr>
        <p:spPr>
          <a:xfrm>
            <a:off x="0" y="6581001"/>
            <a:ext cx="11220450" cy="276999"/>
          </a:xfrm>
          <a:prstGeom prst="rect">
            <a:avLst/>
          </a:prstGeom>
          <a:noFill/>
        </p:spPr>
        <p:txBody>
          <a:bodyPr wrap="square">
            <a:spAutoFit/>
          </a:bodyPr>
          <a:lstStyle/>
          <a:p>
            <a:r>
              <a:rPr lang="en-US" sz="1200" b="1" dirty="0">
                <a:solidFill>
                  <a:schemeClr val="accent1"/>
                </a:solidFill>
              </a:rPr>
              <a:t>New prospects for detecting high-energy neutrinos from nearby supernovae </a:t>
            </a:r>
            <a:r>
              <a:rPr lang="en-US" sz="1200" dirty="0">
                <a:solidFill>
                  <a:schemeClr val="accent1"/>
                </a:solidFill>
                <a:hlinkClick r:id="rId2"/>
              </a:rPr>
              <a:t>(</a:t>
            </a:r>
            <a:r>
              <a:rPr lang="it-IT" sz="1200" dirty="0">
                <a:solidFill>
                  <a:schemeClr val="accent1"/>
                </a:solidFill>
                <a:latin typeface="Arial Nova Light" panose="020B0304020202020204" pitchFamily="34" charset="0"/>
                <a:hlinkClick r:id="rId2"/>
              </a:rPr>
              <a:t>https://journals.aps.org/</a:t>
            </a:r>
            <a:r>
              <a:rPr lang="it-IT" sz="1200" dirty="0" err="1">
                <a:solidFill>
                  <a:schemeClr val="accent1"/>
                </a:solidFill>
                <a:latin typeface="Arial Nova Light" panose="020B0304020202020204" pitchFamily="34" charset="0"/>
                <a:hlinkClick r:id="rId2"/>
              </a:rPr>
              <a:t>prd</a:t>
            </a:r>
            <a:r>
              <a:rPr lang="it-IT" sz="1200" dirty="0">
                <a:solidFill>
                  <a:schemeClr val="accent1"/>
                </a:solidFill>
                <a:latin typeface="Arial Nova Light" panose="020B0304020202020204" pitchFamily="34" charset="0"/>
                <a:hlinkClick r:id="rId2"/>
              </a:rPr>
              <a:t>/abstract/10.1103/PhysRevD.97.081301</a:t>
            </a:r>
            <a:r>
              <a:rPr lang="it-IT" sz="1200" dirty="0">
                <a:solidFill>
                  <a:schemeClr val="accent1"/>
                </a:solidFill>
                <a:latin typeface="Arial Nova Light" panose="020B0304020202020204" pitchFamily="34" charset="0"/>
                <a:hlinkClick r:id="rId3"/>
              </a:rPr>
              <a:t>)</a:t>
            </a:r>
            <a:r>
              <a:rPr lang="en-US" sz="1200" dirty="0">
                <a:solidFill>
                  <a:schemeClr val="accent1"/>
                </a:solidFill>
                <a:hlinkClick r:id="rId3"/>
              </a:rPr>
              <a:t> </a:t>
            </a:r>
            <a:endParaRPr lang="it-IT" sz="1200" dirty="0">
              <a:solidFill>
                <a:schemeClr val="accent1"/>
              </a:solidFill>
            </a:endParaRPr>
          </a:p>
        </p:txBody>
      </p:sp>
      <p:pic>
        <p:nvPicPr>
          <p:cNvPr id="5" name="Immagine 4">
            <a:extLst>
              <a:ext uri="{FF2B5EF4-FFF2-40B4-BE49-F238E27FC236}">
                <a16:creationId xmlns:a16="http://schemas.microsoft.com/office/drawing/2014/main" id="{8C385CDE-E020-8C02-3E07-EBB5A1B7CD87}"/>
              </a:ext>
            </a:extLst>
          </p:cNvPr>
          <p:cNvPicPr>
            <a:picLocks noChangeAspect="1"/>
          </p:cNvPicPr>
          <p:nvPr/>
        </p:nvPicPr>
        <p:blipFill>
          <a:blip r:embed="rId4"/>
          <a:stretch>
            <a:fillRect/>
          </a:stretch>
        </p:blipFill>
        <p:spPr>
          <a:xfrm>
            <a:off x="568325" y="615461"/>
            <a:ext cx="5149656" cy="3458853"/>
          </a:xfrm>
          <a:prstGeom prst="rect">
            <a:avLst/>
          </a:prstGeom>
        </p:spPr>
      </p:pic>
      <p:pic>
        <p:nvPicPr>
          <p:cNvPr id="14" name="Immagine 13">
            <a:extLst>
              <a:ext uri="{FF2B5EF4-FFF2-40B4-BE49-F238E27FC236}">
                <a16:creationId xmlns:a16="http://schemas.microsoft.com/office/drawing/2014/main" id="{74DA1EDA-755A-A958-5B6D-F6F5D416CEF5}"/>
              </a:ext>
            </a:extLst>
          </p:cNvPr>
          <p:cNvPicPr>
            <a:picLocks noChangeAspect="1"/>
          </p:cNvPicPr>
          <p:nvPr/>
        </p:nvPicPr>
        <p:blipFill>
          <a:blip r:embed="rId5"/>
          <a:stretch>
            <a:fillRect/>
          </a:stretch>
        </p:blipFill>
        <p:spPr>
          <a:xfrm>
            <a:off x="6474019" y="747256"/>
            <a:ext cx="4942081" cy="3948569"/>
          </a:xfrm>
          <a:prstGeom prst="rect">
            <a:avLst/>
          </a:prstGeom>
        </p:spPr>
      </p:pic>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9868E00B-D401-9F25-A397-CB2C4921D2DE}"/>
                  </a:ext>
                </a:extLst>
              </p:cNvPr>
              <p:cNvSpPr txBox="1"/>
              <p:nvPr/>
            </p:nvSpPr>
            <p:spPr>
              <a:xfrm>
                <a:off x="554804" y="4150760"/>
                <a:ext cx="5693596" cy="830997"/>
              </a:xfrm>
              <a:prstGeom prst="rect">
                <a:avLst/>
              </a:prstGeom>
              <a:noFill/>
            </p:spPr>
            <p:txBody>
              <a:bodyPr wrap="square" rtlCol="0">
                <a:spAutoFit/>
              </a:bodyPr>
              <a:lstStyle/>
              <a:p>
                <a:r>
                  <a:rPr lang="it-IT" sz="1600" dirty="0"/>
                  <a:t>E^2*</a:t>
                </a:r>
                <a14:m>
                  <m:oMath xmlns:m="http://schemas.openxmlformats.org/officeDocument/2006/math">
                    <m:sSub>
                      <m:sSubPr>
                        <m:ctrlPr>
                          <a:rPr lang="it-IT" sz="1600" i="1" smtClean="0">
                            <a:latin typeface="Cambria Math" panose="02040503050406030204" pitchFamily="18" charset="0"/>
                          </a:rPr>
                        </m:ctrlPr>
                      </m:sSubPr>
                      <m:e>
                        <m:r>
                          <a:rPr lang="it-IT" sz="1600" i="1" smtClean="0">
                            <a:latin typeface="Cambria Math" panose="02040503050406030204" pitchFamily="18" charset="0"/>
                            <a:ea typeface="Cambria Math" panose="02040503050406030204" pitchFamily="18" charset="0"/>
                          </a:rPr>
                          <m:t>𝜑</m:t>
                        </m:r>
                      </m:e>
                      <m:sub>
                        <m:r>
                          <m:rPr>
                            <m:sty m:val="p"/>
                          </m:rPr>
                          <a:rPr lang="el-GR" sz="1600" i="1" smtClean="0">
                            <a:latin typeface="Cambria Math" panose="02040503050406030204" pitchFamily="18" charset="0"/>
                          </a:rPr>
                          <m:t>ν</m:t>
                        </m:r>
                      </m:sub>
                    </m:sSub>
                  </m:oMath>
                </a14:m>
                <a:r>
                  <a:rPr lang="it-IT" sz="1600" dirty="0"/>
                  <a:t>  </a:t>
                </a:r>
                <a:r>
                  <a:rPr lang="it-IT" sz="1600" dirty="0" err="1"/>
                  <a:t>is</a:t>
                </a:r>
                <a:r>
                  <a:rPr lang="it-IT" sz="1600" dirty="0"/>
                  <a:t> the neutrino energy </a:t>
                </a:r>
                <a:r>
                  <a:rPr lang="it-IT" sz="1600" dirty="0" err="1"/>
                  <a:t>fluence</a:t>
                </a:r>
                <a:r>
                  <a:rPr lang="it-IT" sz="1600" dirty="0"/>
                  <a:t>, </a:t>
                </a:r>
                <a:r>
                  <a:rPr lang="it-IT" sz="1600" dirty="0" err="1"/>
                  <a:t>calculated</a:t>
                </a:r>
                <a:r>
                  <a:rPr lang="it-IT" sz="1600" dirty="0"/>
                  <a:t> for the sum of all </a:t>
                </a:r>
                <a:r>
                  <a:rPr lang="it-IT" sz="1600" dirty="0" err="1"/>
                  <a:t>flavors</a:t>
                </a:r>
                <a:r>
                  <a:rPr lang="it-IT" sz="1600" dirty="0"/>
                  <a:t> from a </a:t>
                </a:r>
                <a:r>
                  <a:rPr lang="it-IT" sz="1600" dirty="0" err="1"/>
                  <a:t>galactic</a:t>
                </a:r>
                <a:r>
                  <a:rPr lang="it-IT" sz="1600" dirty="0"/>
                  <a:t> SN </a:t>
                </a:r>
                <a:r>
                  <a:rPr lang="it-IT" sz="1600" dirty="0" err="1"/>
                  <a:t>at</a:t>
                </a:r>
                <a:r>
                  <a:rPr lang="it-IT" sz="1600" dirty="0"/>
                  <a:t> </a:t>
                </a:r>
                <a:r>
                  <a:rPr lang="it-IT" sz="1600" dirty="0" err="1"/>
                  <a:t>t</a:t>
                </a:r>
                <a:r>
                  <a:rPr lang="it-IT" sz="1200" dirty="0" err="1"/>
                  <a:t>max</a:t>
                </a:r>
                <a:r>
                  <a:rPr lang="it-IT" sz="1600" dirty="0"/>
                  <a:t> and for d=10kpc. </a:t>
                </a:r>
                <a:r>
                  <a:rPr lang="it-IT" sz="1600" dirty="0" err="1"/>
                  <a:t>Thick</a:t>
                </a:r>
                <a:r>
                  <a:rPr lang="it-IT" sz="1600" dirty="0"/>
                  <a:t> and </a:t>
                </a:r>
                <a:r>
                  <a:rPr lang="it-IT" sz="1600" dirty="0" err="1"/>
                  <a:t>thin</a:t>
                </a:r>
                <a:r>
                  <a:rPr lang="it-IT" sz="1600" dirty="0"/>
                  <a:t> </a:t>
                </a:r>
                <a:r>
                  <a:rPr lang="it-IT" sz="1600" dirty="0" err="1"/>
                  <a:t>curves</a:t>
                </a:r>
                <a:r>
                  <a:rPr lang="it-IT" sz="1600" dirty="0"/>
                  <a:t> </a:t>
                </a:r>
                <a:r>
                  <a:rPr lang="it-IT" sz="1600" dirty="0" err="1"/>
                  <a:t>represent</a:t>
                </a:r>
                <a:r>
                  <a:rPr lang="it-IT" sz="1600" dirty="0"/>
                  <a:t> s=2.2 and s=2.0, </a:t>
                </a:r>
                <a:r>
                  <a:rPr lang="it-IT" sz="1600" dirty="0" err="1"/>
                  <a:t>respectively</a:t>
                </a:r>
                <a:r>
                  <a:rPr lang="it-IT" sz="1600" dirty="0"/>
                  <a:t>. </a:t>
                </a:r>
              </a:p>
            </p:txBody>
          </p:sp>
        </mc:Choice>
        <mc:Fallback xmlns="">
          <p:sp>
            <p:nvSpPr>
              <p:cNvPr id="15" name="CasellaDiTesto 14">
                <a:extLst>
                  <a:ext uri="{FF2B5EF4-FFF2-40B4-BE49-F238E27FC236}">
                    <a16:creationId xmlns:a16="http://schemas.microsoft.com/office/drawing/2014/main" id="{9868E00B-D401-9F25-A397-CB2C4921D2DE}"/>
                  </a:ext>
                </a:extLst>
              </p:cNvPr>
              <p:cNvSpPr txBox="1">
                <a:spLocks noRot="1" noChangeAspect="1" noMove="1" noResize="1" noEditPoints="1" noAdjustHandles="1" noChangeArrowheads="1" noChangeShapeType="1" noTextEdit="1"/>
              </p:cNvSpPr>
              <p:nvPr/>
            </p:nvSpPr>
            <p:spPr>
              <a:xfrm>
                <a:off x="554804" y="4150760"/>
                <a:ext cx="5693596" cy="830997"/>
              </a:xfrm>
              <a:prstGeom prst="rect">
                <a:avLst/>
              </a:prstGeom>
              <a:blipFill>
                <a:blip r:embed="rId6"/>
                <a:stretch>
                  <a:fillRect l="-535" t="-2206" b="-8824"/>
                </a:stretch>
              </a:blipFill>
            </p:spPr>
            <p:txBody>
              <a:bodyPr/>
              <a:lstStyle/>
              <a:p>
                <a:r>
                  <a:rPr lang="it-IT">
                    <a:noFill/>
                  </a:rPr>
                  <a:t> </a:t>
                </a:r>
              </a:p>
            </p:txBody>
          </p:sp>
        </mc:Fallback>
      </mc:AlternateContent>
      <p:sp>
        <p:nvSpPr>
          <p:cNvPr id="16" name="CasellaDiTesto 15">
            <a:extLst>
              <a:ext uri="{FF2B5EF4-FFF2-40B4-BE49-F238E27FC236}">
                <a16:creationId xmlns:a16="http://schemas.microsoft.com/office/drawing/2014/main" id="{D42F9CF2-2F9D-EB94-FF7E-E370DA648AAC}"/>
              </a:ext>
            </a:extLst>
          </p:cNvPr>
          <p:cNvSpPr txBox="1"/>
          <p:nvPr/>
        </p:nvSpPr>
        <p:spPr>
          <a:xfrm>
            <a:off x="276225" y="5279747"/>
            <a:ext cx="11915775" cy="830997"/>
          </a:xfrm>
          <a:prstGeom prst="rect">
            <a:avLst/>
          </a:prstGeom>
          <a:solidFill>
            <a:schemeClr val="accent4">
              <a:lumMod val="20000"/>
              <a:lumOff val="80000"/>
            </a:schemeClr>
          </a:solidFill>
        </p:spPr>
        <p:txBody>
          <a:bodyPr wrap="square" rtlCol="0">
            <a:spAutoFit/>
          </a:bodyPr>
          <a:lstStyle/>
          <a:p>
            <a:pPr algn="l"/>
            <a:r>
              <a:rPr lang="en-US" sz="1600" b="0" i="0" u="none" strike="noStrike" baseline="0" dirty="0"/>
              <a:t>We find that </a:t>
            </a:r>
            <a:r>
              <a:rPr lang="en-US" sz="1600" b="0" i="0" u="none" strike="noStrike" baseline="0" dirty="0" err="1"/>
              <a:t>IceCube</a:t>
            </a:r>
            <a:r>
              <a:rPr lang="en-US" sz="1600" b="0" i="0" u="none" strike="noStrike" baseline="0" dirty="0"/>
              <a:t> can detect ∼ 10^3 events for a Type II-P SN at 10 kpc. The core-collapse SN rate in the Milky Way is estimated to be ∼ 3 /century, and the rates of Type II-P are ∼ 50% and II-L/IIb are ∼ 15−20%.</a:t>
            </a:r>
            <a:r>
              <a:rPr lang="en-US" sz="1600" dirty="0"/>
              <a:t> </a:t>
            </a:r>
            <a:r>
              <a:rPr lang="en-US" sz="1600" b="0" i="0" u="none" strike="noStrike" baseline="0" dirty="0"/>
              <a:t>The frequency of rare </a:t>
            </a:r>
            <a:r>
              <a:rPr lang="en-US" sz="1600" b="0" i="0" u="none" strike="noStrike" baseline="0" dirty="0" err="1"/>
              <a:t>SNe</a:t>
            </a:r>
            <a:r>
              <a:rPr lang="en-US" sz="1600" b="0" i="0" u="none" strike="noStrike" baseline="0" dirty="0"/>
              <a:t> </a:t>
            </a:r>
            <a:r>
              <a:rPr lang="en-US" sz="1600" b="0" i="0" u="none" strike="noStrike" baseline="0" dirty="0" err="1"/>
              <a:t>IIn</a:t>
            </a:r>
            <a:r>
              <a:rPr lang="en-US" sz="1600" b="0" i="0" u="none" strike="noStrike" baseline="0" dirty="0"/>
              <a:t> is only ∼ 10%, but they can be detected up to ∼ 10 </a:t>
            </a:r>
            <a:r>
              <a:rPr lang="en-US" sz="1600" b="0" i="0" u="none" strike="noStrike" baseline="0" dirty="0" err="1"/>
              <a:t>Mpc</a:t>
            </a:r>
            <a:r>
              <a:rPr lang="en-US" sz="1600" b="0" i="0" u="none" strike="noStrike" baseline="0" dirty="0"/>
              <a:t>. If a SN </a:t>
            </a:r>
            <a:r>
              <a:rPr lang="en-US" sz="1600" b="0" i="0" u="none" strike="noStrike" baseline="0" dirty="0" err="1"/>
              <a:t>IIn</a:t>
            </a:r>
            <a:r>
              <a:rPr lang="en-US" sz="1600" b="0" i="0" u="none" strike="noStrike" baseline="0" dirty="0"/>
              <a:t> explodes (assuming that a CSM with w = 2 is erupted), we could have ∼ 3 × 10^6 neutrino events.</a:t>
            </a:r>
            <a:endParaRPr lang="it-IT" sz="1600" dirty="0"/>
          </a:p>
        </p:txBody>
      </p:sp>
    </p:spTree>
    <p:extLst>
      <p:ext uri="{BB962C8B-B14F-4D97-AF65-F5344CB8AC3E}">
        <p14:creationId xmlns:p14="http://schemas.microsoft.com/office/powerpoint/2010/main" val="2872475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5A144FA5-CC8E-EA2D-1507-0127394215DD}"/>
              </a:ext>
            </a:extLst>
          </p:cNvPr>
          <p:cNvSpPr txBox="1"/>
          <p:nvPr/>
        </p:nvSpPr>
        <p:spPr>
          <a:xfrm>
            <a:off x="0" y="6581001"/>
            <a:ext cx="11220450" cy="276999"/>
          </a:xfrm>
          <a:prstGeom prst="rect">
            <a:avLst/>
          </a:prstGeom>
          <a:noFill/>
        </p:spPr>
        <p:txBody>
          <a:bodyPr wrap="square">
            <a:spAutoFit/>
          </a:bodyPr>
          <a:lstStyle/>
          <a:p>
            <a:r>
              <a:rPr lang="en-US" sz="1200" b="1" dirty="0">
                <a:solidFill>
                  <a:schemeClr val="accent1"/>
                </a:solidFill>
              </a:rPr>
              <a:t>New prospects for detecting high-energy neutrinos from nearby supernovae </a:t>
            </a:r>
            <a:r>
              <a:rPr lang="en-US" sz="1200" dirty="0">
                <a:solidFill>
                  <a:schemeClr val="accent1"/>
                </a:solidFill>
                <a:hlinkClick r:id="rId3"/>
              </a:rPr>
              <a:t>(</a:t>
            </a:r>
            <a:r>
              <a:rPr lang="it-IT" sz="1200" dirty="0">
                <a:solidFill>
                  <a:schemeClr val="accent1"/>
                </a:solidFill>
                <a:latin typeface="Arial Nova Light" panose="020B0304020202020204" pitchFamily="34" charset="0"/>
                <a:hlinkClick r:id="rId3"/>
              </a:rPr>
              <a:t>https://journals.aps.org/</a:t>
            </a:r>
            <a:r>
              <a:rPr lang="it-IT" sz="1200" dirty="0" err="1">
                <a:solidFill>
                  <a:schemeClr val="accent1"/>
                </a:solidFill>
                <a:latin typeface="Arial Nova Light" panose="020B0304020202020204" pitchFamily="34" charset="0"/>
                <a:hlinkClick r:id="rId3"/>
              </a:rPr>
              <a:t>prd</a:t>
            </a:r>
            <a:r>
              <a:rPr lang="it-IT" sz="1200" dirty="0">
                <a:solidFill>
                  <a:schemeClr val="accent1"/>
                </a:solidFill>
                <a:latin typeface="Arial Nova Light" panose="020B0304020202020204" pitchFamily="34" charset="0"/>
                <a:hlinkClick r:id="rId3"/>
              </a:rPr>
              <a:t>/abstract/10.1103/PhysRevD.97.081301</a:t>
            </a:r>
            <a:r>
              <a:rPr lang="it-IT" sz="1200" dirty="0">
                <a:solidFill>
                  <a:schemeClr val="accent1"/>
                </a:solidFill>
                <a:latin typeface="Arial Nova Light" panose="020B0304020202020204" pitchFamily="34" charset="0"/>
                <a:hlinkClick r:id="rId4"/>
              </a:rPr>
              <a:t>)</a:t>
            </a:r>
            <a:r>
              <a:rPr lang="en-US" sz="1200" dirty="0">
                <a:solidFill>
                  <a:schemeClr val="accent1"/>
                </a:solidFill>
                <a:hlinkClick r:id="rId4"/>
              </a:rPr>
              <a:t> </a:t>
            </a:r>
            <a:endParaRPr lang="it-IT" sz="1200" dirty="0">
              <a:solidFill>
                <a:schemeClr val="accent1"/>
              </a:solidFill>
            </a:endParaRPr>
          </a:p>
        </p:txBody>
      </p:sp>
      <p:pic>
        <p:nvPicPr>
          <p:cNvPr id="8" name="Immagine 7">
            <a:extLst>
              <a:ext uri="{FF2B5EF4-FFF2-40B4-BE49-F238E27FC236}">
                <a16:creationId xmlns:a16="http://schemas.microsoft.com/office/drawing/2014/main" id="{61D301B7-3D98-C0D6-D503-FFD27A8241AB}"/>
              </a:ext>
            </a:extLst>
          </p:cNvPr>
          <p:cNvPicPr>
            <a:picLocks noChangeAspect="1"/>
          </p:cNvPicPr>
          <p:nvPr/>
        </p:nvPicPr>
        <p:blipFill>
          <a:blip r:embed="rId5"/>
          <a:stretch>
            <a:fillRect/>
          </a:stretch>
        </p:blipFill>
        <p:spPr>
          <a:xfrm>
            <a:off x="1591262" y="539015"/>
            <a:ext cx="8829086" cy="5929535"/>
          </a:xfrm>
          <a:prstGeom prst="rect">
            <a:avLst/>
          </a:prstGeom>
        </p:spPr>
      </p:pic>
      <p:sp>
        <p:nvSpPr>
          <p:cNvPr id="5" name="Rettangolo 4">
            <a:extLst>
              <a:ext uri="{FF2B5EF4-FFF2-40B4-BE49-F238E27FC236}">
                <a16:creationId xmlns:a16="http://schemas.microsoft.com/office/drawing/2014/main" id="{B89F1234-A051-104A-4CD3-86C659A0BBF5}"/>
              </a:ext>
            </a:extLst>
          </p:cNvPr>
          <p:cNvSpPr/>
          <p:nvPr/>
        </p:nvSpPr>
        <p:spPr>
          <a:xfrm>
            <a:off x="-1" y="0"/>
            <a:ext cx="12192000" cy="6858000"/>
          </a:xfrm>
          <a:prstGeom prst="rect">
            <a:avLst/>
          </a:prstGeom>
          <a:solidFill>
            <a:schemeClr val="accent1">
              <a:lumMod val="60000"/>
              <a:lumOff val="40000"/>
              <a:alpha val="6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0" i="0" u="none" strike="noStrike" baseline="0" dirty="0"/>
              <a:t>OUTCOMES:</a:t>
            </a:r>
            <a:endParaRPr lang="it-IT" dirty="0"/>
          </a:p>
        </p:txBody>
      </p:sp>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1" y="0"/>
            <a:ext cx="7010401" cy="539015"/>
          </a:xfrm>
          <a:solidFill>
            <a:schemeClr val="bg1">
              <a:lumMod val="85000"/>
            </a:schemeClr>
          </a:solidFill>
        </p:spPr>
        <p:txBody>
          <a:bodyPr>
            <a:normAutofit fontScale="90000"/>
          </a:bodyPr>
          <a:lstStyle/>
          <a:p>
            <a:pPr marL="457200" indent="-457200">
              <a:buFont typeface="Wingdings" panose="05000000000000000000" pitchFamily="2" charset="2"/>
              <a:buChar char="Ø"/>
            </a:pPr>
            <a:r>
              <a:rPr lang="it-IT" sz="2800" b="1" dirty="0">
                <a:solidFill>
                  <a:schemeClr val="accent1"/>
                </a:solidFill>
              </a:rPr>
              <a:t> High-energy </a:t>
            </a:r>
            <a:r>
              <a:rPr lang="it-IT" sz="2800" b="1" dirty="0" err="1">
                <a:solidFill>
                  <a:schemeClr val="accent1"/>
                </a:solidFill>
              </a:rPr>
              <a:t>neutrinos</a:t>
            </a:r>
            <a:r>
              <a:rPr lang="it-IT" sz="2800" b="1" dirty="0">
                <a:solidFill>
                  <a:schemeClr val="accent1"/>
                </a:solidFill>
              </a:rPr>
              <a:t> from </a:t>
            </a:r>
            <a:r>
              <a:rPr lang="it-IT" sz="2800" b="1" dirty="0" err="1">
                <a:solidFill>
                  <a:schemeClr val="accent1"/>
                </a:solidFill>
              </a:rPr>
              <a:t>nearby</a:t>
            </a:r>
            <a:r>
              <a:rPr lang="it-IT" sz="2800" b="1" dirty="0">
                <a:solidFill>
                  <a:schemeClr val="accent1"/>
                </a:solidFill>
              </a:rPr>
              <a:t> </a:t>
            </a:r>
            <a:r>
              <a:rPr lang="it-IT" sz="2800" b="1" dirty="0" err="1">
                <a:solidFill>
                  <a:schemeClr val="accent1"/>
                </a:solidFill>
              </a:rPr>
              <a:t>SNe</a:t>
            </a:r>
            <a:r>
              <a:rPr lang="it-IT" sz="2800" b="1" dirty="0">
                <a:solidFill>
                  <a:schemeClr val="accent1"/>
                </a:solidFill>
              </a:rPr>
              <a:t> (</a:t>
            </a:r>
            <a:r>
              <a:rPr lang="it-IT" sz="2800" b="1" dirty="0" err="1">
                <a:solidFill>
                  <a:schemeClr val="accent1"/>
                </a:solidFill>
              </a:rPr>
              <a:t>Murase</a:t>
            </a:r>
            <a:r>
              <a:rPr lang="it-IT" sz="2800" b="1" dirty="0">
                <a:solidFill>
                  <a:schemeClr val="accent1"/>
                </a:solidFill>
              </a:rPr>
              <a:t>)</a:t>
            </a:r>
          </a:p>
        </p:txBody>
      </p:sp>
      <p:sp>
        <p:nvSpPr>
          <p:cNvPr id="13" name="CasellaDiTesto 12">
            <a:extLst>
              <a:ext uri="{FF2B5EF4-FFF2-40B4-BE49-F238E27FC236}">
                <a16:creationId xmlns:a16="http://schemas.microsoft.com/office/drawing/2014/main" id="{DA453380-DC6A-4400-31AD-C001D786538B}"/>
              </a:ext>
            </a:extLst>
          </p:cNvPr>
          <p:cNvSpPr txBox="1"/>
          <p:nvPr/>
        </p:nvSpPr>
        <p:spPr>
          <a:xfrm>
            <a:off x="254792" y="2492902"/>
            <a:ext cx="11682414" cy="830997"/>
          </a:xfrm>
          <a:prstGeom prst="rect">
            <a:avLst/>
          </a:prstGeom>
          <a:solidFill>
            <a:schemeClr val="accent4">
              <a:lumMod val="20000"/>
              <a:lumOff val="80000"/>
            </a:schemeClr>
          </a:solidFill>
        </p:spPr>
        <p:txBody>
          <a:bodyPr wrap="square" rtlCol="0">
            <a:spAutoFit/>
          </a:bodyPr>
          <a:lstStyle/>
          <a:p>
            <a:pPr marL="285750" indent="-285750" algn="l">
              <a:buFont typeface="Arial" panose="020B0604020202020204" pitchFamily="34" charset="0"/>
              <a:buChar char="•"/>
            </a:pPr>
            <a:r>
              <a:rPr lang="en-US" sz="1600" dirty="0"/>
              <a:t>Exploiting the time-dependent model is crucial for not missing the neutrino signals:  in the simplest model, the expected signal can be significantly underestimated, and the detectability is diminished. This is especially critical for detections of a SN with a smaller CSM or in another galaxy.</a:t>
            </a:r>
          </a:p>
        </p:txBody>
      </p:sp>
      <p:sp>
        <p:nvSpPr>
          <p:cNvPr id="15" name="CasellaDiTesto 14">
            <a:extLst>
              <a:ext uri="{FF2B5EF4-FFF2-40B4-BE49-F238E27FC236}">
                <a16:creationId xmlns:a16="http://schemas.microsoft.com/office/drawing/2014/main" id="{AF7A8075-3F82-DFFA-A6F3-4F798E64782C}"/>
              </a:ext>
            </a:extLst>
          </p:cNvPr>
          <p:cNvSpPr txBox="1"/>
          <p:nvPr/>
        </p:nvSpPr>
        <p:spPr>
          <a:xfrm>
            <a:off x="254791" y="708698"/>
            <a:ext cx="11682413" cy="584775"/>
          </a:xfrm>
          <a:prstGeom prst="rect">
            <a:avLst/>
          </a:prstGeom>
          <a:solidFill>
            <a:schemeClr val="accent4">
              <a:lumMod val="20000"/>
              <a:lumOff val="80000"/>
            </a:schemeClr>
          </a:solidFill>
        </p:spPr>
        <p:txBody>
          <a:bodyPr wrap="square">
            <a:spAutoFit/>
          </a:bodyPr>
          <a:lstStyle/>
          <a:p>
            <a:r>
              <a:rPr lang="en-US" sz="1600" b="1" i="0" u="none" strike="noStrike" baseline="0" dirty="0">
                <a:effectLst>
                  <a:outerShdw blurRad="38100" dist="38100" dir="2700000" algn="tl">
                    <a:srgbClr val="000000">
                      <a:alpha val="43137"/>
                    </a:srgbClr>
                  </a:outerShdw>
                </a:effectLst>
              </a:rPr>
              <a:t>OUTCOMES:</a:t>
            </a:r>
          </a:p>
          <a:p>
            <a:pPr algn="l"/>
            <a:r>
              <a:rPr lang="en-US" sz="1600" b="0" i="0" u="none" strike="noStrike" baseline="0" dirty="0"/>
              <a:t>For the first time, the detectability of high-energy neutrinos from different classes of nearby </a:t>
            </a:r>
            <a:r>
              <a:rPr lang="en-US" sz="1600" b="0" i="0" u="none" strike="noStrike" baseline="0" dirty="0" err="1"/>
              <a:t>SNe</a:t>
            </a:r>
            <a:r>
              <a:rPr lang="en-US" sz="1600" b="0" i="0" u="none" strike="noStrike" baseline="0" dirty="0"/>
              <a:t> has been systematically evaluated:</a:t>
            </a:r>
          </a:p>
        </p:txBody>
      </p:sp>
      <p:sp>
        <p:nvSpPr>
          <p:cNvPr id="17" name="CasellaDiTesto 16">
            <a:extLst>
              <a:ext uri="{FF2B5EF4-FFF2-40B4-BE49-F238E27FC236}">
                <a16:creationId xmlns:a16="http://schemas.microsoft.com/office/drawing/2014/main" id="{CBAB2100-3935-E32F-9CC0-FFBCCECB2807}"/>
              </a:ext>
            </a:extLst>
          </p:cNvPr>
          <p:cNvSpPr txBox="1"/>
          <p:nvPr/>
        </p:nvSpPr>
        <p:spPr>
          <a:xfrm>
            <a:off x="254789" y="1421014"/>
            <a:ext cx="11682414" cy="830997"/>
          </a:xfrm>
          <a:prstGeom prst="rect">
            <a:avLst/>
          </a:prstGeom>
          <a:solidFill>
            <a:schemeClr val="accent4">
              <a:lumMod val="20000"/>
              <a:lumOff val="80000"/>
            </a:schemeClr>
          </a:solidFill>
        </p:spPr>
        <p:txBody>
          <a:bodyPr wrap="square">
            <a:spAutoFit/>
          </a:bodyPr>
          <a:lstStyle/>
          <a:p>
            <a:pPr marL="285750" indent="-285750">
              <a:buFont typeface="Arial" panose="020B0604020202020204" pitchFamily="34" charset="0"/>
              <a:buChar char="•"/>
            </a:pPr>
            <a:r>
              <a:rPr lang="en-US" sz="1600" dirty="0"/>
              <a:t>f</a:t>
            </a:r>
            <a:r>
              <a:rPr lang="en-US" sz="1600" b="0" i="0" u="none" strike="noStrike" baseline="0" dirty="0"/>
              <a:t>or a Galactic SN, surprisingly, we showed that </a:t>
            </a:r>
            <a:r>
              <a:rPr lang="en-US" sz="1600" b="0" i="0" u="none" strike="noStrike" baseline="0" dirty="0" err="1"/>
              <a:t>Gton</a:t>
            </a:r>
            <a:r>
              <a:rPr lang="en-US" sz="1600" b="0" i="0" u="none" strike="noStrike" baseline="0" dirty="0"/>
              <a:t> neutrino detectors like </a:t>
            </a:r>
            <a:r>
              <a:rPr lang="en-US" sz="1600" b="0" i="0" u="none" strike="noStrike" baseline="0" dirty="0" err="1"/>
              <a:t>IceCube</a:t>
            </a:r>
            <a:r>
              <a:rPr lang="en-US" sz="1600" b="0" i="0" u="none" strike="noStrike" baseline="0" dirty="0"/>
              <a:t> and KM3NeT can detect ≥</a:t>
            </a:r>
            <a:r>
              <a:rPr lang="en-US" sz="1600" dirty="0"/>
              <a:t> </a:t>
            </a:r>
            <a:r>
              <a:rPr lang="en-US" sz="1600" b="0" i="0" u="none" strike="noStrike" baseline="0" dirty="0"/>
              <a:t>10 neutrinos from a Type II </a:t>
            </a:r>
            <a:r>
              <a:rPr lang="en-US" sz="1600" b="0" i="0" u="none" strike="noStrike" baseline="0" dirty="0" err="1"/>
              <a:t>SNe</a:t>
            </a:r>
            <a:r>
              <a:rPr lang="en-US" sz="1600" b="0" i="0" u="none" strike="noStrike" baseline="0" dirty="0"/>
              <a:t>, which forms a dominant class of core-collapse </a:t>
            </a:r>
            <a:r>
              <a:rPr lang="en-US" sz="1600" b="0" i="0" u="none" strike="noStrike" baseline="0" dirty="0" err="1"/>
              <a:t>SNe</a:t>
            </a:r>
            <a:r>
              <a:rPr lang="en-US" sz="1600" b="0" i="0" u="none" strike="noStrike" baseline="0" dirty="0"/>
              <a:t>. Even ∼ 10^3 − 10^6 events are possible for Type II-P and </a:t>
            </a:r>
            <a:r>
              <a:rPr lang="en-US" sz="1600" b="0" i="0" u="none" strike="noStrike" baseline="0" dirty="0" err="1"/>
              <a:t>IIn</a:t>
            </a:r>
            <a:r>
              <a:rPr lang="en-US" sz="1600" b="0" i="0" u="none" strike="noStrike" baseline="0" dirty="0"/>
              <a:t>. The targeted time window is ∼ 0.1 − 1 day (∼ 0.1 − 1 </a:t>
            </a:r>
            <a:r>
              <a:rPr lang="en-US" sz="1600" b="0" i="0" u="none" strike="noStrike" baseline="0" dirty="0" err="1"/>
              <a:t>yr</a:t>
            </a:r>
            <a:r>
              <a:rPr lang="en-US" sz="1600" b="0" i="0" u="none" strike="noStrike" baseline="0" dirty="0"/>
              <a:t>) after the MeV </a:t>
            </a:r>
            <a:r>
              <a:rPr lang="it-IT" sz="1600" b="0" i="0" u="none" strike="noStrike" baseline="0" dirty="0"/>
              <a:t>neutrino </a:t>
            </a:r>
            <a:r>
              <a:rPr lang="it-IT" sz="1600" b="0" i="0" u="none" strike="noStrike" baseline="0" dirty="0" err="1"/>
              <a:t>detection</a:t>
            </a:r>
            <a:r>
              <a:rPr lang="it-IT" sz="1600" b="0" i="0" u="none" strike="noStrike" baseline="0" dirty="0"/>
              <a:t> for </a:t>
            </a:r>
            <a:r>
              <a:rPr lang="it-IT" sz="1600" b="0" i="0" u="none" strike="noStrike" baseline="0" dirty="0" err="1"/>
              <a:t>SNe</a:t>
            </a:r>
            <a:r>
              <a:rPr lang="it-IT" sz="1600" b="0" i="0" u="none" strike="noStrike" baseline="0" dirty="0"/>
              <a:t> II-P/II-L/IIb (</a:t>
            </a:r>
            <a:r>
              <a:rPr lang="it-IT" sz="1600" b="0" i="0" u="none" strike="noStrike" baseline="0" dirty="0" err="1"/>
              <a:t>SNe</a:t>
            </a:r>
            <a:r>
              <a:rPr lang="it-IT" sz="1600" b="0" i="0" u="none" strike="noStrike" baseline="0" dirty="0"/>
              <a:t> </a:t>
            </a:r>
            <a:r>
              <a:rPr lang="it-IT" sz="1600" b="0" i="0" u="none" strike="noStrike" baseline="0" dirty="0" err="1"/>
              <a:t>IIn</a:t>
            </a:r>
            <a:r>
              <a:rPr lang="it-IT" sz="1600" b="0" i="0" u="none" strike="noStrike" baseline="0" dirty="0"/>
              <a:t>).</a:t>
            </a:r>
            <a:endParaRPr lang="it-IT" sz="1600" dirty="0"/>
          </a:p>
        </p:txBody>
      </p:sp>
      <p:sp>
        <p:nvSpPr>
          <p:cNvPr id="19" name="CasellaDiTesto 18">
            <a:extLst>
              <a:ext uri="{FF2B5EF4-FFF2-40B4-BE49-F238E27FC236}">
                <a16:creationId xmlns:a16="http://schemas.microsoft.com/office/drawing/2014/main" id="{958C4DE3-122F-DCB9-FA68-12A10D7FDCF1}"/>
              </a:ext>
            </a:extLst>
          </p:cNvPr>
          <p:cNvSpPr txBox="1"/>
          <p:nvPr/>
        </p:nvSpPr>
        <p:spPr>
          <a:xfrm>
            <a:off x="254789" y="3564790"/>
            <a:ext cx="11682414" cy="2554545"/>
          </a:xfrm>
          <a:prstGeom prst="rect">
            <a:avLst/>
          </a:prstGeom>
          <a:solidFill>
            <a:schemeClr val="accent4">
              <a:lumMod val="20000"/>
              <a:lumOff val="80000"/>
            </a:schemeClr>
          </a:solidFill>
        </p:spPr>
        <p:txBody>
          <a:bodyPr wrap="square">
            <a:spAutoFit/>
          </a:bodyPr>
          <a:lstStyle/>
          <a:p>
            <a:pPr marL="285750" indent="-285750" algn="l">
              <a:buFont typeface="Arial" panose="020B0604020202020204" pitchFamily="34" charset="0"/>
              <a:buChar char="•"/>
            </a:pPr>
            <a:r>
              <a:rPr lang="en-US" sz="1600" b="0" i="0" u="none" strike="noStrike" baseline="0" dirty="0"/>
              <a:t>In this model, CR production relies on the shock acceleration, and target material is not the SN ejecta but </a:t>
            </a:r>
            <a:r>
              <a:rPr lang="it-IT" sz="1600" b="0" i="0" u="none" strike="noStrike" baseline="0" dirty="0"/>
              <a:t>the “CSM”.</a:t>
            </a:r>
            <a:r>
              <a:rPr lang="en-US" sz="1600" b="0" i="0" u="none" strike="noStrike" baseline="0" dirty="0"/>
              <a:t> </a:t>
            </a:r>
            <a:br>
              <a:rPr lang="en-US" sz="1600" b="0" i="0" u="none" strike="noStrike" baseline="0" dirty="0"/>
            </a:br>
            <a:br>
              <a:rPr lang="en-US" sz="1600" b="0" i="0" u="none" strike="noStrike" baseline="0" dirty="0"/>
            </a:br>
            <a:r>
              <a:rPr lang="en-US" sz="1600" dirty="0"/>
              <a:t>T</a:t>
            </a:r>
            <a:r>
              <a:rPr lang="en-US" sz="1600" b="0" i="0" u="none" strike="noStrike" baseline="0" dirty="0"/>
              <a:t>here are various implications</a:t>
            </a:r>
            <a:r>
              <a:rPr lang="en-US" sz="1600" dirty="0"/>
              <a:t>:</a:t>
            </a:r>
            <a:br>
              <a:rPr lang="en-US" sz="1600" dirty="0"/>
            </a:br>
            <a:r>
              <a:rPr lang="en-US" sz="1600" dirty="0"/>
              <a:t>-</a:t>
            </a:r>
            <a:r>
              <a:rPr lang="en-US" sz="1600" b="0" i="0" u="none" strike="noStrike" baseline="0" dirty="0"/>
              <a:t> we can probe mechanisms of the pre-SN mass ejection or envelope inflation. Unlike photons that can be largely attenuated, neutrinos give us direct information on the CSM. </a:t>
            </a:r>
            <a:br>
              <a:rPr lang="en-US" sz="1600" b="0" i="0" u="none" strike="noStrike" baseline="0" dirty="0"/>
            </a:br>
            <a:br>
              <a:rPr lang="en-US" sz="1600" b="0" i="0" u="none" strike="noStrike" baseline="0" dirty="0"/>
            </a:br>
            <a:r>
              <a:rPr lang="en-US" sz="1600" dirty="0"/>
              <a:t>-</a:t>
            </a:r>
            <a:r>
              <a:rPr lang="en-US" sz="1600" b="0" i="0" u="none" strike="noStrike" baseline="0" dirty="0"/>
              <a:t> through the observation of ∼ 0.1 − 1 </a:t>
            </a:r>
            <a:r>
              <a:rPr lang="en-US" sz="1600" b="0" i="0" u="none" strike="noStrike" baseline="0" dirty="0" err="1"/>
              <a:t>PeV</a:t>
            </a:r>
            <a:r>
              <a:rPr lang="en-US" sz="1600" b="0" i="0" u="none" strike="noStrike" baseline="0" dirty="0"/>
              <a:t> neutrinos, we can test whether nascent SN remnants contribute to the observed CRs around the knee at 3 </a:t>
            </a:r>
            <a:r>
              <a:rPr lang="en-US" sz="1600" b="0" i="0" u="none" strike="noStrike" baseline="0" dirty="0" err="1"/>
              <a:t>PeV</a:t>
            </a:r>
            <a:r>
              <a:rPr lang="en-US" sz="1600" b="0" i="0" u="none" strike="noStrike" baseline="0" dirty="0"/>
              <a:t>. This is relevant, since </a:t>
            </a:r>
            <a:r>
              <a:rPr lang="en-US" sz="1600" b="0" i="0" u="none" strike="noStrike" baseline="0" dirty="0" err="1"/>
              <a:t>SNe</a:t>
            </a:r>
            <a:r>
              <a:rPr lang="en-US" sz="1600" b="0" i="0" u="none" strike="noStrike" baseline="0" dirty="0"/>
              <a:t> </a:t>
            </a:r>
            <a:r>
              <a:rPr lang="en-US" sz="1600" b="0" i="0" u="none" strike="noStrike" baseline="0" dirty="0" err="1"/>
              <a:t>IIn</a:t>
            </a:r>
            <a:r>
              <a:rPr lang="en-US" sz="1600" b="0" i="0" u="none" strike="noStrike" baseline="0" dirty="0"/>
              <a:t> and IIb have been suggested as the origins of such very high-energy CRs.</a:t>
            </a:r>
            <a:br>
              <a:rPr lang="en-US" sz="1600" b="0" i="0" u="none" strike="noStrike" baseline="0" dirty="0"/>
            </a:br>
            <a:br>
              <a:rPr lang="en-US" sz="1600" b="0" i="0" u="none" strike="noStrike" baseline="0" dirty="0"/>
            </a:br>
            <a:r>
              <a:rPr lang="en-US" sz="1600" b="0" i="0" u="none" strike="noStrike" baseline="0" dirty="0"/>
              <a:t>-we can study CR ion acceleration in “real-time”. Neutrino signals earlier than </a:t>
            </a:r>
            <a:r>
              <a:rPr lang="en-US" sz="1600" b="0" i="0" u="none" strike="noStrike" baseline="0" dirty="0" err="1"/>
              <a:t>t</a:t>
            </a:r>
            <a:r>
              <a:rPr lang="en-US" sz="1200" b="0" i="0" u="none" strike="noStrike" baseline="0" dirty="0" err="1"/>
              <a:t>onset</a:t>
            </a:r>
            <a:r>
              <a:rPr lang="en-US" sz="1600" b="0" i="0" u="none" strike="noStrike" baseline="0" dirty="0"/>
              <a:t> may indicate CR acceleration </a:t>
            </a:r>
            <a:r>
              <a:rPr lang="it-IT" sz="1600" b="0" i="0" u="none" strike="noStrike" baseline="0" dirty="0"/>
              <a:t>inside the </a:t>
            </a:r>
            <a:r>
              <a:rPr lang="it-IT" sz="1600" b="0" i="0" u="none" strike="noStrike" baseline="0" dirty="0" err="1"/>
              <a:t>ejecta</a:t>
            </a:r>
            <a:r>
              <a:rPr lang="it-IT" sz="1600" b="0" i="0" u="none" strike="noStrike" baseline="0" dirty="0"/>
              <a:t>.</a:t>
            </a:r>
            <a:endParaRPr lang="it-IT" sz="1600" dirty="0"/>
          </a:p>
        </p:txBody>
      </p:sp>
    </p:spTree>
    <p:extLst>
      <p:ext uri="{BB962C8B-B14F-4D97-AF65-F5344CB8AC3E}">
        <p14:creationId xmlns:p14="http://schemas.microsoft.com/office/powerpoint/2010/main" val="470431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a:t>
            </a:r>
            <a:r>
              <a:rPr lang="it-IT" sz="2800" b="1" dirty="0" err="1">
                <a:solidFill>
                  <a:schemeClr val="accent1"/>
                </a:solidFill>
              </a:rPr>
              <a:t>Our</a:t>
            </a:r>
            <a:r>
              <a:rPr lang="it-IT" sz="2800" b="1" dirty="0">
                <a:solidFill>
                  <a:schemeClr val="accent1"/>
                </a:solidFill>
              </a:rPr>
              <a:t> goal</a:t>
            </a:r>
          </a:p>
        </p:txBody>
      </p:sp>
      <p:sp>
        <p:nvSpPr>
          <p:cNvPr id="5" name="CasellaDiTesto 4">
            <a:extLst>
              <a:ext uri="{FF2B5EF4-FFF2-40B4-BE49-F238E27FC236}">
                <a16:creationId xmlns:a16="http://schemas.microsoft.com/office/drawing/2014/main" id="{3106A4FA-9C5C-0033-91A0-65176690BEEE}"/>
              </a:ext>
            </a:extLst>
          </p:cNvPr>
          <p:cNvSpPr txBox="1"/>
          <p:nvPr/>
        </p:nvSpPr>
        <p:spPr>
          <a:xfrm>
            <a:off x="228599" y="706616"/>
            <a:ext cx="10391775" cy="923330"/>
          </a:xfrm>
          <a:prstGeom prst="rect">
            <a:avLst/>
          </a:prstGeom>
          <a:noFill/>
        </p:spPr>
        <p:txBody>
          <a:bodyPr wrap="square" rtlCol="0">
            <a:spAutoFit/>
          </a:bodyPr>
          <a:lstStyle/>
          <a:p>
            <a:r>
              <a:rPr lang="it-IT" b="1" dirty="0" err="1"/>
              <a:t>Reproduce</a:t>
            </a:r>
            <a:r>
              <a:rPr lang="it-IT" b="1" dirty="0"/>
              <a:t> the neutrino light </a:t>
            </a:r>
            <a:r>
              <a:rPr lang="it-IT" b="1" dirty="0" err="1"/>
              <a:t>curves</a:t>
            </a:r>
            <a:r>
              <a:rPr lang="it-IT" b="1" dirty="0"/>
              <a:t> for </a:t>
            </a:r>
            <a:r>
              <a:rPr lang="it-IT" b="1" dirty="0" err="1"/>
              <a:t>different</a:t>
            </a:r>
            <a:r>
              <a:rPr lang="it-IT" b="1" dirty="0"/>
              <a:t> supernovae </a:t>
            </a:r>
            <a:r>
              <a:rPr lang="it-IT" b="1" dirty="0" err="1"/>
              <a:t>as</a:t>
            </a:r>
            <a:r>
              <a:rPr lang="it-IT" b="1" dirty="0"/>
              <a:t> </a:t>
            </a:r>
            <a:r>
              <a:rPr lang="it-IT" b="1" dirty="0" err="1"/>
              <a:t>plotted</a:t>
            </a:r>
            <a:r>
              <a:rPr lang="it-IT" b="1" dirty="0"/>
              <a:t> in </a:t>
            </a:r>
            <a:r>
              <a:rPr lang="it-IT" b="1" dirty="0" err="1"/>
              <a:t>Murase’s</a:t>
            </a:r>
            <a:r>
              <a:rPr lang="it-IT" b="1" dirty="0"/>
              <a:t> paper:</a:t>
            </a:r>
            <a:br>
              <a:rPr lang="it-IT" b="1" dirty="0"/>
            </a:br>
            <a:br>
              <a:rPr lang="it-IT" b="1" dirty="0"/>
            </a:br>
            <a:r>
              <a:rPr lang="it-IT" dirty="0"/>
              <a:t>- to do </a:t>
            </a:r>
            <a:r>
              <a:rPr lang="it-IT" dirty="0" err="1"/>
              <a:t>this</a:t>
            </a:r>
            <a:r>
              <a:rPr lang="it-IT" dirty="0"/>
              <a:t> we </a:t>
            </a:r>
            <a:r>
              <a:rPr lang="it-IT" dirty="0" err="1"/>
              <a:t>used</a:t>
            </a:r>
            <a:r>
              <a:rPr lang="it-IT" dirty="0"/>
              <a:t> the </a:t>
            </a:r>
            <a:r>
              <a:rPr lang="it-IT" dirty="0" err="1"/>
              <a:t>Murase</a:t>
            </a:r>
            <a:r>
              <a:rPr lang="it-IT" dirty="0"/>
              <a:t> </a:t>
            </a:r>
            <a:r>
              <a:rPr lang="it-IT" dirty="0" err="1"/>
              <a:t>git</a:t>
            </a:r>
            <a:r>
              <a:rPr lang="it-IT" dirty="0"/>
              <a:t> repository  </a:t>
            </a:r>
          </a:p>
        </p:txBody>
      </p:sp>
      <p:sp>
        <p:nvSpPr>
          <p:cNvPr id="4" name="CasellaDiTesto 3">
            <a:extLst>
              <a:ext uri="{FF2B5EF4-FFF2-40B4-BE49-F238E27FC236}">
                <a16:creationId xmlns:a16="http://schemas.microsoft.com/office/drawing/2014/main" id="{9BCF44F6-C363-41B6-8D33-7A7AB9424E74}"/>
              </a:ext>
            </a:extLst>
          </p:cNvPr>
          <p:cNvSpPr txBox="1"/>
          <p:nvPr/>
        </p:nvSpPr>
        <p:spPr>
          <a:xfrm>
            <a:off x="542925" y="2057400"/>
            <a:ext cx="5852172" cy="2585323"/>
          </a:xfrm>
          <a:prstGeom prst="rect">
            <a:avLst/>
          </a:prstGeom>
          <a:noFill/>
        </p:spPr>
        <p:txBody>
          <a:bodyPr wrap="square" rtlCol="0">
            <a:spAutoFit/>
          </a:bodyPr>
          <a:lstStyle/>
          <a:p>
            <a:pPr marL="342900" indent="-342900">
              <a:buAutoNum type="arabicPeriod"/>
            </a:pPr>
            <a:r>
              <a:rPr lang="it-IT" dirty="0" err="1"/>
              <a:t>Reproduce</a:t>
            </a:r>
            <a:r>
              <a:rPr lang="it-IT" dirty="0"/>
              <a:t> the neutrino light curve from </a:t>
            </a:r>
            <a:r>
              <a:rPr lang="it-IT" dirty="0" err="1"/>
              <a:t>Murase’s</a:t>
            </a:r>
            <a:r>
              <a:rPr lang="it-IT" dirty="0"/>
              <a:t> paper</a:t>
            </a:r>
          </a:p>
          <a:p>
            <a:pPr marL="342900" indent="-342900">
              <a:buAutoNum type="arabicPeriod"/>
            </a:pPr>
            <a:r>
              <a:rPr lang="it-IT" dirty="0" err="1"/>
              <a:t>Reproduce</a:t>
            </a:r>
            <a:r>
              <a:rPr lang="it-IT" dirty="0"/>
              <a:t> the </a:t>
            </a:r>
            <a:r>
              <a:rPr lang="it-IT" dirty="0" err="1"/>
              <a:t>fluence</a:t>
            </a:r>
            <a:r>
              <a:rPr lang="it-IT" dirty="0"/>
              <a:t> (</a:t>
            </a:r>
            <a:r>
              <a:rPr lang="it-IT" dirty="0" err="1"/>
              <a:t>that’s</a:t>
            </a:r>
            <a:r>
              <a:rPr lang="it-IT" dirty="0"/>
              <a:t> what we need for </a:t>
            </a:r>
            <a:r>
              <a:rPr lang="it-IT" dirty="0" err="1"/>
              <a:t>gSeaGen</a:t>
            </a:r>
            <a:r>
              <a:rPr lang="it-IT" dirty="0"/>
              <a:t>)+</a:t>
            </a:r>
          </a:p>
          <a:p>
            <a:pPr marL="342900" indent="-342900">
              <a:buAutoNum type="arabicPeriod"/>
            </a:pPr>
            <a:r>
              <a:rPr lang="it-IT" dirty="0"/>
              <a:t>Run the </a:t>
            </a:r>
            <a:r>
              <a:rPr lang="it-IT" dirty="0" err="1"/>
              <a:t>gSeaGen</a:t>
            </a:r>
            <a:r>
              <a:rPr lang="it-IT" dirty="0"/>
              <a:t> and </a:t>
            </a:r>
            <a:r>
              <a:rPr lang="it-IT" dirty="0" err="1"/>
              <a:t>Aanet</a:t>
            </a:r>
            <a:r>
              <a:rPr lang="it-IT" dirty="0"/>
              <a:t> </a:t>
            </a:r>
            <a:r>
              <a:rPr lang="it-IT" dirty="0" err="1"/>
              <a:t>according</a:t>
            </a:r>
            <a:r>
              <a:rPr lang="it-IT" dirty="0"/>
              <a:t> to  the neutrino </a:t>
            </a:r>
            <a:r>
              <a:rPr lang="it-IT" dirty="0" err="1"/>
              <a:t>flux</a:t>
            </a:r>
            <a:r>
              <a:rPr lang="it-IT" dirty="0"/>
              <a:t> </a:t>
            </a:r>
            <a:r>
              <a:rPr lang="it-IT" dirty="0" err="1"/>
              <a:t>as</a:t>
            </a:r>
            <a:r>
              <a:rPr lang="it-IT" dirty="0"/>
              <a:t> input</a:t>
            </a:r>
          </a:p>
          <a:p>
            <a:pPr marL="342900" indent="-342900">
              <a:buAutoNum type="arabicPeriod"/>
            </a:pPr>
            <a:r>
              <a:rPr lang="it-IT" dirty="0"/>
              <a:t>Light </a:t>
            </a:r>
            <a:r>
              <a:rPr lang="it-IT" dirty="0" err="1"/>
              <a:t>propagation</a:t>
            </a:r>
            <a:r>
              <a:rPr lang="it-IT" dirty="0"/>
              <a:t> and </a:t>
            </a:r>
            <a:r>
              <a:rPr lang="it-IT" dirty="0" err="1"/>
              <a:t>detection</a:t>
            </a:r>
            <a:r>
              <a:rPr lang="it-IT" dirty="0"/>
              <a:t>: KM3Sim, </a:t>
            </a:r>
            <a:r>
              <a:rPr lang="it-IT" dirty="0" err="1"/>
              <a:t>Jsirene</a:t>
            </a:r>
            <a:r>
              <a:rPr lang="it-IT" dirty="0"/>
              <a:t>… </a:t>
            </a:r>
            <a:r>
              <a:rPr lang="it-IT" dirty="0" err="1"/>
              <a:t>JtriggerEfficiency</a:t>
            </a:r>
            <a:r>
              <a:rPr lang="it-IT" dirty="0"/>
              <a:t>(BKG)</a:t>
            </a:r>
          </a:p>
          <a:p>
            <a:pPr marL="342900" indent="-342900">
              <a:buAutoNum type="arabicPeriod"/>
            </a:pPr>
            <a:r>
              <a:rPr lang="it-IT" dirty="0" err="1"/>
              <a:t>Reconstruction</a:t>
            </a:r>
            <a:r>
              <a:rPr lang="it-IT" dirty="0"/>
              <a:t>: JPP </a:t>
            </a:r>
          </a:p>
          <a:p>
            <a:pPr marL="342900" indent="-342900">
              <a:buAutoNum type="arabicPeriod"/>
            </a:pPr>
            <a:endParaRPr lang="it-IT" dirty="0"/>
          </a:p>
        </p:txBody>
      </p:sp>
      <p:pic>
        <p:nvPicPr>
          <p:cNvPr id="7" name="Immagine 6" descr="Immagine che contiene testo, linea, diagramma, Diagramma&#10;&#10;Descrizione generata automaticamente">
            <a:extLst>
              <a:ext uri="{FF2B5EF4-FFF2-40B4-BE49-F238E27FC236}">
                <a16:creationId xmlns:a16="http://schemas.microsoft.com/office/drawing/2014/main" id="{B4107491-1844-C37F-1575-073AF7D403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0789" y="1330633"/>
            <a:ext cx="5852172" cy="4389129"/>
          </a:xfrm>
          <a:prstGeom prst="rect">
            <a:avLst/>
          </a:prstGeom>
        </p:spPr>
      </p:pic>
    </p:spTree>
    <p:extLst>
      <p:ext uri="{BB962C8B-B14F-4D97-AF65-F5344CB8AC3E}">
        <p14:creationId xmlns:p14="http://schemas.microsoft.com/office/powerpoint/2010/main" val="1446621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a:t>
            </a:r>
            <a:r>
              <a:rPr lang="it-IT" sz="2800" b="1" dirty="0" err="1">
                <a:solidFill>
                  <a:schemeClr val="accent1"/>
                </a:solidFill>
              </a:rPr>
              <a:t>Our</a:t>
            </a:r>
            <a:r>
              <a:rPr lang="it-IT" sz="2800" b="1" dirty="0">
                <a:solidFill>
                  <a:schemeClr val="accent1"/>
                </a:solidFill>
              </a:rPr>
              <a:t> goal: step 2</a:t>
            </a:r>
          </a:p>
        </p:txBody>
      </p:sp>
      <p:sp>
        <p:nvSpPr>
          <p:cNvPr id="5" name="CasellaDiTesto 4">
            <a:extLst>
              <a:ext uri="{FF2B5EF4-FFF2-40B4-BE49-F238E27FC236}">
                <a16:creationId xmlns:a16="http://schemas.microsoft.com/office/drawing/2014/main" id="{3106A4FA-9C5C-0033-91A0-65176690BEEE}"/>
              </a:ext>
            </a:extLst>
          </p:cNvPr>
          <p:cNvSpPr txBox="1"/>
          <p:nvPr/>
        </p:nvSpPr>
        <p:spPr>
          <a:xfrm>
            <a:off x="228599" y="706616"/>
            <a:ext cx="10391775" cy="923330"/>
          </a:xfrm>
          <a:prstGeom prst="rect">
            <a:avLst/>
          </a:prstGeom>
          <a:noFill/>
        </p:spPr>
        <p:txBody>
          <a:bodyPr wrap="square" rtlCol="0">
            <a:spAutoFit/>
          </a:bodyPr>
          <a:lstStyle/>
          <a:p>
            <a:r>
              <a:rPr lang="it-IT" b="1" dirty="0" err="1"/>
              <a:t>Reproduce</a:t>
            </a:r>
            <a:r>
              <a:rPr lang="it-IT" b="1" dirty="0"/>
              <a:t> the neutrino light </a:t>
            </a:r>
            <a:r>
              <a:rPr lang="it-IT" b="1" dirty="0" err="1"/>
              <a:t>curves</a:t>
            </a:r>
            <a:r>
              <a:rPr lang="it-IT" b="1" dirty="0"/>
              <a:t> for </a:t>
            </a:r>
            <a:r>
              <a:rPr lang="it-IT" b="1" dirty="0" err="1"/>
              <a:t>different</a:t>
            </a:r>
            <a:r>
              <a:rPr lang="it-IT" b="1" dirty="0"/>
              <a:t> supernovae </a:t>
            </a:r>
            <a:r>
              <a:rPr lang="it-IT" b="1" dirty="0" err="1"/>
              <a:t>as</a:t>
            </a:r>
            <a:r>
              <a:rPr lang="it-IT" b="1" dirty="0"/>
              <a:t> </a:t>
            </a:r>
            <a:r>
              <a:rPr lang="it-IT" b="1" dirty="0" err="1"/>
              <a:t>plotted</a:t>
            </a:r>
            <a:r>
              <a:rPr lang="it-IT" b="1" dirty="0"/>
              <a:t> in </a:t>
            </a:r>
            <a:r>
              <a:rPr lang="it-IT" b="1" dirty="0" err="1"/>
              <a:t>Murase’s</a:t>
            </a:r>
            <a:r>
              <a:rPr lang="it-IT" b="1" dirty="0"/>
              <a:t> paper:</a:t>
            </a:r>
            <a:br>
              <a:rPr lang="it-IT" b="1" dirty="0"/>
            </a:br>
            <a:br>
              <a:rPr lang="it-IT" b="1" dirty="0"/>
            </a:br>
            <a:r>
              <a:rPr lang="it-IT" dirty="0"/>
              <a:t>- to do </a:t>
            </a:r>
            <a:r>
              <a:rPr lang="it-IT" dirty="0" err="1"/>
              <a:t>this</a:t>
            </a:r>
            <a:r>
              <a:rPr lang="it-IT" dirty="0"/>
              <a:t> we </a:t>
            </a:r>
            <a:r>
              <a:rPr lang="it-IT" dirty="0" err="1"/>
              <a:t>used</a:t>
            </a:r>
            <a:r>
              <a:rPr lang="it-IT" dirty="0"/>
              <a:t> the </a:t>
            </a:r>
            <a:r>
              <a:rPr lang="it-IT" dirty="0" err="1"/>
              <a:t>Murase</a:t>
            </a:r>
            <a:r>
              <a:rPr lang="it-IT" dirty="0"/>
              <a:t> </a:t>
            </a:r>
            <a:r>
              <a:rPr lang="it-IT" dirty="0" err="1"/>
              <a:t>git</a:t>
            </a:r>
            <a:r>
              <a:rPr lang="it-IT" dirty="0"/>
              <a:t> repository  </a:t>
            </a:r>
          </a:p>
        </p:txBody>
      </p:sp>
    </p:spTree>
    <p:extLst>
      <p:ext uri="{BB962C8B-B14F-4D97-AF65-F5344CB8AC3E}">
        <p14:creationId xmlns:p14="http://schemas.microsoft.com/office/powerpoint/2010/main" val="930418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a:t>
            </a:r>
            <a:r>
              <a:rPr lang="it-IT" sz="2800" b="1" dirty="0" err="1">
                <a:solidFill>
                  <a:schemeClr val="accent1"/>
                </a:solidFill>
              </a:rPr>
              <a:t>Our</a:t>
            </a:r>
            <a:r>
              <a:rPr lang="it-IT" sz="2800" b="1" dirty="0">
                <a:solidFill>
                  <a:schemeClr val="accent1"/>
                </a:solidFill>
              </a:rPr>
              <a:t> goal: step 1</a:t>
            </a:r>
          </a:p>
        </p:txBody>
      </p:sp>
      <p:sp>
        <p:nvSpPr>
          <p:cNvPr id="5" name="CasellaDiTesto 4">
            <a:extLst>
              <a:ext uri="{FF2B5EF4-FFF2-40B4-BE49-F238E27FC236}">
                <a16:creationId xmlns:a16="http://schemas.microsoft.com/office/drawing/2014/main" id="{3106A4FA-9C5C-0033-91A0-65176690BEEE}"/>
              </a:ext>
            </a:extLst>
          </p:cNvPr>
          <p:cNvSpPr txBox="1"/>
          <p:nvPr/>
        </p:nvSpPr>
        <p:spPr>
          <a:xfrm>
            <a:off x="228599" y="706616"/>
            <a:ext cx="10391775" cy="923330"/>
          </a:xfrm>
          <a:prstGeom prst="rect">
            <a:avLst/>
          </a:prstGeom>
          <a:noFill/>
        </p:spPr>
        <p:txBody>
          <a:bodyPr wrap="square" rtlCol="0">
            <a:spAutoFit/>
          </a:bodyPr>
          <a:lstStyle/>
          <a:p>
            <a:r>
              <a:rPr lang="it-IT" b="1" dirty="0" err="1"/>
              <a:t>Reproduce</a:t>
            </a:r>
            <a:r>
              <a:rPr lang="it-IT" b="1" dirty="0"/>
              <a:t> the neutrino light </a:t>
            </a:r>
            <a:r>
              <a:rPr lang="it-IT" b="1" dirty="0" err="1"/>
              <a:t>curves</a:t>
            </a:r>
            <a:r>
              <a:rPr lang="it-IT" b="1" dirty="0"/>
              <a:t> for </a:t>
            </a:r>
            <a:r>
              <a:rPr lang="it-IT" b="1" dirty="0" err="1"/>
              <a:t>different</a:t>
            </a:r>
            <a:r>
              <a:rPr lang="it-IT" b="1" dirty="0"/>
              <a:t> supernovae </a:t>
            </a:r>
            <a:r>
              <a:rPr lang="it-IT" b="1" dirty="0" err="1"/>
              <a:t>as</a:t>
            </a:r>
            <a:r>
              <a:rPr lang="it-IT" b="1" dirty="0"/>
              <a:t> </a:t>
            </a:r>
            <a:r>
              <a:rPr lang="it-IT" b="1" dirty="0" err="1"/>
              <a:t>plotted</a:t>
            </a:r>
            <a:r>
              <a:rPr lang="it-IT" b="1" dirty="0"/>
              <a:t> in </a:t>
            </a:r>
            <a:r>
              <a:rPr lang="it-IT" b="1" dirty="0" err="1"/>
              <a:t>Murase’s</a:t>
            </a:r>
            <a:r>
              <a:rPr lang="it-IT" b="1" dirty="0"/>
              <a:t> paper:</a:t>
            </a:r>
            <a:br>
              <a:rPr lang="it-IT" b="1" dirty="0"/>
            </a:br>
            <a:br>
              <a:rPr lang="it-IT" b="1" dirty="0"/>
            </a:br>
            <a:r>
              <a:rPr lang="it-IT" dirty="0"/>
              <a:t>- to do </a:t>
            </a:r>
            <a:r>
              <a:rPr lang="it-IT" dirty="0" err="1"/>
              <a:t>this</a:t>
            </a:r>
            <a:r>
              <a:rPr lang="it-IT" dirty="0"/>
              <a:t> we </a:t>
            </a:r>
            <a:r>
              <a:rPr lang="it-IT" dirty="0" err="1"/>
              <a:t>used</a:t>
            </a:r>
            <a:r>
              <a:rPr lang="it-IT" dirty="0"/>
              <a:t> the </a:t>
            </a:r>
            <a:r>
              <a:rPr lang="it-IT" dirty="0" err="1"/>
              <a:t>Murase</a:t>
            </a:r>
            <a:r>
              <a:rPr lang="it-IT" dirty="0"/>
              <a:t> </a:t>
            </a:r>
            <a:r>
              <a:rPr lang="it-IT" dirty="0" err="1"/>
              <a:t>git</a:t>
            </a:r>
            <a:r>
              <a:rPr lang="it-IT" dirty="0"/>
              <a:t> repository  </a:t>
            </a:r>
          </a:p>
        </p:txBody>
      </p:sp>
    </p:spTree>
    <p:extLst>
      <p:ext uri="{BB962C8B-B14F-4D97-AF65-F5344CB8AC3E}">
        <p14:creationId xmlns:p14="http://schemas.microsoft.com/office/powerpoint/2010/main" val="418060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46532-E917-ADD5-FCDB-DD78764FC2A9}"/>
              </a:ext>
            </a:extLst>
          </p:cNvPr>
          <p:cNvSpPr>
            <a:spLocks noGrp="1"/>
          </p:cNvSpPr>
          <p:nvPr>
            <p:ph type="title"/>
          </p:nvPr>
        </p:nvSpPr>
        <p:spPr>
          <a:xfrm>
            <a:off x="0" y="0"/>
            <a:ext cx="4822257" cy="539015"/>
          </a:xfrm>
          <a:solidFill>
            <a:schemeClr val="bg1">
              <a:lumMod val="85000"/>
            </a:schemeClr>
          </a:solidFill>
        </p:spPr>
        <p:txBody>
          <a:bodyPr>
            <a:normAutofit/>
          </a:bodyPr>
          <a:lstStyle/>
          <a:p>
            <a:pPr marL="457200" indent="-457200">
              <a:buFont typeface="Wingdings" panose="05000000000000000000" pitchFamily="2" charset="2"/>
              <a:buChar char="Ø"/>
            </a:pPr>
            <a:r>
              <a:rPr lang="it-IT" sz="2800" b="1" dirty="0">
                <a:solidFill>
                  <a:schemeClr val="accent1"/>
                </a:solidFill>
              </a:rPr>
              <a:t> </a:t>
            </a:r>
            <a:r>
              <a:rPr lang="it-IT" sz="2800" b="1" dirty="0" err="1">
                <a:solidFill>
                  <a:schemeClr val="accent1"/>
                </a:solidFill>
              </a:rPr>
              <a:t>Our</a:t>
            </a:r>
            <a:r>
              <a:rPr lang="it-IT" sz="2800" b="1" dirty="0">
                <a:solidFill>
                  <a:schemeClr val="accent1"/>
                </a:solidFill>
              </a:rPr>
              <a:t> goal</a:t>
            </a:r>
          </a:p>
        </p:txBody>
      </p:sp>
      <p:sp>
        <p:nvSpPr>
          <p:cNvPr id="4" name="CasellaDiTesto 3">
            <a:extLst>
              <a:ext uri="{FF2B5EF4-FFF2-40B4-BE49-F238E27FC236}">
                <a16:creationId xmlns:a16="http://schemas.microsoft.com/office/drawing/2014/main" id="{616C6B82-98BA-3DA4-DFD0-322B2B918B00}"/>
              </a:ext>
            </a:extLst>
          </p:cNvPr>
          <p:cNvSpPr txBox="1"/>
          <p:nvPr/>
        </p:nvSpPr>
        <p:spPr>
          <a:xfrm>
            <a:off x="2969419" y="2785973"/>
            <a:ext cx="6148386" cy="1200329"/>
          </a:xfrm>
          <a:prstGeom prst="rect">
            <a:avLst/>
          </a:prstGeom>
          <a:noFill/>
        </p:spPr>
        <p:txBody>
          <a:bodyPr wrap="square">
            <a:spAutoFit/>
          </a:bodyPr>
          <a:lstStyle/>
          <a:p>
            <a:r>
              <a:rPr lang="it-IT" dirty="0"/>
              <a:t>SN 2024ggi in NGC 3621: </a:t>
            </a:r>
            <a:r>
              <a:rPr lang="it-IT" dirty="0" err="1"/>
              <a:t>Rising</a:t>
            </a:r>
            <a:r>
              <a:rPr lang="it-IT" dirty="0"/>
              <a:t> </a:t>
            </a:r>
            <a:r>
              <a:rPr lang="it-IT" dirty="0" err="1"/>
              <a:t>Ionization</a:t>
            </a:r>
            <a:r>
              <a:rPr lang="it-IT" dirty="0"/>
              <a:t> in a </a:t>
            </a:r>
            <a:r>
              <a:rPr lang="it-IT" dirty="0" err="1"/>
              <a:t>Nearby</a:t>
            </a:r>
            <a:r>
              <a:rPr lang="it-IT" dirty="0"/>
              <a:t>, CSM-</a:t>
            </a:r>
            <a:r>
              <a:rPr lang="it-IT" dirty="0" err="1"/>
              <a:t>Interacting</a:t>
            </a:r>
            <a:r>
              <a:rPr lang="it-IT" dirty="0"/>
              <a:t> </a:t>
            </a:r>
            <a:r>
              <a:rPr lang="it-IT" dirty="0" err="1"/>
              <a:t>Type</a:t>
            </a:r>
            <a:r>
              <a:rPr lang="it-IT" dirty="0"/>
              <a:t> II Supernova</a:t>
            </a:r>
          </a:p>
          <a:p>
            <a:r>
              <a:rPr lang="it-IT" dirty="0"/>
              <a:t>W. V. Jacobson-Gal´an,1, 2 K. W. Davis,3 C. D. Kilpatrick,4, 5 L. Dessart,6 R. Margutti,1, 7 R. Chornock,1 R. J. Foley,3</a:t>
            </a:r>
          </a:p>
        </p:txBody>
      </p:sp>
    </p:spTree>
    <p:extLst>
      <p:ext uri="{BB962C8B-B14F-4D97-AF65-F5344CB8AC3E}">
        <p14:creationId xmlns:p14="http://schemas.microsoft.com/office/powerpoint/2010/main" val="2217923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AA3E44A-CA2A-3255-2137-72C86A5920CD}"/>
              </a:ext>
            </a:extLst>
          </p:cNvPr>
          <p:cNvSpPr>
            <a:spLocks noGrp="1"/>
          </p:cNvSpPr>
          <p:nvPr>
            <p:ph type="title"/>
          </p:nvPr>
        </p:nvSpPr>
        <p:spPr/>
        <p:txBody>
          <a:bodyPr/>
          <a:lstStyle/>
          <a:p>
            <a:endParaRPr lang="it-IT"/>
          </a:p>
        </p:txBody>
      </p:sp>
      <p:sp>
        <p:nvSpPr>
          <p:cNvPr id="3" name="Segnaposto contenuto 2">
            <a:extLst>
              <a:ext uri="{FF2B5EF4-FFF2-40B4-BE49-F238E27FC236}">
                <a16:creationId xmlns:a16="http://schemas.microsoft.com/office/drawing/2014/main" id="{595A693A-517A-A7B2-A6EA-AE04C2BAA782}"/>
              </a:ext>
            </a:extLst>
          </p:cNvPr>
          <p:cNvSpPr>
            <a:spLocks noGrp="1"/>
          </p:cNvSpPr>
          <p:nvPr>
            <p:ph idx="1"/>
          </p:nvPr>
        </p:nvSpPr>
        <p:spPr/>
        <p:txBody>
          <a:bodyPr/>
          <a:lstStyle/>
          <a:p>
            <a:endParaRPr lang="it-IT"/>
          </a:p>
        </p:txBody>
      </p:sp>
      <p:pic>
        <p:nvPicPr>
          <p:cNvPr id="5" name="Immagine 4">
            <a:extLst>
              <a:ext uri="{FF2B5EF4-FFF2-40B4-BE49-F238E27FC236}">
                <a16:creationId xmlns:a16="http://schemas.microsoft.com/office/drawing/2014/main" id="{C74511D6-7338-0D30-C31D-1792CAE6D6EA}"/>
              </a:ext>
            </a:extLst>
          </p:cNvPr>
          <p:cNvPicPr>
            <a:picLocks noChangeAspect="1"/>
          </p:cNvPicPr>
          <p:nvPr/>
        </p:nvPicPr>
        <p:blipFill rotWithShape="1">
          <a:blip r:embed="rId2"/>
          <a:srcRect l="20139" t="30139" r="13715" b="18333"/>
          <a:stretch/>
        </p:blipFill>
        <p:spPr>
          <a:xfrm>
            <a:off x="2819400" y="2066925"/>
            <a:ext cx="7258050" cy="3533776"/>
          </a:xfrm>
          <a:prstGeom prst="rect">
            <a:avLst/>
          </a:prstGeom>
        </p:spPr>
      </p:pic>
    </p:spTree>
    <p:extLst>
      <p:ext uri="{BB962C8B-B14F-4D97-AF65-F5344CB8AC3E}">
        <p14:creationId xmlns:p14="http://schemas.microsoft.com/office/powerpoint/2010/main" val="1930509424"/>
      </p:ext>
    </p:extLst>
  </p:cSld>
  <p:clrMapOvr>
    <a:masterClrMapping/>
  </p:clrMapOvr>
</p:sld>
</file>

<file path=ppt/theme/theme1.xml><?xml version="1.0" encoding="utf-8"?>
<a:theme xmlns:a="http://schemas.openxmlformats.org/drawingml/2006/main" name="Office 2013 - Tema 2022">
  <a:themeElements>
    <a:clrScheme name="Office 2013 - Tema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Tema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4821</Words>
  <Application>Microsoft Office PowerPoint</Application>
  <PresentationFormat>Widescreen</PresentationFormat>
  <Paragraphs>245</Paragraphs>
  <Slides>29</Slides>
  <Notes>2</Notes>
  <HiddenSlides>0</HiddenSlides>
  <MMClips>0</MMClips>
  <ScaleCrop>false</ScaleCrop>
  <HeadingPairs>
    <vt:vector size="6" baseType="variant">
      <vt:variant>
        <vt:lpstr>Caratteri utilizzati</vt:lpstr>
      </vt:variant>
      <vt:variant>
        <vt:i4>15</vt:i4>
      </vt:variant>
      <vt:variant>
        <vt:lpstr>Tema</vt:lpstr>
      </vt:variant>
      <vt:variant>
        <vt:i4>1</vt:i4>
      </vt:variant>
      <vt:variant>
        <vt:lpstr>Titoli diapositive</vt:lpstr>
      </vt:variant>
      <vt:variant>
        <vt:i4>29</vt:i4>
      </vt:variant>
    </vt:vector>
  </HeadingPairs>
  <TitlesOfParts>
    <vt:vector size="45" baseType="lpstr">
      <vt:lpstr>Aptos</vt:lpstr>
      <vt:lpstr>Arial</vt:lpstr>
      <vt:lpstr>Arial Nova Light</vt:lpstr>
      <vt:lpstr>Calibri</vt:lpstr>
      <vt:lpstr>Calibri Light</vt:lpstr>
      <vt:lpstr>Cambria Math</vt:lpstr>
      <vt:lpstr>CMMI10</vt:lpstr>
      <vt:lpstr>CMMI7</vt:lpstr>
      <vt:lpstr>CMR10</vt:lpstr>
      <vt:lpstr>CMR7</vt:lpstr>
      <vt:lpstr>CMSY10</vt:lpstr>
      <vt:lpstr>CMSY7</vt:lpstr>
      <vt:lpstr>Neue Haas Grotesk Text Pro</vt:lpstr>
      <vt:lpstr>Times-Roman</vt:lpstr>
      <vt:lpstr>Wingdings</vt:lpstr>
      <vt:lpstr>Office 2013 - Tema 2022</vt:lpstr>
      <vt:lpstr>CC-SNe high-energy neutrino emission  overview &amp; goals</vt:lpstr>
      <vt:lpstr> Stellar evolution and neutrinos</vt:lpstr>
      <vt:lpstr> Stellar evolution and neutrinos</vt:lpstr>
      <vt:lpstr>Presentazione standard di PowerPoint</vt:lpstr>
      <vt:lpstr>Presentazione standard di PowerPoint</vt:lpstr>
      <vt:lpstr> Dying stars</vt:lpstr>
      <vt:lpstr> Supernova of Type 1</vt:lpstr>
      <vt:lpstr> Supernova of Type 2</vt:lpstr>
      <vt:lpstr> Supernova of Type 2</vt:lpstr>
      <vt:lpstr> CCSN neutrino emission phases</vt:lpstr>
      <vt:lpstr> Neutronization burst: intense ν_e emission ΔT    ̴ O(10ms) </vt:lpstr>
      <vt:lpstr> Accretion phase: ν_e and (ν_e ) ̅ dominate ΔT    ̴ O(100ms) </vt:lpstr>
      <vt:lpstr> Cooling phase: ν_x and (ν_x ) ̅ all flavours ΔT    ̴ O(10s) </vt:lpstr>
      <vt:lpstr> Supernova neutrino energies</vt:lpstr>
      <vt:lpstr> Supernova neutrino energies</vt:lpstr>
      <vt:lpstr> High-energy neutrinos form SNe</vt:lpstr>
      <vt:lpstr>Presentazione standard di PowerPoint</vt:lpstr>
      <vt:lpstr> High-energy neutrinos form SNe: the CSM ejecta model and CJ scenario</vt:lpstr>
      <vt:lpstr> Riassunto paper di icecube + Teresa montaruli</vt:lpstr>
      <vt:lpstr> High-energy neutrinos from nearby SNe (Murase)</vt:lpstr>
      <vt:lpstr> High-energy neutrinos from nearby SNe (Murase)</vt:lpstr>
      <vt:lpstr> High-energy neutrinos from nearby SNe (Murase)</vt:lpstr>
      <vt:lpstr> High-energy neutrinos from nearby SNe (Murase)</vt:lpstr>
      <vt:lpstr> High-energy neutrinos from nearby SNe (Murase)</vt:lpstr>
      <vt:lpstr> Our goal</vt:lpstr>
      <vt:lpstr> Our goal: step 2</vt:lpstr>
      <vt:lpstr> Our goal: step 1</vt:lpstr>
      <vt:lpstr> Our goal</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CC-SNe high-energy neutrino emission</dc:title>
  <dc:creator>Immacolata Carmen Rea</dc:creator>
  <cp:lastModifiedBy>Immacolata Carmen Rea</cp:lastModifiedBy>
  <cp:revision>43</cp:revision>
  <dcterms:created xsi:type="dcterms:W3CDTF">2024-05-09T15:39:02Z</dcterms:created>
  <dcterms:modified xsi:type="dcterms:W3CDTF">2024-10-10T21:31:10Z</dcterms:modified>
</cp:coreProperties>
</file>