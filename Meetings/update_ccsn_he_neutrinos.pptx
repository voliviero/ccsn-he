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7"/>
  </p:notesMasterIdLst>
  <p:handoutMasterIdLst>
    <p:handoutMasterId r:id="rId8"/>
  </p:handoutMasterIdLst>
  <p:sldIdLst>
    <p:sldId id="342" r:id="rId5"/>
    <p:sldId id="350" r:id="rId6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4" autoAdjust="0"/>
    <p:restoredTop sz="96537" autoAdjust="0"/>
  </p:normalViewPr>
  <p:slideViewPr>
    <p:cSldViewPr snapToGrid="0">
      <p:cViewPr varScale="1">
        <p:scale>
          <a:sx n="69" d="100"/>
          <a:sy n="69" d="100"/>
        </p:scale>
        <p:origin x="780" y="54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03E67EA5-8EFE-4CDE-A774-E9526279E6E4}" type="datetime1">
              <a:rPr lang="it-IT" smtClean="0"/>
              <a:t>30/10/2024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397C78D2-97D1-4B37-BDD1-08A09BD4CA9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78D779EF-F8B6-4ACA-8018-CCDCFAC7DE9C}" type="datetime1">
              <a:rPr lang="it-IT" smtClean="0"/>
              <a:t>30/10/2024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D5939589-3E79-4C82-AA4A-FE78234FAA59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F08D0-EBE4-C0D0-1990-3FF71A9C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9960481-B067-BF7C-951C-66BE93AF2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53853E4-F51B-6E50-5414-8A0B66B54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6F05CE8-1B92-2809-D50C-B0A650289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5939589-3E79-4C82-AA4A-FE78234FAA59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05837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solo 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9" name="Segnaposto immagine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it-IT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it-IT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emento gra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Elemento gra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7" name="Elemento gra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it-IT">
                <a:solidFill>
                  <a:schemeClr val="bg1"/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3" name="Segnaposto immagine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+ sottotitolo + immagin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5" name="Segnaposto immagine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, immagine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immagine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it-IT" sz="1800"/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defRPr lang="it-IT" sz="1600"/>
            </a:lvl2pPr>
            <a:lvl3pPr marL="457200">
              <a:defRPr lang="it-IT" sz="1400"/>
            </a:lvl3pPr>
            <a:lvl4pPr marL="685800">
              <a:defRPr lang="it-IT" sz="1200"/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Elemento gra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9" name="Elemento gra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4" name="Segnaposto piè di pagina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 + sottotito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it-IT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it-IT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it-IT" sz="2000"/>
            </a:lvl2pPr>
            <a:lvl3pPr marL="914400" indent="0" algn="ctr">
              <a:buNone/>
              <a:defRPr lang="it-IT" sz="1800"/>
            </a:lvl3pPr>
            <a:lvl4pPr marL="1371600" indent="0" algn="ctr">
              <a:buNone/>
              <a:defRPr lang="it-IT" sz="1600"/>
            </a:lvl4pPr>
            <a:lvl5pPr marL="1828800" indent="0" algn="ctr">
              <a:buNone/>
              <a:defRPr lang="it-IT" sz="1600"/>
            </a:lvl5pPr>
            <a:lvl6pPr marL="2286000" indent="0" algn="ctr">
              <a:buNone/>
              <a:defRPr lang="it-IT" sz="1600"/>
            </a:lvl6pPr>
            <a:lvl7pPr marL="2743200" indent="0" algn="ctr">
              <a:buNone/>
              <a:defRPr lang="it-IT" sz="1600"/>
            </a:lvl7pPr>
            <a:lvl8pPr marL="3200400" indent="0" algn="ctr">
              <a:buNone/>
              <a:defRPr lang="it-IT" sz="1600"/>
            </a:lvl8pPr>
            <a:lvl9pPr marL="3657600" indent="0" algn="ctr">
              <a:buNone/>
              <a:defRPr lang="it-IT" sz="1600"/>
            </a:lvl9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Elemento gra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1" name="Elemento gra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3" name="Elemento gra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it-IT" sz="4000" b="1" cap="all" spc="0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5" name="Segnaposto numero diapositiva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it-IT" sz="1800"/>
            </a:lvl1pPr>
            <a:lvl2pPr marL="228600">
              <a:spcBef>
                <a:spcPts val="1200"/>
              </a:spcBef>
              <a:defRPr lang="it-IT" sz="1800"/>
            </a:lvl2pPr>
            <a:lvl3pPr marL="685800">
              <a:spcBef>
                <a:spcPts val="1200"/>
              </a:spcBef>
              <a:defRPr lang="it-IT" sz="1800"/>
            </a:lvl3pPr>
            <a:lvl4pPr marL="1143000">
              <a:spcBef>
                <a:spcPts val="1200"/>
              </a:spcBef>
              <a:defRPr lang="it-IT" sz="1800"/>
            </a:lvl4pPr>
            <a:lvl5pPr marL="16002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emento gra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4" name="Elemento gra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6" name="Elemento gra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13" name="Segnaposto piè di pagina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it-IT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it-IT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it-IT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it-IT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 indent="0">
              <a:spcBef>
                <a:spcPts val="1200"/>
              </a:spcBef>
              <a:buNone/>
              <a:defRPr lang="it-IT" sz="1600"/>
            </a:lvl2pPr>
            <a:lvl3pPr marL="914400" indent="0">
              <a:spcBef>
                <a:spcPts val="1200"/>
              </a:spcBef>
              <a:buNone/>
              <a:defRPr lang="it-IT" sz="1400"/>
            </a:lvl3pPr>
            <a:lvl4pPr marL="1371600" indent="0">
              <a:spcBef>
                <a:spcPts val="1200"/>
              </a:spcBef>
              <a:buNone/>
              <a:defRPr lang="it-IT" sz="1200"/>
            </a:lvl4pPr>
            <a:lvl5pPr marL="1828800" indent="0">
              <a:spcBef>
                <a:spcPts val="1200"/>
              </a:spcBef>
              <a:buNone/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600"/>
            </a:lvl2pPr>
            <a:lvl3pPr>
              <a:spcBef>
                <a:spcPts val="1200"/>
              </a:spcBef>
              <a:defRPr lang="it-IT" sz="1400"/>
            </a:lvl3pPr>
            <a:lvl4pPr>
              <a:spcBef>
                <a:spcPts val="1200"/>
              </a:spcBef>
              <a:defRPr lang="it-IT" sz="1200"/>
            </a:lvl4pPr>
            <a:lvl5pPr>
              <a:spcBef>
                <a:spcPts val="1200"/>
              </a:spcBef>
              <a:defRPr lang="it-IT" sz="12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it-IT" sz="4000" b="1" i="0" cap="all" spc="0" baseline="0"/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tes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it-IT" sz="1800"/>
            </a:lvl1pPr>
            <a:lvl2pPr marL="228600">
              <a:lnSpc>
                <a:spcPct val="110000"/>
              </a:lnSpc>
              <a:defRPr lang="it-IT" sz="1600"/>
            </a:lvl2pPr>
            <a:lvl3pPr marL="457200">
              <a:lnSpc>
                <a:spcPct val="110000"/>
              </a:lnSpc>
              <a:defRPr lang="it-IT" sz="1400"/>
            </a:lvl3pPr>
            <a:lvl4pPr marL="685800">
              <a:lnSpc>
                <a:spcPct val="110000"/>
              </a:lnSpc>
              <a:defRPr lang="it-IT" sz="1200"/>
            </a:lvl4pPr>
            <a:lvl5pPr marL="914400">
              <a:lnSpc>
                <a:spcPct val="110000"/>
              </a:lnSpc>
              <a:defRPr lang="it-IT" sz="1200"/>
            </a:lvl5pPr>
          </a:lstStyle>
          <a:p>
            <a:pPr lvl="0" rtl="0"/>
            <a:r>
              <a:rPr lang="it-IT"/>
              <a:t>Fare clic per modificare gli stili del testo dello schema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3" name="Segnaposto immagine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0" name="Segnaposto piè di pagina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it-IT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it-IT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it-IT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it-IT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it-IT" sz="1200">
                <a:solidFill>
                  <a:schemeClr val="tx1"/>
                </a:solidFill>
              </a:defRPr>
            </a:lvl4pPr>
            <a:lvl5pPr>
              <a:defRPr lang="it-IT" sz="14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it-IT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</a:p>
        </p:txBody>
      </p:sp>
      <p:sp>
        <p:nvSpPr>
          <p:cNvPr id="22" name="Segnaposto numero diapositiva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it-IT" sz="1800"/>
            </a:lvl1pPr>
            <a:lvl2pPr marL="457200">
              <a:spcBef>
                <a:spcPts val="1200"/>
              </a:spcBef>
              <a:defRPr lang="it-IT" sz="1800"/>
            </a:lvl2pPr>
            <a:lvl3pPr marL="914400">
              <a:spcBef>
                <a:spcPts val="1200"/>
              </a:spcBef>
              <a:defRPr lang="it-IT" sz="1800"/>
            </a:lvl3pPr>
            <a:lvl4pPr marL="1371600">
              <a:spcBef>
                <a:spcPts val="1200"/>
              </a:spcBef>
              <a:defRPr lang="it-IT" sz="1800"/>
            </a:lvl4pPr>
            <a:lvl5pPr marL="1828800"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it-IT" sz="1800"/>
            </a:lvl1pPr>
            <a:lvl2pPr>
              <a:spcBef>
                <a:spcPts val="1200"/>
              </a:spcBef>
              <a:defRPr lang="it-IT" sz="1800"/>
            </a:lvl2pPr>
            <a:lvl3pPr>
              <a:spcBef>
                <a:spcPts val="1200"/>
              </a:spcBef>
              <a:defRPr lang="it-IT" sz="1800"/>
            </a:lvl3pPr>
            <a:lvl4pPr>
              <a:spcBef>
                <a:spcPts val="1200"/>
              </a:spcBef>
              <a:defRPr lang="it-IT" sz="1800"/>
            </a:lvl4pPr>
            <a:lvl5pPr>
              <a:spcBef>
                <a:spcPts val="1200"/>
              </a:spcBef>
              <a:defRPr lang="it-IT" sz="180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Elemento gra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7" name="Elemento gra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8" name="Elemento gra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21" name="Segnaposto piè di pagina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Elemento gra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6" name="Elemento gra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27" name="Elemento gra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it-IT" sz="4000" b="1" cap="all" baseline="0"/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it-IT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le immagine e tito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it-IT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7" name="Segnaposto immagine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it-IT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un'immagine</a:t>
            </a:r>
          </a:p>
        </p:txBody>
      </p:sp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it-IT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Elemento gra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5" name="Elemento gra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6" name="Elemento gra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t>‹N›</a:t>
            </a:fld>
            <a:endParaRPr lang="it-IT" dirty="0"/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it-IT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it-IT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it-IT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s://github.com/pegasuskmurase/ModelTemplates/tree/main/SNHEM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i.org/10.1016/j.astropartphys.2019.04.002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6">
            <a:extLst>
              <a:ext uri="{FF2B5EF4-FFF2-40B4-BE49-F238E27FC236}">
                <a16:creationId xmlns:a16="http://schemas.microsoft.com/office/drawing/2014/main" id="{3A6050B9-CA0F-0118-F9C8-4B28801B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2417" y="0"/>
            <a:ext cx="10087699" cy="1280160"/>
          </a:xfrm>
        </p:spPr>
        <p:txBody>
          <a:bodyPr/>
          <a:lstStyle/>
          <a:p>
            <a:r>
              <a:rPr lang="it-IT" dirty="0"/>
              <a:t>High energy </a:t>
            </a:r>
            <a:r>
              <a:rPr lang="it-IT" dirty="0" err="1"/>
              <a:t>neutrinos</a:t>
            </a:r>
            <a:r>
              <a:rPr lang="it-IT" dirty="0"/>
              <a:t> from </a:t>
            </a:r>
            <a:r>
              <a:rPr lang="it-IT" dirty="0" err="1"/>
              <a:t>ccsn</a:t>
            </a:r>
            <a:endParaRPr lang="it-IT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1F7D3E14-9047-03E6-40B4-AEB0B69D8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417" y="3158810"/>
            <a:ext cx="2930238" cy="2316814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ADC7B4CB-E755-1B90-4F22-8882B4FAF4B7}"/>
              </a:ext>
            </a:extLst>
          </p:cNvPr>
          <p:cNvSpPr txBox="1"/>
          <p:nvPr/>
        </p:nvSpPr>
        <p:spPr>
          <a:xfrm>
            <a:off x="789710" y="1280160"/>
            <a:ext cx="44473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SN neutrino </a:t>
            </a:r>
            <a:r>
              <a:rPr lang="it-IT" dirty="0" err="1"/>
              <a:t>flux</a:t>
            </a:r>
            <a:r>
              <a:rPr lang="it-IT" dirty="0"/>
              <a:t> by </a:t>
            </a:r>
            <a:r>
              <a:rPr lang="it-IT" dirty="0" err="1"/>
              <a:t>Murase</a:t>
            </a:r>
            <a:r>
              <a:rPr lang="it-IT" dirty="0"/>
              <a:t> data</a:t>
            </a:r>
          </a:p>
          <a:p>
            <a:r>
              <a:rPr lang="it-IT" dirty="0"/>
              <a:t>(</a:t>
            </a:r>
            <a:r>
              <a:rPr lang="it-IT" dirty="0">
                <a:hlinkClick r:id="rId4"/>
              </a:rPr>
              <a:t>https://github.com/</a:t>
            </a:r>
            <a:r>
              <a:rPr lang="it-IT" dirty="0" err="1">
                <a:hlinkClick r:id="rId4"/>
              </a:rPr>
              <a:t>pegasuskmurase</a:t>
            </a:r>
            <a:r>
              <a:rPr lang="it-IT" dirty="0">
                <a:hlinkClick r:id="rId4"/>
              </a:rPr>
              <a:t>/</a:t>
            </a:r>
            <a:r>
              <a:rPr lang="it-IT" dirty="0" err="1">
                <a:hlinkClick r:id="rId4"/>
              </a:rPr>
              <a:t>ModelTemplates</a:t>
            </a:r>
            <a:r>
              <a:rPr lang="it-IT" dirty="0">
                <a:hlinkClick r:id="rId4"/>
              </a:rPr>
              <a:t>/</a:t>
            </a:r>
            <a:r>
              <a:rPr lang="it-IT" dirty="0" err="1">
                <a:hlinkClick r:id="rId4"/>
              </a:rPr>
              <a:t>tree</a:t>
            </a:r>
            <a:r>
              <a:rPr lang="it-IT" dirty="0">
                <a:hlinkClick r:id="rId4"/>
              </a:rPr>
              <a:t>/</a:t>
            </a:r>
            <a:r>
              <a:rPr lang="it-IT" dirty="0" err="1">
                <a:hlinkClick r:id="rId4"/>
              </a:rPr>
              <a:t>main</a:t>
            </a:r>
            <a:r>
              <a:rPr lang="it-IT" dirty="0">
                <a:hlinkClick r:id="rId4"/>
              </a:rPr>
              <a:t>/SNHEMM</a:t>
            </a:r>
            <a:r>
              <a:rPr lang="it-IT" dirty="0"/>
              <a:t>)</a:t>
            </a:r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Aeff</a:t>
            </a:r>
            <a:r>
              <a:rPr lang="it-IT" dirty="0"/>
              <a:t> from KM3NeT </a:t>
            </a:r>
            <a:r>
              <a:rPr lang="it-IT" dirty="0" err="1"/>
              <a:t>collaboration</a:t>
            </a:r>
            <a:r>
              <a:rPr lang="it-IT" dirty="0"/>
              <a:t> </a:t>
            </a:r>
          </a:p>
          <a:p>
            <a:r>
              <a:rPr lang="it-IT" dirty="0"/>
              <a:t>(</a:t>
            </a:r>
            <a:r>
              <a:rPr lang="it-IT" b="0" i="0" dirty="0" err="1">
                <a:solidFill>
                  <a:srgbClr val="2C363A"/>
                </a:solidFill>
                <a:effectLst/>
                <a:latin typeface="Roboto" panose="02000000000000000000" pitchFamily="2" charset="0"/>
              </a:rPr>
              <a:t>Thijs</a:t>
            </a:r>
            <a:r>
              <a:rPr lang="it-IT" b="0" i="0" dirty="0">
                <a:solidFill>
                  <a:srgbClr val="2C363A"/>
                </a:solidFill>
                <a:effectLst/>
                <a:latin typeface="Roboto" panose="02000000000000000000" pitchFamily="2" charset="0"/>
              </a:rPr>
              <a:t> Juan van </a:t>
            </a:r>
            <a:r>
              <a:rPr lang="it-IT" b="0" i="0" dirty="0" err="1">
                <a:solidFill>
                  <a:srgbClr val="2C363A"/>
                </a:solidFill>
                <a:effectLst/>
                <a:latin typeface="Roboto" panose="02000000000000000000" pitchFamily="2" charset="0"/>
              </a:rPr>
              <a:t>Eeden</a:t>
            </a:r>
            <a:r>
              <a:rPr lang="it-IT" b="0" i="0" dirty="0">
                <a:solidFill>
                  <a:srgbClr val="2C363A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it-IT" b="0" i="0" dirty="0" err="1">
                <a:solidFill>
                  <a:srgbClr val="2C363A"/>
                </a:solidFill>
                <a:effectLst/>
                <a:latin typeface="Roboto" panose="02000000000000000000" pitchFamily="2" charset="0"/>
              </a:rPr>
              <a:t>sent</a:t>
            </a:r>
            <a:r>
              <a:rPr lang="it-IT" b="0" i="0" dirty="0">
                <a:solidFill>
                  <a:srgbClr val="2C363A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it-IT" b="0" i="0" dirty="0" err="1">
                <a:solidFill>
                  <a:srgbClr val="2C363A"/>
                </a:solidFill>
                <a:effectLst/>
                <a:latin typeface="Roboto" panose="02000000000000000000" pitchFamily="2" charset="0"/>
              </a:rPr>
              <a:t>it</a:t>
            </a:r>
            <a:r>
              <a:rPr lang="it-IT" b="0" i="0" dirty="0">
                <a:solidFill>
                  <a:srgbClr val="2C363A"/>
                </a:solidFill>
                <a:effectLst/>
                <a:latin typeface="Roboto" panose="02000000000000000000" pitchFamily="2" charset="0"/>
              </a:rPr>
              <a:t> to me)</a:t>
            </a:r>
          </a:p>
          <a:p>
            <a:endParaRPr lang="it-IT" dirty="0">
              <a:solidFill>
                <a:srgbClr val="2C363A"/>
              </a:solidFill>
              <a:latin typeface="Roboto" panose="02000000000000000000" pitchFamily="2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0485BCC-E54C-F3B6-0693-2297EC8F1386}"/>
              </a:ext>
            </a:extLst>
          </p:cNvPr>
          <p:cNvSpPr txBox="1"/>
          <p:nvPr/>
        </p:nvSpPr>
        <p:spPr>
          <a:xfrm>
            <a:off x="789710" y="55778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2C363A"/>
                </a:solidFill>
                <a:latin typeface="Roboto" panose="02000000000000000000" pitchFamily="2" charset="0"/>
              </a:rPr>
              <a:t>Sources </a:t>
            </a:r>
            <a:r>
              <a:rPr lang="it-IT" dirty="0" err="1">
                <a:solidFill>
                  <a:srgbClr val="2C363A"/>
                </a:solidFill>
                <a:latin typeface="Roboto" panose="02000000000000000000" pitchFamily="2" charset="0"/>
              </a:rPr>
              <a:t>selected</a:t>
            </a:r>
            <a:r>
              <a:rPr lang="it-IT" dirty="0">
                <a:solidFill>
                  <a:srgbClr val="2C363A"/>
                </a:solidFill>
                <a:latin typeface="Roboto" panose="02000000000000000000" pitchFamily="2" charset="0"/>
              </a:rPr>
              <a:t> from </a:t>
            </a:r>
            <a:r>
              <a:rPr lang="it-IT" dirty="0" err="1">
                <a:solidFill>
                  <a:srgbClr val="2C363A"/>
                </a:solidFill>
                <a:latin typeface="Roboto" panose="02000000000000000000" pitchFamily="2" charset="0"/>
              </a:rPr>
              <a:t>our</a:t>
            </a:r>
            <a:r>
              <a:rPr lang="it-IT" dirty="0">
                <a:solidFill>
                  <a:srgbClr val="2C363A"/>
                </a:solidFill>
                <a:latin typeface="Roboto" panose="02000000000000000000" pitchFamily="2" charset="0"/>
              </a:rPr>
              <a:t> </a:t>
            </a:r>
            <a:r>
              <a:rPr lang="it-IT" dirty="0" err="1">
                <a:solidFill>
                  <a:srgbClr val="2C363A"/>
                </a:solidFill>
                <a:latin typeface="Roboto" panose="02000000000000000000" pitchFamily="2" charset="0"/>
              </a:rPr>
              <a:t>catalogue</a:t>
            </a:r>
            <a:endParaRPr lang="it-IT" dirty="0">
              <a:solidFill>
                <a:srgbClr val="2C363A"/>
              </a:solidFill>
              <a:latin typeface="Roboto" panose="02000000000000000000" pitchFamily="2" charset="0"/>
            </a:endParaRPr>
          </a:p>
          <a:p>
            <a:r>
              <a:rPr lang="it-IT" dirty="0">
                <a:solidFill>
                  <a:srgbClr val="2C363A"/>
                </a:solidFill>
                <a:latin typeface="Roboto" panose="02000000000000000000" pitchFamily="2" charset="0"/>
              </a:rPr>
              <a:t>(</a:t>
            </a:r>
            <a:r>
              <a:rPr lang="it-IT" dirty="0" err="1">
                <a:solidFill>
                  <a:srgbClr val="2C363A"/>
                </a:solidFill>
                <a:latin typeface="Roboto" panose="02000000000000000000" pitchFamily="2" charset="0"/>
              </a:rPr>
              <a:t>Only</a:t>
            </a:r>
            <a:r>
              <a:rPr lang="it-IT" dirty="0">
                <a:solidFill>
                  <a:srgbClr val="2C363A"/>
                </a:solidFill>
                <a:latin typeface="Roboto" panose="02000000000000000000" pitchFamily="2" charset="0"/>
              </a:rPr>
              <a:t> the </a:t>
            </a:r>
            <a:r>
              <a:rPr lang="it-IT" dirty="0" err="1">
                <a:solidFill>
                  <a:srgbClr val="2C363A"/>
                </a:solidFill>
                <a:latin typeface="Roboto" panose="02000000000000000000" pitchFamily="2" charset="0"/>
              </a:rPr>
              <a:t>ones</a:t>
            </a:r>
            <a:r>
              <a:rPr lang="it-IT" dirty="0">
                <a:solidFill>
                  <a:srgbClr val="2C363A"/>
                </a:solidFill>
                <a:latin typeface="Roboto" panose="02000000000000000000" pitchFamily="2" charset="0"/>
              </a:rPr>
              <a:t> with a d ≈ 10 </a:t>
            </a:r>
            <a:r>
              <a:rPr lang="it-IT" dirty="0" err="1">
                <a:solidFill>
                  <a:srgbClr val="2C363A"/>
                </a:solidFill>
                <a:latin typeface="Roboto" panose="02000000000000000000" pitchFamily="2" charset="0"/>
              </a:rPr>
              <a:t>Mpc</a:t>
            </a:r>
            <a:r>
              <a:rPr lang="it-IT" dirty="0">
                <a:solidFill>
                  <a:srgbClr val="2C363A"/>
                </a:solidFill>
                <a:latin typeface="Roboto" panose="02000000000000000000" pitchFamily="2" charset="0"/>
              </a:rPr>
              <a:t>)</a:t>
            </a:r>
            <a:endParaRPr lang="it-IT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4CD81D13-687F-AE82-7377-F3D9FD68F7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7018" y="1280160"/>
            <a:ext cx="6724650" cy="5305425"/>
          </a:xfrm>
          <a:prstGeom prst="rect">
            <a:avLst/>
          </a:prstGeom>
        </p:spPr>
      </p:pic>
      <p:sp>
        <p:nvSpPr>
          <p:cNvPr id="29" name="Ovale 28">
            <a:extLst>
              <a:ext uri="{FF2B5EF4-FFF2-40B4-BE49-F238E27FC236}">
                <a16:creationId xmlns:a16="http://schemas.microsoft.com/office/drawing/2014/main" id="{98695369-1B08-56C9-D0FA-B8EB5C22AE22}"/>
              </a:ext>
            </a:extLst>
          </p:cNvPr>
          <p:cNvSpPr/>
          <p:nvPr/>
        </p:nvSpPr>
        <p:spPr>
          <a:xfrm>
            <a:off x="11076825" y="4317217"/>
            <a:ext cx="706582" cy="609600"/>
          </a:xfrm>
          <a:prstGeom prst="ellipse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AEAE0-2818-0850-FA68-A2159D57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4B740A01-0D82-5520-56EB-9FD57AE2A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35" y="3074686"/>
            <a:ext cx="4850565" cy="9518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A68F5AF7-4DF3-2F62-1FB4-5D259C047CD2}"/>
                  </a:ext>
                </a:extLst>
              </p:cNvPr>
              <p:cNvSpPr txBox="1"/>
              <p:nvPr/>
            </p:nvSpPr>
            <p:spPr>
              <a:xfrm>
                <a:off x="1413164" y="4807274"/>
                <a:ext cx="52231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T :  </a:t>
                </a:r>
                <a:r>
                  <a:rPr lang="en-US" sz="1800" b="0" i="0" u="none" strike="noStrike" baseline="0" dirty="0">
                    <a:latin typeface="AdvOTf9433e2d"/>
                  </a:rPr>
                  <a:t>exposure time of  neutrino telescope</a:t>
                </a:r>
              </a:p>
              <a:p>
                <a:r>
                  <a:rPr lang="en-US" dirty="0">
                    <a:latin typeface="AdvOTf9433e2d"/>
                  </a:rPr>
                  <a:t> V (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latin typeface="AdvOTf9433e2d"/>
                  </a:rPr>
                  <a:t>) : source visibility</a:t>
                </a:r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A68F5AF7-4DF3-2F62-1FB4-5D259C047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3164" y="4807274"/>
                <a:ext cx="5223164" cy="646331"/>
              </a:xfrm>
              <a:prstGeom prst="rect">
                <a:avLst/>
              </a:prstGeom>
              <a:blipFill>
                <a:blip r:embed="rId4"/>
                <a:stretch>
                  <a:fillRect l="-1050" t="-5660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F84F1D2-5B78-2864-86F2-64DCE0943C5F}"/>
              </a:ext>
            </a:extLst>
          </p:cNvPr>
          <p:cNvSpPr txBox="1"/>
          <p:nvPr/>
        </p:nvSpPr>
        <p:spPr>
          <a:xfrm>
            <a:off x="1413164" y="4186052"/>
            <a:ext cx="4461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="0" i="0" u="none" strike="noStrike" baseline="0" dirty="0">
                <a:solidFill>
                  <a:srgbClr val="0000FF"/>
                </a:solidFill>
                <a:latin typeface="AdvOTf9433e2d"/>
              </a:rPr>
              <a:t>https:</a:t>
            </a:r>
            <a:r>
              <a:rPr lang="it-IT" sz="1800" b="0" i="0" u="none" strike="noStrike" baseline="0" dirty="0">
                <a:solidFill>
                  <a:srgbClr val="0000FF"/>
                </a:solidFill>
                <a:latin typeface="AdvTT691e30a0"/>
              </a:rPr>
              <a:t>//</a:t>
            </a:r>
            <a:r>
              <a:rPr lang="it-IT" sz="1800" b="0" i="0" u="none" strike="noStrike" baseline="0" dirty="0">
                <a:solidFill>
                  <a:srgbClr val="0000FF"/>
                </a:solidFill>
                <a:latin typeface="AdvOTf9433e2d"/>
              </a:rPr>
              <a:t>doi.org</a:t>
            </a:r>
            <a:r>
              <a:rPr lang="it-IT" sz="1800" b="0" i="0" u="none" strike="noStrike" baseline="0" dirty="0">
                <a:solidFill>
                  <a:srgbClr val="0000FF"/>
                </a:solidFill>
                <a:latin typeface="AdvTT691e30a0"/>
              </a:rPr>
              <a:t>/</a:t>
            </a:r>
            <a:r>
              <a:rPr lang="it-IT" sz="1800" b="0" i="0" u="none" strike="noStrike" baseline="0" dirty="0">
                <a:solidFill>
                  <a:srgbClr val="0000FF"/>
                </a:solidFill>
                <a:latin typeface="AdvOTf9433e2d"/>
              </a:rPr>
              <a:t>10.3847</a:t>
            </a:r>
            <a:r>
              <a:rPr lang="it-IT" sz="1800" b="0" i="0" u="none" strike="noStrike" baseline="0" dirty="0">
                <a:solidFill>
                  <a:srgbClr val="0000FF"/>
                </a:solidFill>
                <a:latin typeface="AdvTT691e30a0"/>
              </a:rPr>
              <a:t>/</a:t>
            </a:r>
            <a:r>
              <a:rPr lang="it-IT" sz="1800" b="0" i="0" u="none" strike="noStrike" baseline="0" dirty="0">
                <a:solidFill>
                  <a:srgbClr val="0000FF"/>
                </a:solidFill>
                <a:latin typeface="AdvOTf9433e2d"/>
              </a:rPr>
              <a:t>1538-4357</a:t>
            </a:r>
            <a:r>
              <a:rPr lang="it-IT" sz="1800" b="0" i="0" u="none" strike="noStrike" baseline="0" dirty="0">
                <a:solidFill>
                  <a:srgbClr val="0000FF"/>
                </a:solidFill>
                <a:latin typeface="AdvTT691e30a0"/>
              </a:rPr>
              <a:t>/</a:t>
            </a:r>
            <a:r>
              <a:rPr lang="it-IT" sz="1800" b="0" i="0" u="none" strike="noStrike" baseline="0" dirty="0">
                <a:solidFill>
                  <a:srgbClr val="0000FF"/>
                </a:solidFill>
                <a:latin typeface="AdvOTf9433e2d"/>
              </a:rPr>
              <a:t>ad4960</a:t>
            </a:r>
            <a:endParaRPr lang="it-IT" dirty="0"/>
          </a:p>
        </p:txBody>
      </p:sp>
      <p:sp>
        <p:nvSpPr>
          <p:cNvPr id="17" name="Titolo 16">
            <a:extLst>
              <a:ext uri="{FF2B5EF4-FFF2-40B4-BE49-F238E27FC236}">
                <a16:creationId xmlns:a16="http://schemas.microsoft.com/office/drawing/2014/main" id="{680EB6F0-4FD2-9690-FFAC-1D334C1C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271" y="-12341"/>
            <a:ext cx="10087699" cy="1280160"/>
          </a:xfrm>
        </p:spPr>
        <p:txBody>
          <a:bodyPr/>
          <a:lstStyle/>
          <a:p>
            <a:r>
              <a:rPr lang="it-IT" dirty="0"/>
              <a:t>High energy </a:t>
            </a:r>
            <a:r>
              <a:rPr lang="it-IT" dirty="0" err="1"/>
              <a:t>neutrinos</a:t>
            </a:r>
            <a:r>
              <a:rPr lang="it-IT" dirty="0"/>
              <a:t> from </a:t>
            </a:r>
            <a:r>
              <a:rPr lang="it-IT" dirty="0" err="1"/>
              <a:t>ccsn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8428D88-CDA7-E3A5-F5E2-EF2BD8E6E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220" y="2215214"/>
            <a:ext cx="4872750" cy="2953791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DD678E2-136C-7F24-7406-B76B6243E04B}"/>
              </a:ext>
            </a:extLst>
          </p:cNvPr>
          <p:cNvSpPr txBox="1"/>
          <p:nvPr/>
        </p:nvSpPr>
        <p:spPr>
          <a:xfrm>
            <a:off x="6571220" y="51690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u="none" strike="noStrike" dirty="0">
                <a:effectLst/>
                <a:latin typeface="ElsevierSans"/>
                <a:hlinkClick r:id="rId6" tooltip="Persistent link using digital object identifier"/>
              </a:rPr>
              <a:t>https://doi.org/10.1016/j.astropartphys.2019.04.002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F577CDA-B9A5-A3CD-D5A4-896C4AC7EC11}"/>
              </a:ext>
            </a:extLst>
          </p:cNvPr>
          <p:cNvSpPr txBox="1"/>
          <p:nvPr/>
        </p:nvSpPr>
        <p:spPr>
          <a:xfrm>
            <a:off x="1105543" y="1496157"/>
            <a:ext cx="8204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/>
              <a:t>Number</a:t>
            </a:r>
            <a:r>
              <a:rPr lang="it-IT" b="1" dirty="0"/>
              <a:t> of </a:t>
            </a:r>
            <a:r>
              <a:rPr lang="it-IT" b="1" dirty="0" err="1"/>
              <a:t>expected</a:t>
            </a:r>
            <a:r>
              <a:rPr lang="it-IT" b="1" dirty="0"/>
              <a:t> events from a point-like neutrino source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00A3793-0956-305E-2AB6-18F408D077FC}"/>
              </a:ext>
            </a:extLst>
          </p:cNvPr>
          <p:cNvSpPr txBox="1"/>
          <p:nvPr/>
        </p:nvSpPr>
        <p:spPr>
          <a:xfrm>
            <a:off x="1214355" y="1917883"/>
            <a:ext cx="9896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a next step I will also implement the declination of sources for the calculation of expected events</a:t>
            </a:r>
            <a:r>
              <a:rPr lang="it-IT" dirty="0"/>
              <a:t> 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EDA2030-1502-3221-D346-95DDCB9FBA5C}"/>
              </a:ext>
            </a:extLst>
          </p:cNvPr>
          <p:cNvSpPr txBox="1"/>
          <p:nvPr/>
        </p:nvSpPr>
        <p:spPr>
          <a:xfrm>
            <a:off x="1245435" y="5957455"/>
            <a:ext cx="10406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Also</a:t>
            </a:r>
            <a:r>
              <a:rPr lang="it-IT" dirty="0"/>
              <a:t>, Anna from Catania </a:t>
            </a:r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working on </a:t>
            </a:r>
            <a:r>
              <a:rPr lang="it-IT" dirty="0" err="1"/>
              <a:t>simulation</a:t>
            </a:r>
            <a:r>
              <a:rPr lang="it-IT" dirty="0"/>
              <a:t> with </a:t>
            </a:r>
            <a:r>
              <a:rPr lang="it-IT" dirty="0" err="1"/>
              <a:t>gseagen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0163983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63_TF89338750_Win32" id="{67303D53-E497-4E8A-A1B0-F8D4DA913DFF}" vid="{0B2B8082-CFD4-436D-9CB1-F42DAFFE77E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{665CA5DB-41C0-44CC-AC38-A4165C88B50C}tf89338750_win32</Template>
  <TotalTime>270</TotalTime>
  <Words>142</Words>
  <Application>Microsoft Office PowerPoint</Application>
  <PresentationFormat>Widescreen</PresentationFormat>
  <Paragraphs>18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11" baseType="lpstr">
      <vt:lpstr>AdvOTf9433e2d</vt:lpstr>
      <vt:lpstr>AdvTT691e30a0</vt:lpstr>
      <vt:lpstr>Arial</vt:lpstr>
      <vt:lpstr>Calibri</vt:lpstr>
      <vt:lpstr>Cambria Math</vt:lpstr>
      <vt:lpstr>ElsevierSans</vt:lpstr>
      <vt:lpstr>Roboto</vt:lpstr>
      <vt:lpstr>Univers</vt:lpstr>
      <vt:lpstr>GradientVTI</vt:lpstr>
      <vt:lpstr>High energy neutrinos from ccsn</vt:lpstr>
      <vt:lpstr>High energy neutrinos from ccsn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OLIVIERO</dc:creator>
  <cp:lastModifiedBy>VERONICA OLIVIERO</cp:lastModifiedBy>
  <cp:revision>2</cp:revision>
  <dcterms:created xsi:type="dcterms:W3CDTF">2024-10-16T22:24:06Z</dcterms:created>
  <dcterms:modified xsi:type="dcterms:W3CDTF">2024-10-30T17:39:41Z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2ad0b24d-6422-44b0-b3de-abb3a9e8c81a_Enabled">
    <vt:lpwstr>true</vt:lpwstr>
  </property>
  <property fmtid="{D5CDD505-2E9C-101B-9397-08002B2CF9AE}" pid="4" name="MSIP_Label_2ad0b24d-6422-44b0-b3de-abb3a9e8c81a_SetDate">
    <vt:lpwstr>2024-10-16T23:21:38Z</vt:lpwstr>
  </property>
  <property fmtid="{D5CDD505-2E9C-101B-9397-08002B2CF9AE}" pid="5" name="MSIP_Label_2ad0b24d-6422-44b0-b3de-abb3a9e8c81a_Method">
    <vt:lpwstr>Standard</vt:lpwstr>
  </property>
  <property fmtid="{D5CDD505-2E9C-101B-9397-08002B2CF9AE}" pid="6" name="MSIP_Label_2ad0b24d-6422-44b0-b3de-abb3a9e8c81a_Name">
    <vt:lpwstr>defa4170-0d19-0005-0004-bc88714345d2</vt:lpwstr>
  </property>
  <property fmtid="{D5CDD505-2E9C-101B-9397-08002B2CF9AE}" pid="7" name="MSIP_Label_2ad0b24d-6422-44b0-b3de-abb3a9e8c81a_SiteId">
    <vt:lpwstr>2fcfe26a-bb62-46b0-b1e3-28f9da0c45fd</vt:lpwstr>
  </property>
  <property fmtid="{D5CDD505-2E9C-101B-9397-08002B2CF9AE}" pid="8" name="MSIP_Label_2ad0b24d-6422-44b0-b3de-abb3a9e8c81a_ActionId">
    <vt:lpwstr>1b95962e-2d22-4a2e-8f35-1c871747502b</vt:lpwstr>
  </property>
  <property fmtid="{D5CDD505-2E9C-101B-9397-08002B2CF9AE}" pid="9" name="MSIP_Label_2ad0b24d-6422-44b0-b3de-abb3a9e8c81a_ContentBits">
    <vt:lpwstr>0</vt:lpwstr>
  </property>
</Properties>
</file>