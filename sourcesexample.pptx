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7E5126-AE0C-53FE-CB2B-E790A6A12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0D7536D-214F-590C-124B-5156BC477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71652E-1355-23DE-0BB5-9B2083CEF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AF2E-64ED-468E-8258-C8625CA0FF5B}" type="datetimeFigureOut">
              <a:rPr lang="it-IT" smtClean="0"/>
              <a:t>14/04/2025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140732-7EB7-922F-3E5F-E5FC15A0F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7BD1731-7A73-26C8-D8E9-114E4E66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1435-AE71-41CF-9A1B-606EFE0D5A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882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8E3B8E-1BDD-2D5C-5799-A8421AA5A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896AB3F-BFAE-E217-0F33-6B7049E7F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CC64CA-0BAB-449C-E446-197BF89E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AF2E-64ED-468E-8258-C8625CA0FF5B}" type="datetimeFigureOut">
              <a:rPr lang="it-IT" smtClean="0"/>
              <a:t>14/04/2025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EAA38D9-DAF7-A06F-E6C4-3C8A6751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53D251B-DF38-725B-37B1-E27D6CB5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1435-AE71-41CF-9A1B-606EFE0D5A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043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A4E798-AE86-1893-69B5-42E10360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955CB26-6DA7-C308-016F-FD3B66C57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2F7A80-BA85-9772-CC6A-A7E056FF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AF2E-64ED-468E-8258-C8625CA0FF5B}" type="datetimeFigureOut">
              <a:rPr lang="it-IT" smtClean="0"/>
              <a:t>14/04/2025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180353-3F85-FD95-22AE-61995C14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DD06A9F-F51C-C016-EA93-3219A7254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1435-AE71-41CF-9A1B-606EFE0D5A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74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EF0A18-EEE6-4DC2-3ADD-9B4EA6896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424AC0-29EA-32F7-1AF5-7F13DFEC3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13885DB-C373-8937-AE48-3573E74D1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03CAF2-8FA5-18D2-1080-AAAD93126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AF2E-64ED-468E-8258-C8625CA0FF5B}" type="datetimeFigureOut">
              <a:rPr lang="it-IT" smtClean="0"/>
              <a:t>14/04/2025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F31B903-7EE9-A6B7-8C89-1F507417A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DF4C6DD-B2BB-D4C0-B2A4-87449653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1435-AE71-41CF-9A1B-606EFE0D5A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6853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524195-89DB-3B27-8477-61EAF284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9F21464-5588-D19F-D583-FABBF6AD1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7A8D301-9783-9AD5-5FDF-D4672F3C1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AB19F7B-B9D1-5BE8-FBC8-A7654EAFA4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919DCB2-7AE8-2A89-F680-4D8C51D91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D6FAD7C-87F2-1FCE-95B7-8DE3ADCDB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AF2E-64ED-468E-8258-C8625CA0FF5B}" type="datetimeFigureOut">
              <a:rPr lang="it-IT" smtClean="0"/>
              <a:t>14/04/2025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17E6CAD-F4A7-963F-83F9-CCF3093E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3E35771-CB2B-7BF5-D6F6-35BD0290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1435-AE71-41CF-9A1B-606EFE0D5A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4009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CAE4BA-BC2A-0157-46CD-F0171A00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9F34DB5-05CC-DDB4-BB20-EA79699F6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AF2E-64ED-468E-8258-C8625CA0FF5B}" type="datetimeFigureOut">
              <a:rPr lang="it-IT" smtClean="0"/>
              <a:t>14/04/2025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CC46E76-9A25-8A9B-077D-FDB114774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CA1FAA6-2291-695F-09E1-BE8E411D0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1435-AE71-41CF-9A1B-606EFE0D5A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8136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4828879-E066-604F-4B42-95F262DF1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AF2E-64ED-468E-8258-C8625CA0FF5B}" type="datetimeFigureOut">
              <a:rPr lang="it-IT" smtClean="0"/>
              <a:t>14/04/2025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1AADA3D-BF4D-440B-D377-C147E98FB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60C06D8-B3CB-DC4C-A209-9CA1E00D6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1435-AE71-41CF-9A1B-606EFE0D5A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136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F8D66D-A78A-6577-C47E-AF149659E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851E33-A0A0-3D4E-0304-2FBADB00E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EBE3F7B-BD7A-BD42-BEE8-F85F09E54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E02A902-4D6A-4312-0BE2-DCFF2F383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AF2E-64ED-468E-8258-C8625CA0FF5B}" type="datetimeFigureOut">
              <a:rPr lang="it-IT" smtClean="0"/>
              <a:t>14/04/2025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2E98AEC-C07A-8FF0-7490-B1590BEE0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A974EF1-8122-4BA0-3019-B63212E8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1435-AE71-41CF-9A1B-606EFE0D5A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966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75D195-90C3-63FC-6180-9E498B5C6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EF827EE-C86D-95A9-6157-F95EBE96B5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37B32D-D209-63D6-88D9-3856E244F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8D7469-8F86-1F7D-5BB0-D30445ED5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AF2E-64ED-468E-8258-C8625CA0FF5B}" type="datetimeFigureOut">
              <a:rPr lang="it-IT" smtClean="0"/>
              <a:t>14/04/2025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5B0E119-5A93-CFDD-6113-61325FEFC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EEC0C0A-DEC3-6AC2-0954-143707F28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1435-AE71-41CF-9A1B-606EFE0D5A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741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8EF2B0-2319-4A00-95FD-54957693E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E4CFBB2-7431-68B8-6FFC-7F945400B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E0A28C-71A9-7C39-E408-B318DDC4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AF2E-64ED-468E-8258-C8625CA0FF5B}" type="datetimeFigureOut">
              <a:rPr lang="it-IT" smtClean="0"/>
              <a:t>14/04/2025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E28C0BA-10D0-7229-7B60-75FAAB134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96F0BD2-B2AC-78BD-DE5E-A18056453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1435-AE71-41CF-9A1B-606EFE0D5A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2439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AF273AB-012E-8B5E-572B-7B02AEDB0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17255F6-B721-70A5-BE94-309DCEB4A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5A2B6D-B29E-272C-E58E-2C136D039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AF2E-64ED-468E-8258-C8625CA0FF5B}" type="datetimeFigureOut">
              <a:rPr lang="it-IT" smtClean="0"/>
              <a:t>14/04/2025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B415041-E937-DE76-B355-799BA06EC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7428362-D2DE-5E28-59AE-F608321C4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1435-AE71-41CF-9A1B-606EFE0D5A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953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2ECD684-3378-0420-D40D-E171B1E21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FBCC4D5-866E-78F2-9810-EC850A017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ACA01C-46C6-8294-225F-C0EF2DCB4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55AF2E-64ED-468E-8258-C8625CA0FF5B}" type="datetimeFigureOut">
              <a:rPr lang="it-IT" smtClean="0"/>
              <a:t>14/04/2025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4A2F49E-11BA-E3C8-DEA7-14668F551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4BE229-D577-40B5-F0D0-34FF8B159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81435-AE71-41CF-9A1B-606EFE0D5A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57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188F7FF8-52E3-D117-3022-CC98F6E769EE}"/>
              </a:ext>
            </a:extLst>
          </p:cNvPr>
          <p:cNvSpPr txBox="1"/>
          <p:nvPr/>
        </p:nvSpPr>
        <p:spPr>
          <a:xfrm>
            <a:off x="846160" y="3126985"/>
            <a:ext cx="4285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highlight>
                  <a:srgbClr val="FFFF00"/>
                </a:highlight>
              </a:rPr>
              <a:t>SN2023erg(4)</a:t>
            </a:r>
          </a:p>
          <a:p>
            <a:r>
              <a:rPr lang="it-IT" sz="2400" dirty="0" err="1"/>
              <a:t>Flux</a:t>
            </a:r>
            <a:r>
              <a:rPr lang="it-IT" sz="2400" dirty="0"/>
              <a:t> 1GeV =1.65e-09</a:t>
            </a:r>
          </a:p>
          <a:p>
            <a:r>
              <a:rPr lang="it-IT" sz="2400" dirty="0"/>
              <a:t>d = 286.9 </a:t>
            </a:r>
            <a:r>
              <a:rPr lang="it-IT" sz="2400" dirty="0" err="1"/>
              <a:t>Mpc</a:t>
            </a:r>
            <a:endParaRPr lang="it-IT" sz="2400" dirty="0"/>
          </a:p>
          <a:p>
            <a:r>
              <a:rPr lang="it-IT" sz="2400" dirty="0" err="1"/>
              <a:t>dec</a:t>
            </a:r>
            <a:r>
              <a:rPr lang="it-IT" sz="2400" dirty="0"/>
              <a:t>  = -36</a:t>
            </a:r>
          </a:p>
          <a:p>
            <a:r>
              <a:rPr lang="it-IT" sz="2400" dirty="0"/>
              <a:t>MRF =  437578 </a:t>
            </a:r>
          </a:p>
          <a:p>
            <a:r>
              <a:rPr lang="it-IT" sz="2400" dirty="0" err="1"/>
              <a:t>n_sig</a:t>
            </a:r>
            <a:r>
              <a:rPr lang="it-IT" sz="2400" dirty="0"/>
              <a:t> = 5.4e-06</a:t>
            </a:r>
          </a:p>
          <a:p>
            <a:r>
              <a:rPr lang="it-IT" sz="2400" dirty="0"/>
              <a:t>AUL = 2.3629212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5E6D891-29E2-80EF-25AD-599838104C3E}"/>
              </a:ext>
            </a:extLst>
          </p:cNvPr>
          <p:cNvSpPr txBox="1"/>
          <p:nvPr/>
        </p:nvSpPr>
        <p:spPr>
          <a:xfrm>
            <a:off x="846160" y="442798"/>
            <a:ext cx="4285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highlight>
                  <a:srgbClr val="FFFF00"/>
                </a:highlight>
              </a:rPr>
              <a:t>SN2021uha(2)</a:t>
            </a:r>
          </a:p>
          <a:p>
            <a:r>
              <a:rPr lang="it-IT" sz="2400" dirty="0" err="1"/>
              <a:t>Flux</a:t>
            </a:r>
            <a:r>
              <a:rPr lang="it-IT" sz="2400" dirty="0"/>
              <a:t> 1GeV =</a:t>
            </a:r>
            <a:r>
              <a:rPr lang="it-IT" sz="2400" b="0" i="0" dirty="0">
                <a:effectLst/>
                <a:latin typeface="Consolas" panose="020B0609020204030204" pitchFamily="49" charset="0"/>
              </a:rPr>
              <a:t>1.19e-07</a:t>
            </a:r>
            <a:endParaRPr lang="it-IT" sz="2400" dirty="0"/>
          </a:p>
          <a:p>
            <a:r>
              <a:rPr lang="it-IT" sz="2400" dirty="0"/>
              <a:t>d = 33.8 </a:t>
            </a:r>
            <a:r>
              <a:rPr lang="it-IT" sz="2400" dirty="0" err="1"/>
              <a:t>Mpc</a:t>
            </a:r>
            <a:endParaRPr lang="it-IT" sz="2400" dirty="0"/>
          </a:p>
          <a:p>
            <a:r>
              <a:rPr lang="it-IT" sz="2400" dirty="0" err="1"/>
              <a:t>dec</a:t>
            </a:r>
            <a:r>
              <a:rPr lang="it-IT" sz="2400" dirty="0"/>
              <a:t>  = -25</a:t>
            </a:r>
          </a:p>
          <a:p>
            <a:r>
              <a:rPr lang="it-IT" sz="2400" dirty="0"/>
              <a:t>MRF =  3529.99</a:t>
            </a:r>
          </a:p>
          <a:p>
            <a:r>
              <a:rPr lang="it-IT" sz="2400" dirty="0" err="1"/>
              <a:t>n_sig</a:t>
            </a:r>
            <a:r>
              <a:rPr lang="it-IT" sz="2400" dirty="0"/>
              <a:t> = 6.8 e-4</a:t>
            </a:r>
          </a:p>
          <a:p>
            <a:r>
              <a:rPr lang="it-IT" sz="2400" dirty="0"/>
              <a:t>AUL = 2.4003932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9C4CBB9-BE44-F7CF-6165-5AB8A03D6F01}"/>
              </a:ext>
            </a:extLst>
          </p:cNvPr>
          <p:cNvSpPr txBox="1"/>
          <p:nvPr/>
        </p:nvSpPr>
        <p:spPr>
          <a:xfrm>
            <a:off x="6080150" y="442798"/>
            <a:ext cx="4285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highlight>
                  <a:srgbClr val="FFFF00"/>
                </a:highlight>
              </a:rPr>
              <a:t>SN2023esp(3)</a:t>
            </a:r>
          </a:p>
          <a:p>
            <a:r>
              <a:rPr lang="it-IT" sz="2400" dirty="0" err="1"/>
              <a:t>Flux</a:t>
            </a:r>
            <a:r>
              <a:rPr lang="it-IT" sz="2400" dirty="0"/>
              <a:t> 1GeV =1.21e-07</a:t>
            </a:r>
          </a:p>
          <a:p>
            <a:r>
              <a:rPr lang="it-IT" sz="2400" dirty="0"/>
              <a:t>d = 34.3 </a:t>
            </a:r>
            <a:r>
              <a:rPr lang="it-IT" sz="2400" dirty="0" err="1"/>
              <a:t>Mpc</a:t>
            </a:r>
            <a:endParaRPr lang="it-IT" sz="2400" dirty="0"/>
          </a:p>
          <a:p>
            <a:r>
              <a:rPr lang="it-IT" sz="2400" dirty="0" err="1"/>
              <a:t>dec</a:t>
            </a:r>
            <a:r>
              <a:rPr lang="it-IT" sz="2400" dirty="0"/>
              <a:t>  = 16</a:t>
            </a:r>
          </a:p>
          <a:p>
            <a:r>
              <a:rPr lang="it-IT" sz="2400" dirty="0"/>
              <a:t>MRF =  4780.31</a:t>
            </a:r>
          </a:p>
          <a:p>
            <a:r>
              <a:rPr lang="it-IT" sz="2400" dirty="0" err="1"/>
              <a:t>n_sig</a:t>
            </a:r>
            <a:r>
              <a:rPr lang="it-IT" sz="2400" dirty="0"/>
              <a:t> = 0.000497388</a:t>
            </a:r>
          </a:p>
          <a:p>
            <a:r>
              <a:rPr lang="it-IT" sz="2400" dirty="0"/>
              <a:t>AUL =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DC2E53C-A1EF-E18F-673E-4594C8DF884E}"/>
              </a:ext>
            </a:extLst>
          </p:cNvPr>
          <p:cNvSpPr txBox="1"/>
          <p:nvPr/>
        </p:nvSpPr>
        <p:spPr>
          <a:xfrm>
            <a:off x="6111851" y="3120454"/>
            <a:ext cx="4285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highlight>
                  <a:srgbClr val="FFFF00"/>
                </a:highlight>
              </a:rPr>
              <a:t>SN2023hpd(5)</a:t>
            </a:r>
          </a:p>
          <a:p>
            <a:r>
              <a:rPr lang="it-IT" sz="2400" dirty="0" err="1"/>
              <a:t>Flux</a:t>
            </a:r>
            <a:r>
              <a:rPr lang="it-IT" sz="2400" dirty="0"/>
              <a:t> 1GeV =1.90e-08</a:t>
            </a:r>
          </a:p>
          <a:p>
            <a:r>
              <a:rPr lang="it-IT" sz="2400" dirty="0"/>
              <a:t>d = 84.8 </a:t>
            </a:r>
            <a:r>
              <a:rPr lang="it-IT" sz="2400" dirty="0" err="1"/>
              <a:t>Mpc</a:t>
            </a:r>
            <a:endParaRPr lang="it-IT" sz="2400" dirty="0"/>
          </a:p>
          <a:p>
            <a:r>
              <a:rPr lang="it-IT" sz="2400" dirty="0" err="1"/>
              <a:t>dec</a:t>
            </a:r>
            <a:r>
              <a:rPr lang="it-IT" sz="2400" dirty="0"/>
              <a:t>  = -18</a:t>
            </a:r>
          </a:p>
          <a:p>
            <a:r>
              <a:rPr lang="it-IT" sz="2400" dirty="0"/>
              <a:t>MRF = 23235</a:t>
            </a:r>
          </a:p>
          <a:p>
            <a:r>
              <a:rPr lang="it-IT" sz="2400" dirty="0" err="1"/>
              <a:t>n_sig</a:t>
            </a:r>
            <a:r>
              <a:rPr lang="it-IT" sz="2400" dirty="0"/>
              <a:t> = 0.000103867</a:t>
            </a:r>
          </a:p>
          <a:p>
            <a:r>
              <a:rPr lang="it-IT" sz="2400" dirty="0"/>
              <a:t>AUL = 2.413349745</a:t>
            </a:r>
          </a:p>
        </p:txBody>
      </p:sp>
    </p:spTree>
    <p:extLst>
      <p:ext uri="{BB962C8B-B14F-4D97-AF65-F5344CB8AC3E}">
        <p14:creationId xmlns:p14="http://schemas.microsoft.com/office/powerpoint/2010/main" val="2327004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B06FC-C6E1-FEB4-5397-2B4B212F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A87C1BBB-9FF2-BBD8-7161-BC92C615A4C1}"/>
              </a:ext>
            </a:extLst>
          </p:cNvPr>
          <p:cNvSpPr txBox="1"/>
          <p:nvPr/>
        </p:nvSpPr>
        <p:spPr>
          <a:xfrm>
            <a:off x="880281" y="442798"/>
            <a:ext cx="4285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highlight>
                  <a:srgbClr val="FFFF00"/>
                </a:highlight>
              </a:rPr>
              <a:t>SN2023bie (6)</a:t>
            </a:r>
          </a:p>
          <a:p>
            <a:r>
              <a:rPr lang="it-IT" sz="2400" dirty="0" err="1"/>
              <a:t>Flux</a:t>
            </a:r>
            <a:r>
              <a:rPr lang="it-IT" sz="2400" dirty="0"/>
              <a:t> 1GeV =1.92 e-09</a:t>
            </a:r>
          </a:p>
          <a:p>
            <a:r>
              <a:rPr lang="it-IT" sz="2400" dirty="0"/>
              <a:t>d = 265.5 </a:t>
            </a:r>
            <a:r>
              <a:rPr lang="it-IT" sz="2400" dirty="0" err="1"/>
              <a:t>Mpc</a:t>
            </a:r>
            <a:endParaRPr lang="it-IT" sz="2400" dirty="0"/>
          </a:p>
          <a:p>
            <a:r>
              <a:rPr lang="it-IT" sz="2400" dirty="0" err="1"/>
              <a:t>dec</a:t>
            </a:r>
            <a:r>
              <a:rPr lang="it-IT" sz="2400" dirty="0"/>
              <a:t>  = 18</a:t>
            </a:r>
          </a:p>
          <a:p>
            <a:r>
              <a:rPr lang="it-IT" sz="2400" dirty="0"/>
              <a:t>MRF =  311473 </a:t>
            </a:r>
          </a:p>
          <a:p>
            <a:r>
              <a:rPr lang="it-IT" sz="2400" dirty="0" err="1"/>
              <a:t>n_sig</a:t>
            </a:r>
            <a:r>
              <a:rPr lang="it-IT" sz="2400" dirty="0"/>
              <a:t> = 7.62776e-06</a:t>
            </a:r>
          </a:p>
          <a:p>
            <a:r>
              <a:rPr lang="it-IT" sz="2400" dirty="0"/>
              <a:t>AUL = 2.37584129048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08C37BE-87BD-2806-CF0B-2F137E412F51}"/>
              </a:ext>
            </a:extLst>
          </p:cNvPr>
          <p:cNvSpPr txBox="1"/>
          <p:nvPr/>
        </p:nvSpPr>
        <p:spPr>
          <a:xfrm>
            <a:off x="6096000" y="442798"/>
            <a:ext cx="4285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highlight>
                  <a:srgbClr val="FFFF00"/>
                </a:highlight>
              </a:rPr>
              <a:t>SN2023bgj (7)</a:t>
            </a:r>
          </a:p>
          <a:p>
            <a:r>
              <a:rPr lang="it-IT" sz="2400" dirty="0" err="1"/>
              <a:t>Flux</a:t>
            </a:r>
            <a:r>
              <a:rPr lang="it-IT" sz="2400" dirty="0"/>
              <a:t> 1GeV =2.44 e-09</a:t>
            </a:r>
          </a:p>
          <a:p>
            <a:r>
              <a:rPr lang="it-IT" sz="2400" dirty="0"/>
              <a:t>d = 235.6 </a:t>
            </a:r>
            <a:r>
              <a:rPr lang="it-IT" sz="2400" dirty="0" err="1"/>
              <a:t>Mpc</a:t>
            </a:r>
            <a:endParaRPr lang="it-IT" sz="2400" dirty="0"/>
          </a:p>
          <a:p>
            <a:r>
              <a:rPr lang="it-IT" sz="2400" dirty="0" err="1"/>
              <a:t>dec</a:t>
            </a:r>
            <a:r>
              <a:rPr lang="it-IT" sz="2400" dirty="0"/>
              <a:t>  = -38</a:t>
            </a:r>
          </a:p>
          <a:p>
            <a:r>
              <a:rPr lang="it-IT" sz="2400" dirty="0"/>
              <a:t>MRF =  148540</a:t>
            </a:r>
          </a:p>
          <a:p>
            <a:r>
              <a:rPr lang="it-IT" sz="2400" dirty="0" err="1"/>
              <a:t>n_sig</a:t>
            </a:r>
            <a:r>
              <a:rPr lang="it-IT" sz="2400" dirty="0"/>
              <a:t> = 1.64297e-05</a:t>
            </a:r>
          </a:p>
          <a:p>
            <a:r>
              <a:rPr lang="it-IT" sz="2400" dirty="0"/>
              <a:t>AUL = 2.440467638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78AED1B-5771-1D30-0EF0-D7ECBCE1C102}"/>
              </a:ext>
            </a:extLst>
          </p:cNvPr>
          <p:cNvSpPr txBox="1"/>
          <p:nvPr/>
        </p:nvSpPr>
        <p:spPr>
          <a:xfrm>
            <a:off x="880281" y="3120454"/>
            <a:ext cx="4285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highlight>
                  <a:srgbClr val="FFFF00"/>
                </a:highlight>
              </a:rPr>
              <a:t>SN2023awp(8)</a:t>
            </a:r>
          </a:p>
          <a:p>
            <a:r>
              <a:rPr lang="it-IT" sz="2400" dirty="0" err="1"/>
              <a:t>Flux</a:t>
            </a:r>
            <a:r>
              <a:rPr lang="it-IT" sz="2400" dirty="0"/>
              <a:t> 1GeV =4 e-08</a:t>
            </a:r>
          </a:p>
          <a:p>
            <a:r>
              <a:rPr lang="it-IT" sz="2400" dirty="0"/>
              <a:t>d = 58.3 </a:t>
            </a:r>
            <a:r>
              <a:rPr lang="it-IT" sz="2400" dirty="0" err="1"/>
              <a:t>Mpc</a:t>
            </a:r>
            <a:endParaRPr lang="it-IT" sz="2400" dirty="0"/>
          </a:p>
          <a:p>
            <a:r>
              <a:rPr lang="it-IT" sz="2400" dirty="0" err="1"/>
              <a:t>dec</a:t>
            </a:r>
            <a:r>
              <a:rPr lang="it-IT" sz="2400" dirty="0"/>
              <a:t>  = 13</a:t>
            </a:r>
          </a:p>
          <a:p>
            <a:r>
              <a:rPr lang="it-IT" sz="2400" dirty="0"/>
              <a:t>MRF =  14173.5</a:t>
            </a:r>
          </a:p>
          <a:p>
            <a:r>
              <a:rPr lang="it-IT" sz="2400" dirty="0" err="1"/>
              <a:t>n_sig</a:t>
            </a:r>
            <a:r>
              <a:rPr lang="it-IT" sz="2400" dirty="0"/>
              <a:t> = 0.00016788</a:t>
            </a:r>
          </a:p>
          <a:p>
            <a:r>
              <a:rPr lang="it-IT" sz="2400" dirty="0"/>
              <a:t>AUL = 2.37944718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1C7AC08-8E18-E3AA-88CE-6EB51711B99E}"/>
              </a:ext>
            </a:extLst>
          </p:cNvPr>
          <p:cNvSpPr txBox="1"/>
          <p:nvPr/>
        </p:nvSpPr>
        <p:spPr>
          <a:xfrm>
            <a:off x="6111851" y="3120454"/>
            <a:ext cx="4285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highlight>
                  <a:srgbClr val="FFFF00"/>
                </a:highlight>
              </a:rPr>
              <a:t>SN2023abi(9)</a:t>
            </a:r>
          </a:p>
          <a:p>
            <a:r>
              <a:rPr lang="it-IT" sz="2400" dirty="0" err="1"/>
              <a:t>Flux</a:t>
            </a:r>
            <a:r>
              <a:rPr lang="it-IT" sz="2400" dirty="0"/>
              <a:t> 1GeV =8.7 e-10</a:t>
            </a:r>
          </a:p>
          <a:p>
            <a:r>
              <a:rPr lang="it-IT" sz="2400" dirty="0"/>
              <a:t>d = 394 </a:t>
            </a:r>
            <a:r>
              <a:rPr lang="it-IT" sz="2400" dirty="0" err="1"/>
              <a:t>Mpc</a:t>
            </a:r>
            <a:endParaRPr lang="it-IT" sz="2400" dirty="0"/>
          </a:p>
          <a:p>
            <a:r>
              <a:rPr lang="it-IT" sz="2400" dirty="0" err="1"/>
              <a:t>dec</a:t>
            </a:r>
            <a:r>
              <a:rPr lang="it-IT" sz="2400" dirty="0"/>
              <a:t>  = 13</a:t>
            </a:r>
          </a:p>
          <a:p>
            <a:r>
              <a:rPr lang="it-IT" sz="2400" dirty="0"/>
              <a:t>MRF = 647340</a:t>
            </a:r>
          </a:p>
          <a:p>
            <a:r>
              <a:rPr lang="it-IT" sz="2400" dirty="0" err="1"/>
              <a:t>n_sig</a:t>
            </a:r>
            <a:r>
              <a:rPr lang="it-IT" sz="2400" dirty="0"/>
              <a:t> = 3.67573e-06</a:t>
            </a:r>
          </a:p>
          <a:p>
            <a:r>
              <a:rPr lang="it-IT" sz="2400" dirty="0"/>
              <a:t>AUL = 2.3794470582</a:t>
            </a:r>
          </a:p>
        </p:txBody>
      </p:sp>
    </p:spTree>
    <p:extLst>
      <p:ext uri="{BB962C8B-B14F-4D97-AF65-F5344CB8AC3E}">
        <p14:creationId xmlns:p14="http://schemas.microsoft.com/office/powerpoint/2010/main" val="346359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433A5-2304-155D-F920-967CFFFDB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7A34DFDB-236B-B4AD-E6AE-418A1D67FE39}"/>
              </a:ext>
            </a:extLst>
          </p:cNvPr>
          <p:cNvSpPr txBox="1"/>
          <p:nvPr/>
        </p:nvSpPr>
        <p:spPr>
          <a:xfrm>
            <a:off x="880281" y="434716"/>
            <a:ext cx="4285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highlight>
                  <a:srgbClr val="FFFF00"/>
                </a:highlight>
              </a:rPr>
              <a:t>SN2023wi(10)</a:t>
            </a:r>
          </a:p>
          <a:p>
            <a:r>
              <a:rPr lang="it-IT" sz="2400" dirty="0" err="1"/>
              <a:t>Flux</a:t>
            </a:r>
            <a:r>
              <a:rPr lang="it-IT" sz="2400" dirty="0"/>
              <a:t> 1GeV =8.37 e-10</a:t>
            </a:r>
          </a:p>
          <a:p>
            <a:r>
              <a:rPr lang="it-IT" sz="2400" dirty="0"/>
              <a:t>d = 402.6 </a:t>
            </a:r>
            <a:r>
              <a:rPr lang="it-IT" sz="2400" dirty="0" err="1"/>
              <a:t>Mpc</a:t>
            </a:r>
            <a:endParaRPr lang="it-IT" sz="2400" dirty="0"/>
          </a:p>
          <a:p>
            <a:r>
              <a:rPr lang="it-IT" sz="2400" dirty="0" err="1"/>
              <a:t>dec</a:t>
            </a:r>
            <a:r>
              <a:rPr lang="it-IT" sz="2400" dirty="0"/>
              <a:t>  = 5</a:t>
            </a:r>
          </a:p>
          <a:p>
            <a:r>
              <a:rPr lang="it-IT" sz="2400" dirty="0"/>
              <a:t>MRF =  623643 </a:t>
            </a:r>
          </a:p>
          <a:p>
            <a:r>
              <a:rPr lang="it-IT" sz="2400" dirty="0" err="1"/>
              <a:t>n_sig</a:t>
            </a:r>
            <a:r>
              <a:rPr lang="it-IT" sz="2400" dirty="0"/>
              <a:t> = 3.82742e-06</a:t>
            </a:r>
          </a:p>
          <a:p>
            <a:r>
              <a:rPr lang="it-IT" sz="2400" dirty="0"/>
              <a:t>AUL = 2.38694369106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8F64093-B65C-7BF6-E368-50CD016868DF}"/>
              </a:ext>
            </a:extLst>
          </p:cNvPr>
          <p:cNvSpPr txBox="1"/>
          <p:nvPr/>
        </p:nvSpPr>
        <p:spPr>
          <a:xfrm>
            <a:off x="6096000" y="434716"/>
            <a:ext cx="4285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highlight>
                  <a:srgbClr val="FFFF00"/>
                </a:highlight>
              </a:rPr>
              <a:t>SN2023jo(11)</a:t>
            </a:r>
          </a:p>
          <a:p>
            <a:r>
              <a:rPr lang="it-IT" sz="2400" dirty="0" err="1"/>
              <a:t>Flux</a:t>
            </a:r>
            <a:r>
              <a:rPr lang="it-IT" sz="2400" dirty="0"/>
              <a:t> 1GeV =4.37 e-08</a:t>
            </a:r>
          </a:p>
          <a:p>
            <a:r>
              <a:rPr lang="it-IT" sz="2400" dirty="0"/>
              <a:t>d = 55.7 </a:t>
            </a:r>
            <a:r>
              <a:rPr lang="it-IT" sz="2400" dirty="0" err="1"/>
              <a:t>Mpc</a:t>
            </a:r>
            <a:endParaRPr lang="it-IT" sz="2400" dirty="0"/>
          </a:p>
          <a:p>
            <a:r>
              <a:rPr lang="it-IT" sz="2400" dirty="0" err="1"/>
              <a:t>dec</a:t>
            </a:r>
            <a:r>
              <a:rPr lang="it-IT" sz="2400" dirty="0"/>
              <a:t>  = 39</a:t>
            </a:r>
          </a:p>
          <a:p>
            <a:r>
              <a:rPr lang="it-IT" sz="2400" dirty="0"/>
              <a:t>MRF =  17355.7</a:t>
            </a:r>
          </a:p>
          <a:p>
            <a:r>
              <a:rPr lang="it-IT" sz="2400" dirty="0" err="1"/>
              <a:t>n_sig</a:t>
            </a:r>
            <a:r>
              <a:rPr lang="it-IT" sz="2400" dirty="0"/>
              <a:t> = 0.000136372</a:t>
            </a:r>
          </a:p>
          <a:p>
            <a:r>
              <a:rPr lang="it-IT" sz="2400" dirty="0"/>
              <a:t>AUL = 2.3668315204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4677F39-B23A-A3E5-F16D-F7FCFF52EE41}"/>
              </a:ext>
            </a:extLst>
          </p:cNvPr>
          <p:cNvSpPr txBox="1"/>
          <p:nvPr/>
        </p:nvSpPr>
        <p:spPr>
          <a:xfrm>
            <a:off x="880281" y="3120454"/>
            <a:ext cx="4285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highlight>
                  <a:srgbClr val="FFFF00"/>
                </a:highlight>
              </a:rPr>
              <a:t>SN2022aecy(12)</a:t>
            </a:r>
          </a:p>
          <a:p>
            <a:r>
              <a:rPr lang="it-IT" sz="2400" dirty="0" err="1"/>
              <a:t>Flux</a:t>
            </a:r>
            <a:r>
              <a:rPr lang="it-IT" sz="2400" dirty="0"/>
              <a:t> 1GeV =1.15 e-09</a:t>
            </a:r>
          </a:p>
          <a:p>
            <a:r>
              <a:rPr lang="it-IT" sz="2400" dirty="0"/>
              <a:t>d = 342.6 </a:t>
            </a:r>
            <a:r>
              <a:rPr lang="it-IT" sz="2400" dirty="0" err="1"/>
              <a:t>Mpc</a:t>
            </a:r>
            <a:endParaRPr lang="it-IT" sz="2400" dirty="0"/>
          </a:p>
          <a:p>
            <a:r>
              <a:rPr lang="it-IT" sz="2400" dirty="0" err="1"/>
              <a:t>dec</a:t>
            </a:r>
            <a:r>
              <a:rPr lang="it-IT" sz="2400" dirty="0"/>
              <a:t>  = 17</a:t>
            </a:r>
          </a:p>
          <a:p>
            <a:r>
              <a:rPr lang="it-IT" sz="2400" dirty="0"/>
              <a:t>MRF =  503086</a:t>
            </a:r>
          </a:p>
          <a:p>
            <a:r>
              <a:rPr lang="it-IT" sz="2400" dirty="0" err="1"/>
              <a:t>n_sig</a:t>
            </a:r>
            <a:r>
              <a:rPr lang="it-IT" sz="2400" dirty="0"/>
              <a:t> = 4.72616e-06</a:t>
            </a:r>
          </a:p>
          <a:p>
            <a:r>
              <a:rPr lang="it-IT" sz="2400" dirty="0"/>
              <a:t>AUL = 2.37766492976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DE1DEC4-C3C1-8D46-FAB0-5EB52DBA367F}"/>
              </a:ext>
            </a:extLst>
          </p:cNvPr>
          <p:cNvSpPr txBox="1"/>
          <p:nvPr/>
        </p:nvSpPr>
        <p:spPr>
          <a:xfrm>
            <a:off x="6120063" y="3120454"/>
            <a:ext cx="4285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highlight>
                  <a:srgbClr val="FFFF00"/>
                </a:highlight>
              </a:rPr>
              <a:t>SN2022aaon(13)</a:t>
            </a:r>
          </a:p>
          <a:p>
            <a:r>
              <a:rPr lang="it-IT" sz="2400" dirty="0" err="1"/>
              <a:t>Flux</a:t>
            </a:r>
            <a:r>
              <a:rPr lang="it-IT" sz="2400" dirty="0"/>
              <a:t> 1GeV =1.35 e-09</a:t>
            </a:r>
          </a:p>
          <a:p>
            <a:r>
              <a:rPr lang="it-IT" sz="2400" dirty="0"/>
              <a:t>d = 316.9 </a:t>
            </a:r>
            <a:r>
              <a:rPr lang="it-IT" sz="2400" dirty="0" err="1"/>
              <a:t>Mpc</a:t>
            </a:r>
            <a:endParaRPr lang="it-IT" sz="2400" dirty="0"/>
          </a:p>
          <a:p>
            <a:r>
              <a:rPr lang="it-IT" sz="2400" dirty="0" err="1"/>
              <a:t>dec</a:t>
            </a:r>
            <a:r>
              <a:rPr lang="it-IT" sz="2400" dirty="0"/>
              <a:t>  = -35</a:t>
            </a:r>
          </a:p>
          <a:p>
            <a:r>
              <a:rPr lang="it-IT" sz="2400" dirty="0"/>
              <a:t>MRF = 281258</a:t>
            </a:r>
          </a:p>
          <a:p>
            <a:r>
              <a:rPr lang="it-IT" sz="2400" dirty="0" err="1"/>
              <a:t>n_sig</a:t>
            </a:r>
            <a:r>
              <a:rPr lang="it-IT" sz="2400" dirty="0"/>
              <a:t> =  8.65501e-06</a:t>
            </a:r>
          </a:p>
          <a:p>
            <a:r>
              <a:rPr lang="it-IT" sz="2400" dirty="0"/>
              <a:t>AUL = 2.43429080258</a:t>
            </a:r>
          </a:p>
        </p:txBody>
      </p:sp>
    </p:spTree>
    <p:extLst>
      <p:ext uri="{BB962C8B-B14F-4D97-AF65-F5344CB8AC3E}">
        <p14:creationId xmlns:p14="http://schemas.microsoft.com/office/powerpoint/2010/main" val="2296689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D2E43-0576-73C3-C8A3-1612173EA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D1A8975B-F14B-D680-4FB0-E0A5B4C810B2}"/>
              </a:ext>
            </a:extLst>
          </p:cNvPr>
          <p:cNvSpPr txBox="1"/>
          <p:nvPr/>
        </p:nvSpPr>
        <p:spPr>
          <a:xfrm>
            <a:off x="880281" y="434716"/>
            <a:ext cx="4285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highlight>
                  <a:srgbClr val="FFFF00"/>
                </a:highlight>
              </a:rPr>
              <a:t>SN2022ymc(14)</a:t>
            </a:r>
          </a:p>
          <a:p>
            <a:r>
              <a:rPr lang="it-IT" sz="2400" dirty="0" err="1"/>
              <a:t>Flux</a:t>
            </a:r>
            <a:r>
              <a:rPr lang="it-IT" sz="2400" dirty="0"/>
              <a:t> 1GeV =9.4 e-09</a:t>
            </a:r>
          </a:p>
          <a:p>
            <a:r>
              <a:rPr lang="it-IT" sz="2400" dirty="0"/>
              <a:t>d = 119.9 </a:t>
            </a:r>
            <a:r>
              <a:rPr lang="it-IT" sz="2400" dirty="0" err="1"/>
              <a:t>Mpc</a:t>
            </a:r>
            <a:endParaRPr lang="it-IT" sz="2400" dirty="0"/>
          </a:p>
          <a:p>
            <a:r>
              <a:rPr lang="it-IT" sz="2400" dirty="0" err="1"/>
              <a:t>dec</a:t>
            </a:r>
            <a:r>
              <a:rPr lang="it-IT" sz="2400" dirty="0"/>
              <a:t>  = -1</a:t>
            </a:r>
          </a:p>
          <a:p>
            <a:r>
              <a:rPr lang="it-IT" sz="2400" dirty="0"/>
              <a:t>MRF =  52588.1</a:t>
            </a:r>
          </a:p>
          <a:p>
            <a:r>
              <a:rPr lang="it-IT" sz="2400" dirty="0" err="1"/>
              <a:t>n_sig</a:t>
            </a:r>
            <a:r>
              <a:rPr lang="it-IT" sz="2400" dirty="0"/>
              <a:t> = 4.55025e-05</a:t>
            </a:r>
          </a:p>
          <a:p>
            <a:r>
              <a:rPr lang="it-IT" sz="2400" dirty="0"/>
              <a:t>AUL = 2.39289002025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F11FE36-199D-85B7-7EF4-F5872BC0FD25}"/>
              </a:ext>
            </a:extLst>
          </p:cNvPr>
          <p:cNvSpPr txBox="1"/>
          <p:nvPr/>
        </p:nvSpPr>
        <p:spPr>
          <a:xfrm>
            <a:off x="6096000" y="434716"/>
            <a:ext cx="4285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highlight>
                  <a:srgbClr val="FFFF00"/>
                </a:highlight>
              </a:rPr>
              <a:t>SN2022wqo(15)</a:t>
            </a:r>
          </a:p>
          <a:p>
            <a:r>
              <a:rPr lang="it-IT" sz="2400" dirty="0" err="1"/>
              <a:t>Flux</a:t>
            </a:r>
            <a:r>
              <a:rPr lang="it-IT" sz="2400" dirty="0"/>
              <a:t> 1GeV =8.5 e-10</a:t>
            </a:r>
          </a:p>
          <a:p>
            <a:r>
              <a:rPr lang="it-IT" sz="2400" dirty="0"/>
              <a:t>d = 400.4 </a:t>
            </a:r>
            <a:r>
              <a:rPr lang="it-IT" sz="2400" dirty="0" err="1"/>
              <a:t>Mpc</a:t>
            </a:r>
            <a:endParaRPr lang="it-IT" sz="2400" dirty="0"/>
          </a:p>
          <a:p>
            <a:r>
              <a:rPr lang="it-IT" sz="2400" dirty="0" err="1"/>
              <a:t>dec</a:t>
            </a:r>
            <a:r>
              <a:rPr lang="it-IT" sz="2400" dirty="0"/>
              <a:t>  = -1</a:t>
            </a:r>
          </a:p>
          <a:p>
            <a:r>
              <a:rPr lang="it-IT" sz="2400" dirty="0"/>
              <a:t>MRF = 586458</a:t>
            </a:r>
          </a:p>
          <a:p>
            <a:r>
              <a:rPr lang="it-IT" sz="2400" dirty="0" err="1"/>
              <a:t>n_sig</a:t>
            </a:r>
            <a:r>
              <a:rPr lang="it-IT" sz="2400" dirty="0"/>
              <a:t> = 4.08023e-06</a:t>
            </a:r>
          </a:p>
          <a:p>
            <a:r>
              <a:rPr lang="it-IT" sz="2400" dirty="0"/>
              <a:t>AUL </a:t>
            </a:r>
            <a:r>
              <a:rPr lang="it-IT" sz="2400"/>
              <a:t>= 2.39288352534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4008942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6324B90-6C0D-44AD-941D-C64CBD2FFEE7}">
  <we:reference id="wa200004052" version="1.0.0.2" store="it-IT" storeType="OMEX"/>
  <we:alternateReferences>
    <we:reference id="wa200004052" version="1.0.0.2" store="wa20000405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6440</TotalTime>
  <Words>381</Words>
  <Application>Microsoft Office PowerPoint</Application>
  <PresentationFormat>Widescreen</PresentationFormat>
  <Paragraphs>98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VERONICA OLIVIERO</dc:creator>
  <cp:lastModifiedBy>VERONICA OLIVIERO</cp:lastModifiedBy>
  <cp:revision>7</cp:revision>
  <dcterms:created xsi:type="dcterms:W3CDTF">2025-04-04T16:14:44Z</dcterms:created>
  <dcterms:modified xsi:type="dcterms:W3CDTF">2025-04-14T14:27:28Z</dcterms:modified>
</cp:coreProperties>
</file>